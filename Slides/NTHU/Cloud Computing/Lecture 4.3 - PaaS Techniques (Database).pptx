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notesSlides/notesSlide67.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notesSlides/notesSlide63.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70.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notesSlides/notesSlide68.xml" ContentType="application/vnd.openxmlformats-officedocument.presentationml.notesSlide+xml"/>
  <Override PartName="/ppt/notesSlides/notesSlide79.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ppt/notesSlides/notesSlide71.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notesSlides/notesSlide60.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76.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Override PartName="/ppt/notesSlides/notesSlide65.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72.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notesSlides/notesSlide37.xml" ContentType="application/vnd.openxmlformats-officedocument.presentationml.notesSlide+xml"/>
  <Override PartName="/ppt/notesSlides/notesSlide55.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80.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notesSlides/notesSlide78.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91"/>
  </p:notesMasterIdLst>
  <p:sldIdLst>
    <p:sldId id="266" r:id="rId2"/>
    <p:sldId id="464" r:id="rId3"/>
    <p:sldId id="408" r:id="rId4"/>
    <p:sldId id="409" r:id="rId5"/>
    <p:sldId id="460" r:id="rId6"/>
    <p:sldId id="461" r:id="rId7"/>
    <p:sldId id="462" r:id="rId8"/>
    <p:sldId id="432" r:id="rId9"/>
    <p:sldId id="431" r:id="rId10"/>
    <p:sldId id="410" r:id="rId11"/>
    <p:sldId id="411" r:id="rId12"/>
    <p:sldId id="412" r:id="rId13"/>
    <p:sldId id="413" r:id="rId14"/>
    <p:sldId id="433" r:id="rId15"/>
    <p:sldId id="435" r:id="rId16"/>
    <p:sldId id="434" r:id="rId17"/>
    <p:sldId id="414" r:id="rId18"/>
    <p:sldId id="415" r:id="rId19"/>
    <p:sldId id="416" r:id="rId20"/>
    <p:sldId id="417" r:id="rId21"/>
    <p:sldId id="436" r:id="rId22"/>
    <p:sldId id="421" r:id="rId23"/>
    <p:sldId id="422" r:id="rId24"/>
    <p:sldId id="437" r:id="rId25"/>
    <p:sldId id="424" r:id="rId26"/>
    <p:sldId id="425" r:id="rId27"/>
    <p:sldId id="426" r:id="rId28"/>
    <p:sldId id="427" r:id="rId29"/>
    <p:sldId id="428" r:id="rId30"/>
    <p:sldId id="429" r:id="rId31"/>
    <p:sldId id="430" r:id="rId32"/>
    <p:sldId id="440" r:id="rId33"/>
    <p:sldId id="371" r:id="rId34"/>
    <p:sldId id="372" r:id="rId35"/>
    <p:sldId id="373" r:id="rId36"/>
    <p:sldId id="374" r:id="rId37"/>
    <p:sldId id="375" r:id="rId38"/>
    <p:sldId id="376" r:id="rId39"/>
    <p:sldId id="377" r:id="rId40"/>
    <p:sldId id="378" r:id="rId41"/>
    <p:sldId id="379" r:id="rId42"/>
    <p:sldId id="380" r:id="rId43"/>
    <p:sldId id="381" r:id="rId44"/>
    <p:sldId id="382" r:id="rId45"/>
    <p:sldId id="383" r:id="rId46"/>
    <p:sldId id="384" r:id="rId47"/>
    <p:sldId id="385" r:id="rId48"/>
    <p:sldId id="386" r:id="rId49"/>
    <p:sldId id="387" r:id="rId50"/>
    <p:sldId id="388" r:id="rId51"/>
    <p:sldId id="389" r:id="rId52"/>
    <p:sldId id="390" r:id="rId53"/>
    <p:sldId id="391" r:id="rId54"/>
    <p:sldId id="392" r:id="rId55"/>
    <p:sldId id="393" r:id="rId56"/>
    <p:sldId id="394" r:id="rId57"/>
    <p:sldId id="395" r:id="rId58"/>
    <p:sldId id="396" r:id="rId59"/>
    <p:sldId id="397" r:id="rId60"/>
    <p:sldId id="398" r:id="rId61"/>
    <p:sldId id="399" r:id="rId62"/>
    <p:sldId id="400" r:id="rId63"/>
    <p:sldId id="401" r:id="rId64"/>
    <p:sldId id="402" r:id="rId65"/>
    <p:sldId id="403" r:id="rId66"/>
    <p:sldId id="404" r:id="rId67"/>
    <p:sldId id="405" r:id="rId68"/>
    <p:sldId id="406" r:id="rId69"/>
    <p:sldId id="407" r:id="rId70"/>
    <p:sldId id="441" r:id="rId71"/>
    <p:sldId id="442" r:id="rId72"/>
    <p:sldId id="443" r:id="rId73"/>
    <p:sldId id="456" r:id="rId74"/>
    <p:sldId id="444" r:id="rId75"/>
    <p:sldId id="445" r:id="rId76"/>
    <p:sldId id="446" r:id="rId77"/>
    <p:sldId id="447" r:id="rId78"/>
    <p:sldId id="448" r:id="rId79"/>
    <p:sldId id="449" r:id="rId80"/>
    <p:sldId id="457" r:id="rId81"/>
    <p:sldId id="450" r:id="rId82"/>
    <p:sldId id="451" r:id="rId83"/>
    <p:sldId id="452" r:id="rId84"/>
    <p:sldId id="453" r:id="rId85"/>
    <p:sldId id="458" r:id="rId86"/>
    <p:sldId id="454" r:id="rId87"/>
    <p:sldId id="455" r:id="rId88"/>
    <p:sldId id="459" r:id="rId89"/>
    <p:sldId id="265" r:id="rId90"/>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893" autoAdjust="0"/>
  </p:normalViewPr>
  <p:slideViewPr>
    <p:cSldViewPr>
      <p:cViewPr varScale="1">
        <p:scale>
          <a:sx n="47" d="100"/>
          <a:sy n="47" d="100"/>
        </p:scale>
        <p:origin x="-494" y="-7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1A7DD20-92F8-4282-BDE4-0E24C1A0D45F}" type="datetimeFigureOut">
              <a:rPr lang="zh-TW" altLang="en-US" smtClean="0"/>
              <a:pPr/>
              <a:t>2011/3/21</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20D120-4707-426F-9B85-873E256A6635}" type="slidenum">
              <a:rPr lang="zh-TW" altLang="en-US" smtClean="0"/>
              <a:pPr/>
              <a:t>‹#›</a:t>
            </a:fld>
            <a:endParaRPr lang="zh-TW" altLang="en-US"/>
          </a:p>
        </p:txBody>
      </p:sp>
    </p:spTree>
    <p:extLst>
      <p:ext uri="{BB962C8B-B14F-4D97-AF65-F5344CB8AC3E}">
        <p14:creationId xmlns="" xmlns:p14="http://schemas.microsoft.com/office/powerpoint/2010/main" val="3393909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1</a:t>
            </a:fld>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2</a:t>
            </a:fld>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3</a:t>
            </a:fld>
            <a:endParaRPr lang="zh-TW"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4</a:t>
            </a:fld>
            <a:endParaRPr lang="zh-TW"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solidFill>
                  <a:prstClr val="black"/>
                </a:solidFill>
              </a:rPr>
              <a:pPr/>
              <a:t>9</a:t>
            </a:fld>
            <a:endParaRPr lang="zh-TW" altLang="en-US">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10</a:t>
            </a:fld>
            <a:endParaRPr lang="zh-TW"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11</a:t>
            </a:fld>
            <a:endParaRPr lang="zh-TW"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12</a:t>
            </a:fld>
            <a:endParaRPr lang="zh-TW"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13</a:t>
            </a:fld>
            <a:endParaRPr lang="zh-TW"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solidFill>
                  <a:prstClr val="black"/>
                </a:solidFill>
              </a:rPr>
              <a:pPr/>
              <a:t>14</a:t>
            </a:fld>
            <a:endParaRPr lang="zh-TW" altLang="en-US">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17</a:t>
            </a:fld>
            <a:endParaRPr lang="zh-TW"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18</a:t>
            </a:fld>
            <a:endParaRPr lang="zh-TW"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19</a:t>
            </a:fld>
            <a:endParaRPr lang="zh-TW"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20</a:t>
            </a:fld>
            <a:endParaRPr lang="zh-TW"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22</a:t>
            </a:fld>
            <a:endParaRPr lang="zh-TW"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23</a:t>
            </a:fld>
            <a:endParaRPr lang="zh-TW"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25</a:t>
            </a:fld>
            <a:endParaRPr lang="zh-TW"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26</a:t>
            </a:fld>
            <a:endParaRPr lang="zh-TW"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27</a:t>
            </a:fld>
            <a:endParaRPr lang="zh-TW"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28</a:t>
            </a:fld>
            <a:endParaRPr lang="zh-TW"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29</a:t>
            </a:fld>
            <a:endParaRPr lang="zh-TW"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30</a:t>
            </a:fld>
            <a:endParaRPr lang="zh-TW"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31</a:t>
            </a:fld>
            <a:endParaRPr lang="zh-TW"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solidFill>
                  <a:prstClr val="black"/>
                </a:solidFill>
              </a:rPr>
              <a:pPr/>
              <a:t>32</a:t>
            </a:fld>
            <a:endParaRPr lang="zh-TW" altLang="en-US">
              <a:solidFill>
                <a:prstClr val="black"/>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33</a:t>
            </a:fld>
            <a:endParaRPr lang="zh-TW"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CCAA510-AA24-465C-8ABB-1B014DE9BB28}" type="slidenum">
              <a:rPr lang="zh-TW" altLang="en-US" smtClean="0"/>
              <a:pPr/>
              <a:t>34</a:t>
            </a:fld>
            <a:endParaRPr lang="zh-TW"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CCAA510-AA24-465C-8ABB-1B014DE9BB28}" type="slidenum">
              <a:rPr lang="zh-TW" altLang="en-US" smtClean="0"/>
              <a:pPr/>
              <a:t>35</a:t>
            </a:fld>
            <a:endParaRPr lang="zh-TW"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CCAA510-AA24-465C-8ABB-1B014DE9BB28}" type="slidenum">
              <a:rPr lang="zh-TW" altLang="en-US" smtClean="0"/>
              <a:pPr/>
              <a:t>36</a:t>
            </a:fld>
            <a:endParaRPr lang="zh-TW"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CCAA510-AA24-465C-8ABB-1B014DE9BB28}" type="slidenum">
              <a:rPr lang="zh-TW" altLang="en-US" smtClean="0"/>
              <a:pPr/>
              <a:t>37</a:t>
            </a:fld>
            <a:endParaRPr lang="zh-TW"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38</a:t>
            </a:fld>
            <a:endParaRPr lang="zh-TW"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39</a:t>
            </a:fld>
            <a:endParaRPr lang="zh-TW"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CCAA510-AA24-465C-8ABB-1B014DE9BB28}" type="slidenum">
              <a:rPr lang="zh-TW" altLang="en-US" smtClean="0"/>
              <a:pPr/>
              <a:t>40</a:t>
            </a:fld>
            <a:endParaRPr lang="zh-TW"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41</a:t>
            </a:fld>
            <a:endParaRPr lang="zh-TW"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CCAA510-AA24-465C-8ABB-1B014DE9BB28}" type="slidenum">
              <a:rPr lang="zh-TW" altLang="en-US" smtClean="0"/>
              <a:pPr/>
              <a:t>42</a:t>
            </a:fld>
            <a:endParaRPr lang="zh-TW"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43</a:t>
            </a:fld>
            <a:endParaRPr lang="zh-TW"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44</a:t>
            </a:fld>
            <a:endParaRPr lang="zh-TW"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45</a:t>
            </a:fld>
            <a:endParaRPr lang="zh-TW"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46</a:t>
            </a:fld>
            <a:endParaRPr lang="zh-TW"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47</a:t>
            </a:fld>
            <a:endParaRPr lang="zh-TW"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CCAA510-AA24-465C-8ABB-1B014DE9BB28}" type="slidenum">
              <a:rPr lang="zh-TW" altLang="en-US" smtClean="0"/>
              <a:pPr/>
              <a:t>48</a:t>
            </a:fld>
            <a:endParaRPr lang="zh-TW"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49</a:t>
            </a:fld>
            <a:endParaRPr lang="zh-TW"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50</a:t>
            </a:fld>
            <a:endParaRPr lang="zh-TW"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51</a:t>
            </a:fld>
            <a:endParaRPr lang="zh-TW"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52</a:t>
            </a:fld>
            <a:endParaRPr lang="zh-TW"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53</a:t>
            </a:fld>
            <a:endParaRPr lang="zh-TW"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54</a:t>
            </a:fld>
            <a:endParaRPr lang="zh-TW"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CCAA510-AA24-465C-8ABB-1B014DE9BB28}" type="slidenum">
              <a:rPr lang="zh-TW" altLang="en-US" smtClean="0"/>
              <a:pPr/>
              <a:t>55</a:t>
            </a:fld>
            <a:endParaRPr lang="zh-TW"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56</a:t>
            </a:fld>
            <a:endParaRPr lang="zh-TW"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57</a:t>
            </a:fld>
            <a:endParaRPr lang="zh-TW"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CCAA510-AA24-465C-8ABB-1B014DE9BB28}" type="slidenum">
              <a:rPr lang="zh-TW" altLang="en-US" smtClean="0"/>
              <a:pPr/>
              <a:t>58</a:t>
            </a:fld>
            <a:endParaRPr lang="zh-TW"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59</a:t>
            </a:fld>
            <a:endParaRPr lang="zh-TW"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60</a:t>
            </a:fld>
            <a:endParaRPr lang="zh-TW"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CCAA510-AA24-465C-8ABB-1B014DE9BB28}" type="slidenum">
              <a:rPr lang="zh-TW" altLang="en-US" smtClean="0"/>
              <a:pPr/>
              <a:t>61</a:t>
            </a:fld>
            <a:endParaRPr lang="zh-TW"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62</a:t>
            </a:fld>
            <a:endParaRPr lang="zh-TW"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63</a:t>
            </a:fld>
            <a:endParaRPr lang="zh-TW"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CCAA510-AA24-465C-8ABB-1B014DE9BB28}" type="slidenum">
              <a:rPr lang="zh-TW" altLang="en-US" smtClean="0"/>
              <a:pPr/>
              <a:t>64</a:t>
            </a:fld>
            <a:endParaRPr lang="zh-TW"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65</a:t>
            </a:fld>
            <a:endParaRPr lang="zh-TW"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66</a:t>
            </a:fld>
            <a:endParaRPr lang="zh-TW"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CCAA510-AA24-465C-8ABB-1B014DE9BB28}" type="slidenum">
              <a:rPr lang="zh-TW" altLang="en-US" smtClean="0"/>
              <a:pPr/>
              <a:t>67</a:t>
            </a:fld>
            <a:endParaRPr lang="zh-TW"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68</a:t>
            </a:fld>
            <a:endParaRPr lang="zh-TW"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230669CE-4790-409B-AD58-92CB8BC5C286}" type="slidenum">
              <a:rPr lang="zh-TW" altLang="en-US" smtClean="0"/>
              <a:pPr/>
              <a:t>69</a:t>
            </a:fld>
            <a:endParaRPr lang="zh-TW"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solidFill>
                  <a:prstClr val="black"/>
                </a:solidFill>
              </a:rPr>
              <a:pPr/>
              <a:t>70</a:t>
            </a:fld>
            <a:endParaRPr lang="zh-TW" altLang="en-US">
              <a:solidFill>
                <a:prstClr val="black"/>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71</a:t>
            </a:fld>
            <a:endParaRPr lang="zh-TW"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72</a:t>
            </a:fld>
            <a:endParaRPr lang="zh-TW"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73</a:t>
            </a:fld>
            <a:endParaRPr lang="zh-TW"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74</a:t>
            </a:fld>
            <a:endParaRPr lang="zh-TW"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75</a:t>
            </a:fld>
            <a:endParaRPr lang="zh-TW"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76</a:t>
            </a:fld>
            <a:endParaRPr lang="zh-TW"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77</a:t>
            </a:fld>
            <a:endParaRPr lang="zh-TW"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78</a:t>
            </a:fld>
            <a:endParaRPr lang="zh-TW"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79</a:t>
            </a:fld>
            <a:endParaRPr lang="zh-TW"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80</a:t>
            </a:fld>
            <a:endParaRPr lang="zh-TW"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81</a:t>
            </a:fld>
            <a:endParaRPr lang="zh-TW"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82</a:t>
            </a:fld>
            <a:endParaRPr lang="zh-TW"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83</a:t>
            </a:fld>
            <a:endParaRPr lang="zh-TW"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84</a:t>
            </a:fld>
            <a:endParaRPr lang="zh-TW"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85</a:t>
            </a:fld>
            <a:endParaRPr lang="zh-TW"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86</a:t>
            </a:fld>
            <a:endParaRPr lang="zh-TW"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54D24480-CD9E-45B5-BBD9-E17E35BC822B}" type="slidenum">
              <a:rPr lang="zh-TW" altLang="en-US" smtClean="0"/>
              <a:pPr/>
              <a:t>87</a:t>
            </a:fld>
            <a:endParaRPr lang="zh-TW"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89</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lgn="ctr">
              <a:defRPr lang="en-US" sz="3600" b="1" i="1" kern="1200" dirty="0">
                <a:solidFill>
                  <a:schemeClr val="accent1">
                    <a:lumMod val="50000"/>
                  </a:schemeClr>
                </a:solidFill>
                <a:latin typeface="+mn-lt"/>
                <a:ea typeface="+mj-ea"/>
                <a:cs typeface="+mj-cs"/>
              </a:defRPr>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371600" y="3886200"/>
            <a:ext cx="6400800" cy="1752600"/>
          </a:xfrm>
        </p:spPr>
        <p:txBody>
          <a:bodyPr anchor="b">
            <a:normAutofit/>
          </a:bodyPr>
          <a:lstStyle>
            <a:lvl1pPr marL="0" indent="0" algn="l">
              <a:buNone/>
              <a:defRPr lang="en-US" sz="1800" b="1" i="1" kern="1200" dirty="0">
                <a:solidFill>
                  <a:schemeClr val="accent2">
                    <a:lumMod val="50000"/>
                  </a:schemeClr>
                </a:solidFill>
                <a:latin typeface="Cambria" pitchFamily="18" charset="0"/>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5BBEAD13-0566-4C6C-97E7-55F17F24B09F}" type="datetimeFigureOut">
              <a:rPr lang="zh-TW" altLang="en-US" smtClean="0"/>
              <a:pPr/>
              <a:t>2011/3/21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pPr/>
              <a:t>‹#›</a:t>
            </a:fld>
            <a:endParaRPr lang="zh-TW" altLang="en-US"/>
          </a:p>
        </p:txBody>
      </p:sp>
      <p:pic>
        <p:nvPicPr>
          <p:cNvPr id="7" name="Picture 6" descr="logo"/>
          <p:cNvPicPr>
            <a:picLocks noChangeAspect="1" noChangeArrowheads="1"/>
          </p:cNvPicPr>
          <p:nvPr/>
        </p:nvPicPr>
        <p:blipFill>
          <a:blip r:embed="rId3" cstate="print"/>
          <a:srcRect/>
          <a:stretch>
            <a:fillRect/>
          </a:stretch>
        </p:blipFill>
        <p:spPr bwMode="auto">
          <a:xfrm>
            <a:off x="6374027" y="6030097"/>
            <a:ext cx="2743200" cy="762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lvl1pPr algn="r">
              <a:defRPr b="1">
                <a:latin typeface="+mj-lt"/>
              </a:defRPr>
            </a:lvl1p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5BBEAD13-0566-4C6C-97E7-55F17F24B09F}" type="datetimeFigureOut">
              <a:rPr lang="zh-TW" altLang="en-US" smtClean="0"/>
              <a:pPr/>
              <a:t>2011/3/21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accent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5BBEAD13-0566-4C6C-97E7-55F17F24B09F}" type="datetimeFigureOut">
              <a:rPr lang="zh-TW" altLang="en-US" smtClean="0"/>
              <a:pPr/>
              <a:t>2011/3/21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5" name="Date Placeholder 4"/>
          <p:cNvSpPr>
            <a:spLocks noGrp="1"/>
          </p:cNvSpPr>
          <p:nvPr>
            <p:ph type="dt" sz="half" idx="10"/>
          </p:nvPr>
        </p:nvSpPr>
        <p:spPr/>
        <p:txBody>
          <a:bodyPr/>
          <a:lstStyle/>
          <a:p>
            <a:fld id="{5BBEAD13-0566-4C6C-97E7-55F17F24B09F}" type="datetimeFigureOut">
              <a:rPr lang="zh-TW" altLang="en-US" smtClean="0"/>
              <a:pPr/>
              <a:t>2011/3/21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TW" altLang="en-US" smtClean="0"/>
              <a:t>按一下以編輯母片標題樣式</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7" name="Date Placeholder 6"/>
          <p:cNvSpPr>
            <a:spLocks noGrp="1"/>
          </p:cNvSpPr>
          <p:nvPr>
            <p:ph type="dt" sz="half" idx="10"/>
          </p:nvPr>
        </p:nvSpPr>
        <p:spPr/>
        <p:txBody>
          <a:bodyPr/>
          <a:lstStyle/>
          <a:p>
            <a:fld id="{5BBEAD13-0566-4C6C-97E7-55F17F24B09F}" type="datetimeFigureOut">
              <a:rPr lang="zh-TW" altLang="en-US" smtClean="0"/>
              <a:pPr/>
              <a:t>2011/3/21</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a:p>
        </p:txBody>
      </p:sp>
      <p:sp>
        <p:nvSpPr>
          <p:cNvPr id="3" name="Date Placeholder 2"/>
          <p:cNvSpPr>
            <a:spLocks noGrp="1"/>
          </p:cNvSpPr>
          <p:nvPr>
            <p:ph type="dt" sz="half" idx="10"/>
          </p:nvPr>
        </p:nvSpPr>
        <p:spPr/>
        <p:txBody>
          <a:bodyPr/>
          <a:lstStyle/>
          <a:p>
            <a:fld id="{5BBEAD13-0566-4C6C-97E7-55F17F24B09F}" type="datetimeFigureOut">
              <a:rPr lang="zh-TW" altLang="en-US" smtClean="0"/>
              <a:pPr/>
              <a:t>2011/3/21</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BEAD13-0566-4C6C-97E7-55F17F24B09F}" type="datetimeFigureOut">
              <a:rPr lang="zh-TW" altLang="en-US" smtClean="0"/>
              <a:pPr/>
              <a:t>2011/3/21</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5BBEAD13-0566-4C6C-97E7-55F17F24B09F}" type="datetimeFigureOut">
              <a:rPr lang="zh-TW" altLang="en-US" smtClean="0"/>
              <a:pPr/>
              <a:t>2011/3/21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5BBEAD13-0566-4C6C-97E7-55F17F24B09F}" type="datetimeFigureOut">
              <a:rPr lang="zh-TW" altLang="en-US" smtClean="0"/>
              <a:pPr/>
              <a:t>2011/3/21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4" name="Date Placeholder 3"/>
          <p:cNvSpPr>
            <a:spLocks noGrp="1"/>
          </p:cNvSpPr>
          <p:nvPr>
            <p:ph type="dt" sz="half" idx="10"/>
          </p:nvPr>
        </p:nvSpPr>
        <p:spPr/>
        <p:txBody>
          <a:bodyPr/>
          <a:lstStyle/>
          <a:p>
            <a:fld id="{5BBEAD13-0566-4C6C-97E7-55F17F24B09F}" type="datetimeFigureOut">
              <a:rPr lang="zh-TW" altLang="en-US" smtClean="0"/>
              <a:pPr/>
              <a:t>2011/3/21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4" name="Date Placeholder 3"/>
          <p:cNvSpPr>
            <a:spLocks noGrp="1"/>
          </p:cNvSpPr>
          <p:nvPr>
            <p:ph type="dt" sz="half" idx="10"/>
          </p:nvPr>
        </p:nvSpPr>
        <p:spPr/>
        <p:txBody>
          <a:bodyPr/>
          <a:lstStyle/>
          <a:p>
            <a:fld id="{5BBEAD13-0566-4C6C-97E7-55F17F24B09F}" type="datetimeFigureOut">
              <a:rPr lang="zh-TW" altLang="en-US" smtClean="0"/>
              <a:pPr/>
              <a:t>2011/3/21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EAD13-0566-4C6C-97E7-55F17F24B09F}" type="datetimeFigureOut">
              <a:rPr lang="zh-TW" altLang="en-US" smtClean="0"/>
              <a:pPr/>
              <a:t>2011/3/21</a:t>
            </a:fld>
            <a:endParaRPr lang="zh-TW"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r" defTabSz="914400" rtl="0" eaLnBrk="1" latinLnBrk="0" hangingPunct="1">
        <a:spcBef>
          <a:spcPct val="0"/>
        </a:spcBef>
        <a:buNone/>
        <a:defRPr sz="4400" b="1" i="1" kern="1200">
          <a:solidFill>
            <a:schemeClr val="accent5">
              <a:lumMod val="50000"/>
            </a:schemeClr>
          </a:solidFill>
          <a:latin typeface="+mj-lt"/>
          <a:ea typeface="+mj-ea"/>
          <a:cs typeface="+mj-cs"/>
        </a:defRPr>
      </a:lvl1pPr>
    </p:titleStyle>
    <p:body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8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5.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hyperlink" Target="http://hbase.apache.org/" TargetMode="External"/><Relationship Id="rId2" Type="http://schemas.openxmlformats.org/officeDocument/2006/relationships/notesSlide" Target="../notesSlides/notesSlide80.xml"/><Relationship Id="rId1" Type="http://schemas.openxmlformats.org/officeDocument/2006/relationships/slideLayout" Target="../slideLayouts/slideLayout2.xml"/><Relationship Id="rId6" Type="http://schemas.openxmlformats.org/officeDocument/2006/relationships/hyperlink" Target="http://en.wikipedia.org/wiki/Database#Database_management_systems" TargetMode="External"/><Relationship Id="rId5" Type="http://schemas.openxmlformats.org/officeDocument/2006/relationships/hyperlink" Target="http://ntucsiecloud98.appspot.com/course_information" TargetMode="External"/><Relationship Id="rId4" Type="http://schemas.openxmlformats.org/officeDocument/2006/relationships/hyperlink" Target="http://trac.nchc.org.tw/clou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371600"/>
            <a:ext cx="7772400" cy="1905000"/>
          </a:xfrm>
        </p:spPr>
        <p:txBody>
          <a:bodyPr>
            <a:normAutofit/>
          </a:bodyPr>
          <a:lstStyle/>
          <a:p>
            <a:r>
              <a:rPr lang="zh-TW" altLang="en-US" sz="4000" i="0" dirty="0" smtClean="0">
                <a:effectLst>
                  <a:outerShdw blurRad="38100" dist="38100" dir="2700000" algn="tl">
                    <a:srgbClr val="000000">
                      <a:alpha val="43137"/>
                    </a:srgbClr>
                  </a:outerShdw>
                </a:effectLst>
              </a:rPr>
              <a:t>雲端計算</a:t>
            </a:r>
            <a:r>
              <a:rPr lang="en-US" altLang="zh-TW" sz="4000" dirty="0" smtClean="0">
                <a:effectLst>
                  <a:outerShdw blurRad="38100" dist="38100" dir="2700000" algn="tl">
                    <a:srgbClr val="000000">
                      <a:alpha val="43137"/>
                    </a:srgbClr>
                  </a:outerShdw>
                </a:effectLst>
              </a:rPr>
              <a:t/>
            </a:r>
            <a:br>
              <a:rPr lang="en-US" altLang="zh-TW" sz="4000" dirty="0" smtClean="0">
                <a:effectLst>
                  <a:outerShdw blurRad="38100" dist="38100" dir="2700000" algn="tl">
                    <a:srgbClr val="000000">
                      <a:alpha val="43137"/>
                    </a:srgbClr>
                  </a:outerShdw>
                </a:effectLst>
              </a:rPr>
            </a:br>
            <a:r>
              <a:rPr lang="en-US" sz="4000" dirty="0" smtClean="0">
                <a:effectLst>
                  <a:outerShdw blurRad="38100" dist="38100" dir="2700000" algn="tl">
                    <a:srgbClr val="000000">
                      <a:alpha val="43137"/>
                    </a:srgbClr>
                  </a:outerShdw>
                </a:effectLst>
              </a:rPr>
              <a:t>Cloud Computing</a:t>
            </a:r>
            <a:endParaRPr lang="en-US" sz="4000" i="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3200400"/>
            <a:ext cx="6400800" cy="2362200"/>
          </a:xfrm>
        </p:spPr>
        <p:txBody>
          <a:bodyPr>
            <a:normAutofit/>
          </a:bodyPr>
          <a:lstStyle/>
          <a:p>
            <a:pPr algn="ctr"/>
            <a:r>
              <a:rPr lang="en-US" altLang="zh-TW" sz="3200" i="0" dirty="0" smtClean="0">
                <a:effectLst>
                  <a:outerShdw blurRad="38100" dist="38100" dir="2700000" algn="tl">
                    <a:srgbClr val="000000">
                      <a:alpha val="43137"/>
                    </a:srgbClr>
                  </a:outerShdw>
                </a:effectLst>
                <a:latin typeface="標楷體" pitchFamily="65" charset="-120"/>
                <a:ea typeface="標楷體" pitchFamily="65" charset="-120"/>
              </a:rPr>
              <a:t>PaaS Techniques</a:t>
            </a:r>
          </a:p>
          <a:p>
            <a:pPr algn="ctr"/>
            <a:r>
              <a:rPr lang="en-US" altLang="zh-TW" sz="2400" i="0" dirty="0" smtClean="0">
                <a:effectLst>
                  <a:outerShdw blurRad="38100" dist="38100" dir="2700000" algn="tl">
                    <a:srgbClr val="000000">
                      <a:alpha val="43137"/>
                    </a:srgbClr>
                  </a:outerShdw>
                </a:effectLst>
                <a:latin typeface="標楷體" pitchFamily="65" charset="-120"/>
                <a:ea typeface="標楷體" pitchFamily="65" charset="-120"/>
              </a:rPr>
              <a:t>Database</a:t>
            </a:r>
            <a:endParaRPr lang="en-US" altLang="zh-TW" sz="3200" i="0" dirty="0" smtClean="0">
              <a:effectLst>
                <a:outerShdw blurRad="38100" dist="38100" dir="2700000" algn="tl">
                  <a:srgbClr val="000000">
                    <a:alpha val="43137"/>
                  </a:srgbClr>
                </a:outerShdw>
              </a:effectLst>
              <a:latin typeface="標楷體" pitchFamily="65" charset="-120"/>
              <a:ea typeface="標楷體" pitchFamily="65" charset="-120"/>
            </a:endParaRPr>
          </a:p>
          <a:p>
            <a:pPr algn="ctr"/>
            <a:endParaRPr lang="en-US" altLang="zh-TW" sz="1600" i="0" dirty="0" smtClean="0">
              <a:effectLst>
                <a:outerShdw blurRad="38100" dist="38100" dir="2700000" algn="tl">
                  <a:srgbClr val="000000">
                    <a:alpha val="43137"/>
                  </a:srgbClr>
                </a:outerShdw>
              </a:effectLst>
              <a:latin typeface="標楷體" pitchFamily="65" charset="-120"/>
              <a:ea typeface="標楷體" pitchFamily="65" charset="-120"/>
            </a:endParaRPr>
          </a:p>
          <a:p>
            <a:pPr algn="ctr"/>
            <a:endParaRPr lang="en-US" altLang="zh-TW" sz="3200" i="0" dirty="0" smtClean="0">
              <a:effectLst>
                <a:outerShdw blurRad="38100" dist="38100" dir="2700000" algn="tl">
                  <a:srgbClr val="000000">
                    <a:alpha val="43137"/>
                  </a:srgbClr>
                </a:outerShdw>
              </a:effectLst>
              <a:latin typeface="標楷體" pitchFamily="65" charset="-120"/>
              <a:ea typeface="標楷體" pitchFamily="65" charset="-12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Agenda</a:t>
            </a:r>
            <a:endParaRPr lang="zh-TW" altLang="en-US" dirty="0"/>
          </a:p>
        </p:txBody>
      </p:sp>
      <p:sp>
        <p:nvSpPr>
          <p:cNvPr id="3" name="內容版面配置區 2"/>
          <p:cNvSpPr>
            <a:spLocks noGrp="1"/>
          </p:cNvSpPr>
          <p:nvPr>
            <p:ph idx="1"/>
          </p:nvPr>
        </p:nvSpPr>
        <p:spPr/>
        <p:txBody>
          <a:bodyPr>
            <a:normAutofit/>
          </a:bodyPr>
          <a:lstStyle/>
          <a:p>
            <a:pPr>
              <a:buClr>
                <a:schemeClr val="bg1">
                  <a:lumMod val="50000"/>
                </a:schemeClr>
              </a:buClr>
            </a:pPr>
            <a:r>
              <a:rPr lang="en-US" altLang="zh-TW" dirty="0" smtClean="0">
                <a:solidFill>
                  <a:schemeClr val="bg1">
                    <a:lumMod val="50000"/>
                  </a:schemeClr>
                </a:solidFill>
                <a:latin typeface="+mj-lt"/>
              </a:rPr>
              <a:t>Overview </a:t>
            </a:r>
          </a:p>
          <a:p>
            <a:pPr lvl="1">
              <a:buClr>
                <a:schemeClr val="bg1">
                  <a:lumMod val="50000"/>
                </a:schemeClr>
              </a:buClr>
            </a:pPr>
            <a:r>
              <a:rPr lang="en-US" altLang="zh-TW" dirty="0" err="1" smtClean="0">
                <a:solidFill>
                  <a:schemeClr val="bg1">
                    <a:lumMod val="50000"/>
                  </a:schemeClr>
                </a:solidFill>
                <a:latin typeface="+mj-lt"/>
              </a:rPr>
              <a:t>Hadoop</a:t>
            </a:r>
            <a:r>
              <a:rPr lang="en-US" altLang="zh-TW" dirty="0" smtClean="0">
                <a:solidFill>
                  <a:schemeClr val="bg1">
                    <a:lumMod val="50000"/>
                  </a:schemeClr>
                </a:solidFill>
                <a:latin typeface="+mj-lt"/>
              </a:rPr>
              <a:t> &amp; Google</a:t>
            </a:r>
          </a:p>
          <a:p>
            <a:pPr>
              <a:buClr>
                <a:schemeClr val="bg1">
                  <a:lumMod val="50000"/>
                </a:schemeClr>
              </a:buClr>
            </a:pPr>
            <a:endParaRPr lang="en-US" altLang="zh-TW" dirty="0" smtClean="0">
              <a:solidFill>
                <a:schemeClr val="bg1">
                  <a:lumMod val="50000"/>
                </a:schemeClr>
              </a:solidFill>
              <a:latin typeface="+mj-lt"/>
            </a:endParaRPr>
          </a:p>
          <a:p>
            <a:pPr>
              <a:buClr>
                <a:schemeClr val="bg1">
                  <a:lumMod val="50000"/>
                </a:schemeClr>
              </a:buClr>
            </a:pPr>
            <a:r>
              <a:rPr lang="en-US" altLang="zh-TW" dirty="0" smtClean="0">
                <a:solidFill>
                  <a:schemeClr val="bg1">
                    <a:lumMod val="50000"/>
                  </a:schemeClr>
                </a:solidFill>
                <a:latin typeface="+mj-lt"/>
              </a:rPr>
              <a:t>PaaS Techniques</a:t>
            </a:r>
          </a:p>
          <a:p>
            <a:pPr lvl="1">
              <a:buClr>
                <a:schemeClr val="bg1">
                  <a:lumMod val="50000"/>
                </a:schemeClr>
              </a:buClr>
            </a:pPr>
            <a:r>
              <a:rPr lang="en-US" altLang="zh-TW" dirty="0" smtClean="0">
                <a:solidFill>
                  <a:schemeClr val="bg1">
                    <a:lumMod val="50000"/>
                  </a:schemeClr>
                </a:solidFill>
                <a:latin typeface="+mj-lt"/>
              </a:rPr>
              <a:t>File System</a:t>
            </a:r>
          </a:p>
          <a:p>
            <a:pPr lvl="2">
              <a:buClr>
                <a:schemeClr val="bg1">
                  <a:lumMod val="50000"/>
                </a:schemeClr>
              </a:buClr>
            </a:pPr>
            <a:r>
              <a:rPr lang="en-US" altLang="zh-TW" dirty="0" smtClean="0">
                <a:solidFill>
                  <a:schemeClr val="bg1">
                    <a:lumMod val="50000"/>
                  </a:schemeClr>
                </a:solidFill>
                <a:latin typeface="+mj-lt"/>
              </a:rPr>
              <a:t>GFS, HDFS</a:t>
            </a:r>
          </a:p>
          <a:p>
            <a:pPr lvl="1">
              <a:buClr>
                <a:schemeClr val="bg1">
                  <a:lumMod val="50000"/>
                </a:schemeClr>
              </a:buClr>
            </a:pPr>
            <a:r>
              <a:rPr lang="en-US" altLang="zh-TW" dirty="0" smtClean="0">
                <a:solidFill>
                  <a:schemeClr val="bg1">
                    <a:lumMod val="50000"/>
                  </a:schemeClr>
                </a:solidFill>
                <a:latin typeface="+mj-lt"/>
              </a:rPr>
              <a:t>Programming Model</a:t>
            </a:r>
          </a:p>
          <a:p>
            <a:pPr lvl="2">
              <a:buClr>
                <a:schemeClr val="bg1">
                  <a:lumMod val="50000"/>
                </a:schemeClr>
              </a:buClr>
            </a:pPr>
            <a:r>
              <a:rPr lang="en-US" altLang="zh-TW" dirty="0" err="1" smtClean="0">
                <a:solidFill>
                  <a:schemeClr val="bg1">
                    <a:lumMod val="50000"/>
                  </a:schemeClr>
                </a:solidFill>
                <a:latin typeface="+mj-lt"/>
              </a:rPr>
              <a:t>MapReduce</a:t>
            </a:r>
            <a:r>
              <a:rPr lang="en-US" altLang="zh-TW" dirty="0" smtClean="0">
                <a:solidFill>
                  <a:schemeClr val="bg1">
                    <a:lumMod val="50000"/>
                  </a:schemeClr>
                </a:solidFill>
                <a:latin typeface="+mj-lt"/>
              </a:rPr>
              <a:t>, </a:t>
            </a:r>
            <a:r>
              <a:rPr lang="en-US" altLang="zh-TW" dirty="0" err="1" smtClean="0">
                <a:solidFill>
                  <a:schemeClr val="bg1">
                    <a:lumMod val="50000"/>
                  </a:schemeClr>
                </a:solidFill>
                <a:latin typeface="+mj-lt"/>
              </a:rPr>
              <a:t>Pregel</a:t>
            </a:r>
            <a:endParaRPr lang="en-US" altLang="zh-TW" dirty="0" smtClean="0">
              <a:solidFill>
                <a:schemeClr val="bg1">
                  <a:lumMod val="50000"/>
                </a:schemeClr>
              </a:solidFill>
              <a:latin typeface="+mj-lt"/>
            </a:endParaRPr>
          </a:p>
          <a:p>
            <a:pPr lvl="1"/>
            <a:r>
              <a:rPr lang="en-US" altLang="zh-TW" dirty="0" smtClean="0">
                <a:latin typeface="+mj-lt"/>
              </a:rPr>
              <a:t>Storage System for Structured Data</a:t>
            </a:r>
          </a:p>
          <a:p>
            <a:pPr lvl="2"/>
            <a:r>
              <a:rPr lang="en-US" altLang="zh-TW" dirty="0" err="1" smtClean="0">
                <a:latin typeface="+mj-lt"/>
              </a:rPr>
              <a:t>Bigtable</a:t>
            </a:r>
            <a:r>
              <a:rPr lang="en-US" altLang="zh-TW" dirty="0" smtClean="0">
                <a:latin typeface="+mj-lt"/>
              </a:rPr>
              <a:t>, </a:t>
            </a:r>
            <a:r>
              <a:rPr lang="en-US" altLang="zh-TW" dirty="0" err="1" smtClean="0">
                <a:latin typeface="+mj-lt"/>
              </a:rPr>
              <a:t>Hbase</a:t>
            </a:r>
            <a:endParaRPr lang="zh-TW" altLang="en-US" dirty="0">
              <a:latin typeface="+mj-l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Storage System for Structured Data</a:t>
            </a:r>
          </a:p>
        </p:txBody>
      </p:sp>
      <p:sp>
        <p:nvSpPr>
          <p:cNvPr id="5" name="文字版面配置區 4"/>
          <p:cNvSpPr>
            <a:spLocks noGrp="1"/>
          </p:cNvSpPr>
          <p:nvPr>
            <p:ph type="body" idx="1"/>
          </p:nvPr>
        </p:nvSpPr>
        <p:spPr/>
        <p:txBody>
          <a:bodyPr>
            <a:normAutofit fontScale="92500" lnSpcReduction="20000"/>
          </a:bodyPr>
          <a:lstStyle/>
          <a:p>
            <a:r>
              <a:rPr lang="en-US" altLang="zh-TW" dirty="0" smtClean="0"/>
              <a:t>Database Overview</a:t>
            </a:r>
          </a:p>
          <a:p>
            <a:r>
              <a:rPr lang="en-US" altLang="zh-TW" dirty="0" smtClean="0">
                <a:solidFill>
                  <a:schemeClr val="bg1">
                    <a:lumMod val="50000"/>
                  </a:schemeClr>
                </a:solidFill>
              </a:rPr>
              <a:t>Relational Database (SQL)</a:t>
            </a:r>
          </a:p>
          <a:p>
            <a:r>
              <a:rPr lang="en-US" altLang="zh-TW" dirty="0">
                <a:solidFill>
                  <a:schemeClr val="bg1">
                    <a:lumMod val="50000"/>
                  </a:schemeClr>
                </a:solidFill>
              </a:rPr>
              <a:t>Non-relational Database Introduction (NOSQL/NOREL)</a:t>
            </a:r>
          </a:p>
          <a:p>
            <a:r>
              <a:rPr lang="en-US" altLang="zh-TW" dirty="0" smtClean="0">
                <a:solidFill>
                  <a:schemeClr val="bg1">
                    <a:lumMod val="50000"/>
                  </a:schemeClr>
                </a:solidFill>
              </a:rPr>
              <a:t>Google </a:t>
            </a:r>
            <a:r>
              <a:rPr lang="en-US" altLang="zh-TW" dirty="0" err="1" smtClean="0">
                <a:solidFill>
                  <a:schemeClr val="bg1">
                    <a:lumMod val="50000"/>
                  </a:schemeClr>
                </a:solidFill>
              </a:rPr>
              <a:t>Bigtable</a:t>
            </a:r>
            <a:endParaRPr lang="en-US" altLang="zh-TW" dirty="0" smtClean="0">
              <a:solidFill>
                <a:schemeClr val="bg1">
                  <a:lumMod val="50000"/>
                </a:schemeClr>
              </a:solidFill>
            </a:endParaRPr>
          </a:p>
          <a:p>
            <a:r>
              <a:rPr lang="en-US" altLang="zh-TW" dirty="0" err="1" smtClean="0">
                <a:solidFill>
                  <a:schemeClr val="bg1">
                    <a:lumMod val="50000"/>
                  </a:schemeClr>
                </a:solidFill>
              </a:rPr>
              <a:t>Hadoop</a:t>
            </a:r>
            <a:r>
              <a:rPr lang="en-US" altLang="zh-TW" dirty="0" smtClean="0">
                <a:solidFill>
                  <a:schemeClr val="bg1">
                    <a:lumMod val="50000"/>
                  </a:schemeClr>
                </a:solidFill>
              </a:rPr>
              <a:t> (</a:t>
            </a:r>
            <a:r>
              <a:rPr lang="en-US" altLang="zh-TW" dirty="0" err="1" smtClean="0">
                <a:solidFill>
                  <a:schemeClr val="bg1">
                    <a:lumMod val="50000"/>
                  </a:schemeClr>
                </a:solidFill>
              </a:rPr>
              <a:t>Hbase</a:t>
            </a:r>
            <a:r>
              <a:rPr lang="en-US" altLang="zh-TW" dirty="0" smtClean="0">
                <a:solidFill>
                  <a:schemeClr val="bg1">
                    <a:lumMod val="50000"/>
                  </a:schemeClr>
                </a:solidFill>
              </a:rPr>
              <a:t>)</a:t>
            </a:r>
            <a:endParaRPr lang="zh-TW" altLang="en-US" dirty="0">
              <a:solidFill>
                <a:schemeClr val="bg1">
                  <a:lumMod val="50000"/>
                </a:schemeClr>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Unstructured Data</a:t>
            </a:r>
            <a:endParaRPr lang="zh-TW" altLang="en-US" dirty="0"/>
          </a:p>
        </p:txBody>
      </p:sp>
      <p:sp>
        <p:nvSpPr>
          <p:cNvPr id="3" name="內容版面配置區 2"/>
          <p:cNvSpPr>
            <a:spLocks noGrp="1"/>
          </p:cNvSpPr>
          <p:nvPr>
            <p:ph idx="1"/>
          </p:nvPr>
        </p:nvSpPr>
        <p:spPr/>
        <p:txBody>
          <a:bodyPr>
            <a:normAutofit/>
          </a:bodyPr>
          <a:lstStyle/>
          <a:p>
            <a:r>
              <a:rPr lang="en-US" altLang="zh-TW" dirty="0" smtClean="0">
                <a:latin typeface="+mj-lt"/>
              </a:rPr>
              <a:t>Data </a:t>
            </a:r>
            <a:r>
              <a:rPr lang="en-US" altLang="zh-TW" dirty="0">
                <a:latin typeface="+mj-lt"/>
              </a:rPr>
              <a:t>can be of any </a:t>
            </a:r>
            <a:r>
              <a:rPr lang="en-US" altLang="zh-TW" dirty="0" smtClean="0">
                <a:latin typeface="+mj-lt"/>
              </a:rPr>
              <a:t>type</a:t>
            </a:r>
          </a:p>
          <a:p>
            <a:pPr lvl="1"/>
            <a:r>
              <a:rPr lang="en-US" altLang="zh-TW" dirty="0" smtClean="0">
                <a:latin typeface="+mj-lt"/>
              </a:rPr>
              <a:t>Not </a:t>
            </a:r>
            <a:r>
              <a:rPr lang="en-US" altLang="zh-TW" dirty="0">
                <a:latin typeface="+mj-lt"/>
              </a:rPr>
              <a:t>necessarily following any format or </a:t>
            </a:r>
            <a:r>
              <a:rPr lang="en-US" altLang="zh-TW" dirty="0" smtClean="0">
                <a:latin typeface="+mj-lt"/>
              </a:rPr>
              <a:t>sequence</a:t>
            </a:r>
            <a:endParaRPr lang="en-US" altLang="zh-TW" dirty="0">
              <a:latin typeface="+mj-lt"/>
            </a:endParaRPr>
          </a:p>
          <a:p>
            <a:pPr lvl="1"/>
            <a:r>
              <a:rPr lang="en-US" altLang="zh-TW" dirty="0">
                <a:latin typeface="+mj-lt"/>
              </a:rPr>
              <a:t>N</a:t>
            </a:r>
            <a:r>
              <a:rPr lang="en-US" altLang="zh-TW" dirty="0" smtClean="0">
                <a:latin typeface="+mj-lt"/>
              </a:rPr>
              <a:t>ot </a:t>
            </a:r>
            <a:r>
              <a:rPr lang="en-US" altLang="zh-TW" dirty="0">
                <a:latin typeface="+mj-lt"/>
              </a:rPr>
              <a:t>follow any </a:t>
            </a:r>
            <a:r>
              <a:rPr lang="en-US" altLang="zh-TW" dirty="0" smtClean="0">
                <a:latin typeface="+mj-lt"/>
              </a:rPr>
              <a:t>rules, so is </a:t>
            </a:r>
            <a:r>
              <a:rPr lang="en-US" altLang="zh-TW" dirty="0">
                <a:latin typeface="+mj-lt"/>
              </a:rPr>
              <a:t>not </a:t>
            </a:r>
            <a:r>
              <a:rPr lang="en-US" altLang="zh-TW" dirty="0" smtClean="0">
                <a:latin typeface="+mj-lt"/>
              </a:rPr>
              <a:t>predictable</a:t>
            </a:r>
          </a:p>
          <a:p>
            <a:r>
              <a:rPr lang="en-US" altLang="zh-TW" dirty="0">
                <a:latin typeface="+mj-lt"/>
              </a:rPr>
              <a:t>Two Categories </a:t>
            </a:r>
            <a:endParaRPr lang="en-US" altLang="zh-TW" dirty="0" smtClean="0">
              <a:latin typeface="+mj-lt"/>
            </a:endParaRPr>
          </a:p>
          <a:p>
            <a:pPr lvl="1"/>
            <a:r>
              <a:rPr lang="en-US" altLang="zh-TW" dirty="0" smtClean="0">
                <a:latin typeface="+mj-lt"/>
              </a:rPr>
              <a:t>Bitmap Objects</a:t>
            </a:r>
            <a:endParaRPr lang="en-US" altLang="zh-TW" dirty="0">
              <a:latin typeface="+mj-lt"/>
            </a:endParaRPr>
          </a:p>
          <a:p>
            <a:pPr lvl="2"/>
            <a:r>
              <a:rPr lang="en-US" altLang="zh-TW" dirty="0">
                <a:latin typeface="+mj-lt"/>
              </a:rPr>
              <a:t>Inherently non-language based, such as image, video or audio </a:t>
            </a:r>
            <a:r>
              <a:rPr lang="en-US" altLang="zh-TW" dirty="0" smtClean="0">
                <a:latin typeface="+mj-lt"/>
              </a:rPr>
              <a:t>files</a:t>
            </a:r>
          </a:p>
          <a:p>
            <a:pPr lvl="1"/>
            <a:r>
              <a:rPr lang="en-US" altLang="zh-TW" dirty="0">
                <a:latin typeface="+mj-lt"/>
              </a:rPr>
              <a:t>Textual </a:t>
            </a:r>
            <a:r>
              <a:rPr lang="en-US" altLang="zh-TW" dirty="0" smtClean="0">
                <a:latin typeface="+mj-lt"/>
              </a:rPr>
              <a:t>Objects</a:t>
            </a:r>
          </a:p>
          <a:p>
            <a:pPr lvl="2"/>
            <a:r>
              <a:rPr lang="en-US" altLang="zh-TW" dirty="0">
                <a:latin typeface="+mj-lt"/>
              </a:rPr>
              <a:t>Based on a written or printed language, such as Microsoft Word documents, e-mails or Microsoft Excel </a:t>
            </a:r>
            <a:r>
              <a:rPr lang="en-US" altLang="zh-TW" dirty="0" smtClean="0">
                <a:latin typeface="+mj-lt"/>
              </a:rPr>
              <a:t>spreadsheets</a:t>
            </a:r>
            <a:endParaRPr lang="en-US" altLang="zh-TW" dirty="0">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Structure Data</a:t>
            </a:r>
            <a:endParaRPr lang="zh-TW" altLang="en-US" dirty="0"/>
          </a:p>
        </p:txBody>
      </p:sp>
      <p:sp>
        <p:nvSpPr>
          <p:cNvPr id="3" name="內容版面配置區 2"/>
          <p:cNvSpPr>
            <a:spLocks noGrp="1"/>
          </p:cNvSpPr>
          <p:nvPr>
            <p:ph idx="1"/>
          </p:nvPr>
        </p:nvSpPr>
        <p:spPr/>
        <p:txBody>
          <a:bodyPr>
            <a:normAutofit lnSpcReduction="10000"/>
          </a:bodyPr>
          <a:lstStyle/>
          <a:p>
            <a:r>
              <a:rPr lang="en-US" altLang="zh-TW" dirty="0" smtClean="0">
                <a:latin typeface="+mj-lt"/>
              </a:rPr>
              <a:t>Data </a:t>
            </a:r>
            <a:r>
              <a:rPr lang="en-US" altLang="zh-TW" dirty="0">
                <a:latin typeface="+mj-lt"/>
              </a:rPr>
              <a:t>is </a:t>
            </a:r>
            <a:r>
              <a:rPr lang="en-US" altLang="zh-TW" dirty="0" smtClean="0">
                <a:latin typeface="+mj-lt"/>
              </a:rPr>
              <a:t>organized </a:t>
            </a:r>
            <a:r>
              <a:rPr lang="en-US" altLang="zh-TW" dirty="0">
                <a:latin typeface="+mj-lt"/>
              </a:rPr>
              <a:t>in semantic chunks (entities) </a:t>
            </a:r>
          </a:p>
          <a:p>
            <a:r>
              <a:rPr lang="en-US" altLang="zh-TW" dirty="0" smtClean="0">
                <a:latin typeface="+mj-lt"/>
              </a:rPr>
              <a:t>Similar </a:t>
            </a:r>
            <a:r>
              <a:rPr lang="en-US" altLang="zh-TW" dirty="0">
                <a:latin typeface="+mj-lt"/>
              </a:rPr>
              <a:t>entities are grouped together (relations or classes) </a:t>
            </a:r>
          </a:p>
          <a:p>
            <a:r>
              <a:rPr lang="en-US" altLang="zh-TW" dirty="0" smtClean="0">
                <a:latin typeface="+mj-lt"/>
              </a:rPr>
              <a:t>Entities </a:t>
            </a:r>
            <a:r>
              <a:rPr lang="en-US" altLang="zh-TW" dirty="0">
                <a:latin typeface="+mj-lt"/>
              </a:rPr>
              <a:t>in the same group have the same descriptions (attributes) </a:t>
            </a:r>
          </a:p>
          <a:p>
            <a:r>
              <a:rPr lang="en-US" altLang="zh-TW" dirty="0" smtClean="0">
                <a:latin typeface="+mj-lt"/>
              </a:rPr>
              <a:t>Descriptions </a:t>
            </a:r>
            <a:r>
              <a:rPr lang="en-US" altLang="zh-TW" dirty="0">
                <a:latin typeface="+mj-lt"/>
              </a:rPr>
              <a:t>for all entities in a group (schema) </a:t>
            </a:r>
          </a:p>
          <a:p>
            <a:pPr lvl="1"/>
            <a:r>
              <a:rPr lang="en-US" altLang="zh-TW" dirty="0" smtClean="0">
                <a:latin typeface="+mj-lt"/>
              </a:rPr>
              <a:t>The same </a:t>
            </a:r>
            <a:r>
              <a:rPr lang="en-US" altLang="zh-TW" dirty="0">
                <a:latin typeface="+mj-lt"/>
              </a:rPr>
              <a:t>defined format </a:t>
            </a:r>
          </a:p>
          <a:p>
            <a:pPr lvl="1"/>
            <a:r>
              <a:rPr lang="en-US" altLang="zh-TW" dirty="0" smtClean="0">
                <a:latin typeface="+mj-lt"/>
              </a:rPr>
              <a:t>A</a:t>
            </a:r>
            <a:r>
              <a:rPr lang="zh-TW" altLang="en-US" dirty="0" smtClean="0">
                <a:latin typeface="+mj-lt"/>
              </a:rPr>
              <a:t> </a:t>
            </a:r>
            <a:r>
              <a:rPr lang="en-US" altLang="zh-TW" dirty="0" smtClean="0">
                <a:latin typeface="+mj-lt"/>
              </a:rPr>
              <a:t>predefined </a:t>
            </a:r>
            <a:r>
              <a:rPr lang="en-US" altLang="zh-TW" dirty="0">
                <a:latin typeface="+mj-lt"/>
              </a:rPr>
              <a:t>length </a:t>
            </a:r>
          </a:p>
          <a:p>
            <a:pPr lvl="1"/>
            <a:r>
              <a:rPr lang="en-US" altLang="zh-TW" dirty="0" smtClean="0">
                <a:latin typeface="+mj-lt"/>
              </a:rPr>
              <a:t>All present </a:t>
            </a:r>
            <a:endParaRPr lang="en-US" altLang="zh-TW" dirty="0">
              <a:latin typeface="+mj-lt"/>
            </a:endParaRPr>
          </a:p>
          <a:p>
            <a:pPr lvl="1"/>
            <a:r>
              <a:rPr lang="en-US" altLang="zh-TW" dirty="0" smtClean="0">
                <a:latin typeface="+mj-lt"/>
              </a:rPr>
              <a:t>The same </a:t>
            </a:r>
            <a:r>
              <a:rPr lang="en-US" altLang="zh-TW" dirty="0">
                <a:latin typeface="+mj-lt"/>
              </a:rPr>
              <a:t>order</a:t>
            </a:r>
            <a:endParaRPr lang="zh-TW" altLang="en-US" dirty="0">
              <a:latin typeface="+mj-lt"/>
            </a:endParaRPr>
          </a:p>
        </p:txBody>
      </p:sp>
    </p:spTree>
    <p:extLst>
      <p:ext uri="{BB962C8B-B14F-4D97-AF65-F5344CB8AC3E}">
        <p14:creationId xmlns="" xmlns:p14="http://schemas.microsoft.com/office/powerpoint/2010/main" val="2969425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Semi-Structured Data</a:t>
            </a:r>
            <a:endParaRPr lang="zh-TW" altLang="en-US" dirty="0"/>
          </a:p>
        </p:txBody>
      </p:sp>
      <p:sp>
        <p:nvSpPr>
          <p:cNvPr id="3" name="內容版面配置區 2"/>
          <p:cNvSpPr>
            <a:spLocks noGrp="1"/>
          </p:cNvSpPr>
          <p:nvPr>
            <p:ph idx="1"/>
          </p:nvPr>
        </p:nvSpPr>
        <p:spPr/>
        <p:txBody>
          <a:bodyPr/>
          <a:lstStyle/>
          <a:p>
            <a:r>
              <a:rPr lang="en-US" altLang="zh-TW" dirty="0" smtClean="0">
                <a:latin typeface="+mj-lt"/>
              </a:rPr>
              <a:t>Organized </a:t>
            </a:r>
            <a:r>
              <a:rPr lang="en-US" altLang="zh-TW" dirty="0">
                <a:latin typeface="+mj-lt"/>
              </a:rPr>
              <a:t>in semantic entities </a:t>
            </a:r>
          </a:p>
          <a:p>
            <a:r>
              <a:rPr lang="en-US" altLang="zh-TW" dirty="0" smtClean="0">
                <a:latin typeface="+mj-lt"/>
              </a:rPr>
              <a:t>Similar </a:t>
            </a:r>
            <a:r>
              <a:rPr lang="en-US" altLang="zh-TW" dirty="0">
                <a:latin typeface="+mj-lt"/>
              </a:rPr>
              <a:t>entities are grouped together </a:t>
            </a:r>
          </a:p>
          <a:p>
            <a:r>
              <a:rPr lang="en-US" altLang="zh-TW" dirty="0" smtClean="0">
                <a:latin typeface="+mj-lt"/>
              </a:rPr>
              <a:t>Entities </a:t>
            </a:r>
            <a:r>
              <a:rPr lang="en-US" altLang="zh-TW" dirty="0">
                <a:latin typeface="+mj-lt"/>
              </a:rPr>
              <a:t>in same group may </a:t>
            </a:r>
            <a:r>
              <a:rPr lang="en-US" altLang="zh-TW" dirty="0">
                <a:solidFill>
                  <a:srgbClr val="FF0000"/>
                </a:solidFill>
                <a:latin typeface="+mj-lt"/>
              </a:rPr>
              <a:t>not</a:t>
            </a:r>
            <a:r>
              <a:rPr lang="en-US" altLang="zh-TW" dirty="0">
                <a:latin typeface="+mj-lt"/>
              </a:rPr>
              <a:t> have same attributes </a:t>
            </a:r>
          </a:p>
          <a:p>
            <a:pPr lvl="1"/>
            <a:r>
              <a:rPr lang="en-US" altLang="zh-TW" dirty="0" smtClean="0">
                <a:latin typeface="+mj-lt"/>
              </a:rPr>
              <a:t>Order </a:t>
            </a:r>
            <a:r>
              <a:rPr lang="en-US" altLang="zh-TW" dirty="0">
                <a:latin typeface="+mj-lt"/>
              </a:rPr>
              <a:t>of attributes not necessarily important </a:t>
            </a:r>
          </a:p>
          <a:p>
            <a:pPr lvl="1"/>
            <a:r>
              <a:rPr lang="en-US" altLang="zh-TW" dirty="0" smtClean="0">
                <a:latin typeface="+mj-lt"/>
              </a:rPr>
              <a:t>Not </a:t>
            </a:r>
            <a:r>
              <a:rPr lang="en-US" altLang="zh-TW" dirty="0">
                <a:latin typeface="+mj-lt"/>
              </a:rPr>
              <a:t>all attributes may be required </a:t>
            </a:r>
          </a:p>
          <a:p>
            <a:pPr lvl="1"/>
            <a:r>
              <a:rPr lang="en-US" altLang="zh-TW" dirty="0" smtClean="0">
                <a:latin typeface="+mj-lt"/>
              </a:rPr>
              <a:t>Size </a:t>
            </a:r>
            <a:r>
              <a:rPr lang="en-US" altLang="zh-TW" dirty="0">
                <a:latin typeface="+mj-lt"/>
              </a:rPr>
              <a:t>of same attributes in a group may </a:t>
            </a:r>
            <a:r>
              <a:rPr lang="en-US" altLang="zh-TW" dirty="0" smtClean="0">
                <a:latin typeface="+mj-lt"/>
              </a:rPr>
              <a:t>different </a:t>
            </a:r>
            <a:endParaRPr lang="en-US" altLang="zh-TW" dirty="0">
              <a:latin typeface="+mj-lt"/>
            </a:endParaRPr>
          </a:p>
          <a:p>
            <a:pPr lvl="1"/>
            <a:r>
              <a:rPr lang="en-US" altLang="zh-TW" dirty="0" smtClean="0">
                <a:latin typeface="+mj-lt"/>
              </a:rPr>
              <a:t>Type </a:t>
            </a:r>
            <a:r>
              <a:rPr lang="en-US" altLang="zh-TW" dirty="0">
                <a:latin typeface="+mj-lt"/>
              </a:rPr>
              <a:t>of same attributes in a group may </a:t>
            </a:r>
            <a:r>
              <a:rPr lang="en-US" altLang="zh-TW" dirty="0" smtClean="0">
                <a:latin typeface="+mj-lt"/>
              </a:rPr>
              <a:t>different</a:t>
            </a:r>
            <a:endParaRPr lang="en-US" altLang="zh-TW" dirty="0">
              <a:latin typeface="+mj-lt"/>
            </a:endParaRPr>
          </a:p>
          <a:p>
            <a:endParaRPr lang="zh-TW" altLang="en-US" dirty="0">
              <a:latin typeface="+mj-lt"/>
            </a:endParaRPr>
          </a:p>
        </p:txBody>
      </p:sp>
    </p:spTree>
    <p:extLst>
      <p:ext uri="{BB962C8B-B14F-4D97-AF65-F5344CB8AC3E}">
        <p14:creationId xmlns="" xmlns:p14="http://schemas.microsoft.com/office/powerpoint/2010/main" val="1423724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Example of Semi-Structured </a:t>
            </a:r>
            <a:r>
              <a:rPr lang="en-US" altLang="zh-TW" dirty="0" smtClean="0"/>
              <a:t>Data</a:t>
            </a:r>
            <a:endParaRPr lang="zh-TW" altLang="en-US" dirty="0"/>
          </a:p>
        </p:txBody>
      </p:sp>
      <p:sp>
        <p:nvSpPr>
          <p:cNvPr id="3" name="內容版面配置區 2"/>
          <p:cNvSpPr>
            <a:spLocks noGrp="1"/>
          </p:cNvSpPr>
          <p:nvPr>
            <p:ph idx="1"/>
          </p:nvPr>
        </p:nvSpPr>
        <p:spPr/>
        <p:txBody>
          <a:bodyPr>
            <a:normAutofit lnSpcReduction="10000"/>
          </a:bodyPr>
          <a:lstStyle/>
          <a:p>
            <a:r>
              <a:rPr lang="en-US" altLang="zh-TW" dirty="0" smtClean="0">
                <a:latin typeface="+mj-lt"/>
              </a:rPr>
              <a:t>Name: Computing Cloud</a:t>
            </a:r>
          </a:p>
          <a:p>
            <a:r>
              <a:rPr lang="en-US" altLang="zh-TW" dirty="0" err="1" smtClean="0">
                <a:latin typeface="+mj-lt"/>
              </a:rPr>
              <a:t>Phone_home</a:t>
            </a:r>
            <a:r>
              <a:rPr lang="en-US" altLang="zh-TW" dirty="0" smtClean="0">
                <a:latin typeface="+mj-lt"/>
              </a:rPr>
              <a:t>: 035715131</a:t>
            </a:r>
          </a:p>
          <a:p>
            <a:endParaRPr lang="en-US" altLang="zh-TW" dirty="0">
              <a:latin typeface="+mj-lt"/>
            </a:endParaRPr>
          </a:p>
          <a:p>
            <a:r>
              <a:rPr lang="en-US" altLang="zh-TW" dirty="0" smtClean="0">
                <a:latin typeface="+mj-lt"/>
              </a:rPr>
              <a:t>Name: TA Cloud</a:t>
            </a:r>
          </a:p>
          <a:p>
            <a:r>
              <a:rPr lang="en-US" altLang="zh-TW" dirty="0" err="1" smtClean="0">
                <a:latin typeface="+mj-lt"/>
              </a:rPr>
              <a:t>Phone_cell</a:t>
            </a:r>
            <a:r>
              <a:rPr lang="en-US" altLang="zh-TW" dirty="0" smtClean="0">
                <a:latin typeface="+mj-lt"/>
              </a:rPr>
              <a:t>: 0938383838</a:t>
            </a:r>
          </a:p>
          <a:p>
            <a:r>
              <a:rPr lang="en-US" altLang="zh-TW" dirty="0" smtClean="0">
                <a:latin typeface="+mj-lt"/>
              </a:rPr>
              <a:t>Email: cloudTA@gmail.com</a:t>
            </a:r>
          </a:p>
          <a:p>
            <a:endParaRPr lang="en-US" altLang="zh-TW" dirty="0">
              <a:latin typeface="+mj-lt"/>
            </a:endParaRPr>
          </a:p>
          <a:p>
            <a:r>
              <a:rPr lang="en-US" altLang="zh-TW" dirty="0" smtClean="0">
                <a:latin typeface="+mj-lt"/>
              </a:rPr>
              <a:t>Name: Student Cloud</a:t>
            </a:r>
          </a:p>
          <a:p>
            <a:r>
              <a:rPr lang="en-US" altLang="zh-TW" dirty="0" smtClean="0">
                <a:latin typeface="+mj-lt"/>
              </a:rPr>
              <a:t>Email: hiCloud@hotmail.com</a:t>
            </a:r>
          </a:p>
          <a:p>
            <a:endParaRPr lang="zh-TW" altLang="en-US" dirty="0">
              <a:latin typeface="+mj-lt"/>
            </a:endParaRPr>
          </a:p>
        </p:txBody>
      </p:sp>
    </p:spTree>
    <p:extLst>
      <p:ext uri="{BB962C8B-B14F-4D97-AF65-F5344CB8AC3E}">
        <p14:creationId xmlns="" xmlns:p14="http://schemas.microsoft.com/office/powerpoint/2010/main" val="1572953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Database, </a:t>
            </a:r>
            <a:br>
              <a:rPr lang="en-US" altLang="zh-TW" dirty="0" smtClean="0"/>
            </a:br>
            <a:r>
              <a:rPr lang="en-US" altLang="zh-TW" dirty="0" smtClean="0"/>
              <a:t>and Database Management System</a:t>
            </a:r>
            <a:endParaRPr lang="zh-TW" altLang="en-US" dirty="0"/>
          </a:p>
        </p:txBody>
      </p:sp>
      <p:sp>
        <p:nvSpPr>
          <p:cNvPr id="3" name="內容版面配置區 2"/>
          <p:cNvSpPr>
            <a:spLocks noGrp="1"/>
          </p:cNvSpPr>
          <p:nvPr>
            <p:ph idx="1"/>
          </p:nvPr>
        </p:nvSpPr>
        <p:spPr/>
        <p:txBody>
          <a:bodyPr/>
          <a:lstStyle/>
          <a:p>
            <a:r>
              <a:rPr lang="en-US" altLang="zh-TW" dirty="0" smtClean="0">
                <a:latin typeface="+mj-lt"/>
              </a:rPr>
              <a:t>Database</a:t>
            </a:r>
          </a:p>
          <a:p>
            <a:pPr lvl="1"/>
            <a:r>
              <a:rPr lang="en-US" altLang="zh-TW" dirty="0">
                <a:latin typeface="+mj-lt"/>
              </a:rPr>
              <a:t>A</a:t>
            </a:r>
            <a:r>
              <a:rPr lang="en-US" altLang="zh-TW" dirty="0" smtClean="0">
                <a:latin typeface="+mj-lt"/>
              </a:rPr>
              <a:t> </a:t>
            </a:r>
            <a:r>
              <a:rPr lang="en-US" altLang="zh-TW" dirty="0">
                <a:latin typeface="+mj-lt"/>
              </a:rPr>
              <a:t>system intended to organize, store, and retrieve large amounts of data </a:t>
            </a:r>
            <a:r>
              <a:rPr lang="en-US" altLang="zh-TW" dirty="0" smtClean="0">
                <a:latin typeface="+mj-lt"/>
              </a:rPr>
              <a:t>easily</a:t>
            </a:r>
          </a:p>
          <a:p>
            <a:pPr lvl="1"/>
            <a:endParaRPr lang="en-US" altLang="zh-TW" dirty="0" smtClean="0">
              <a:latin typeface="+mj-lt"/>
            </a:endParaRPr>
          </a:p>
          <a:p>
            <a:r>
              <a:rPr lang="en-US" altLang="zh-TW" dirty="0" smtClean="0">
                <a:latin typeface="+mj-lt"/>
              </a:rPr>
              <a:t>Database </a:t>
            </a:r>
            <a:r>
              <a:rPr lang="en-US" altLang="zh-TW" dirty="0">
                <a:latin typeface="+mj-lt"/>
              </a:rPr>
              <a:t>management system (DBMS)</a:t>
            </a:r>
            <a:endParaRPr lang="en-US" altLang="zh-TW" dirty="0" smtClean="0">
              <a:latin typeface="+mj-lt"/>
            </a:endParaRPr>
          </a:p>
          <a:p>
            <a:pPr lvl="1"/>
            <a:r>
              <a:rPr lang="en-US" altLang="zh-TW" dirty="0" smtClean="0">
                <a:latin typeface="+mj-lt"/>
              </a:rPr>
              <a:t>Consists </a:t>
            </a:r>
            <a:r>
              <a:rPr lang="en-US" altLang="zh-TW" dirty="0">
                <a:latin typeface="+mj-lt"/>
              </a:rPr>
              <a:t>of software that operates </a:t>
            </a:r>
            <a:r>
              <a:rPr lang="en-US" altLang="zh-TW" dirty="0" smtClean="0">
                <a:latin typeface="+mj-lt"/>
              </a:rPr>
              <a:t>databases</a:t>
            </a:r>
          </a:p>
          <a:p>
            <a:pPr lvl="1"/>
            <a:r>
              <a:rPr lang="en-US" altLang="zh-TW" dirty="0" smtClean="0">
                <a:latin typeface="+mj-lt"/>
              </a:rPr>
              <a:t>Provides </a:t>
            </a:r>
            <a:r>
              <a:rPr lang="en-US" altLang="zh-TW" dirty="0">
                <a:latin typeface="+mj-lt"/>
              </a:rPr>
              <a:t>storage, access, security, backup and other </a:t>
            </a:r>
            <a:r>
              <a:rPr lang="en-US" altLang="zh-TW" dirty="0" smtClean="0">
                <a:latin typeface="+mj-lt"/>
              </a:rPr>
              <a:t>facilities</a:t>
            </a:r>
          </a:p>
          <a:p>
            <a:pPr lvl="1"/>
            <a:endParaRPr lang="zh-TW" altLang="en-US" dirty="0">
              <a:latin typeface="+mj-lt"/>
            </a:endParaRPr>
          </a:p>
        </p:txBody>
      </p:sp>
    </p:spTree>
    <p:extLst>
      <p:ext uri="{BB962C8B-B14F-4D97-AF65-F5344CB8AC3E}">
        <p14:creationId xmlns="" xmlns:p14="http://schemas.microsoft.com/office/powerpoint/2010/main" val="2399485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Storage System for Structured Data</a:t>
            </a:r>
            <a:endParaRPr lang="zh-TW" altLang="en-US" dirty="0"/>
          </a:p>
        </p:txBody>
      </p:sp>
      <p:sp>
        <p:nvSpPr>
          <p:cNvPr id="5" name="文字版面配置區 4"/>
          <p:cNvSpPr>
            <a:spLocks noGrp="1"/>
          </p:cNvSpPr>
          <p:nvPr>
            <p:ph type="body" idx="1"/>
          </p:nvPr>
        </p:nvSpPr>
        <p:spPr/>
        <p:txBody>
          <a:bodyPr>
            <a:normAutofit fontScale="92500" lnSpcReduction="20000"/>
          </a:bodyPr>
          <a:lstStyle/>
          <a:p>
            <a:r>
              <a:rPr lang="en-US" altLang="zh-TW" dirty="0" smtClean="0">
                <a:solidFill>
                  <a:schemeClr val="bg1">
                    <a:lumMod val="50000"/>
                  </a:schemeClr>
                </a:solidFill>
              </a:rPr>
              <a:t>Database Overview</a:t>
            </a:r>
          </a:p>
          <a:p>
            <a:r>
              <a:rPr lang="en-US" altLang="zh-TW" dirty="0" smtClean="0"/>
              <a:t>Relational </a:t>
            </a:r>
            <a:r>
              <a:rPr lang="en-US" altLang="zh-TW" dirty="0"/>
              <a:t>Database (SQL)</a:t>
            </a:r>
          </a:p>
          <a:p>
            <a:r>
              <a:rPr lang="en-US" altLang="zh-TW" dirty="0">
                <a:solidFill>
                  <a:schemeClr val="bg1">
                    <a:lumMod val="50000"/>
                  </a:schemeClr>
                </a:solidFill>
              </a:rPr>
              <a:t>Non-relational Database </a:t>
            </a:r>
            <a:r>
              <a:rPr lang="en-US" altLang="zh-TW" dirty="0" smtClean="0">
                <a:solidFill>
                  <a:schemeClr val="bg1">
                    <a:lumMod val="50000"/>
                  </a:schemeClr>
                </a:solidFill>
              </a:rPr>
              <a:t>Introduction (</a:t>
            </a:r>
            <a:r>
              <a:rPr lang="en-US" altLang="zh-TW" dirty="0">
                <a:solidFill>
                  <a:schemeClr val="bg1">
                    <a:lumMod val="50000"/>
                  </a:schemeClr>
                </a:solidFill>
              </a:rPr>
              <a:t>NOSQL/NOREL</a:t>
            </a:r>
            <a:r>
              <a:rPr lang="en-US" altLang="zh-TW" dirty="0" smtClean="0">
                <a:solidFill>
                  <a:schemeClr val="bg1">
                    <a:lumMod val="50000"/>
                  </a:schemeClr>
                </a:solidFill>
              </a:rPr>
              <a:t>)</a:t>
            </a:r>
          </a:p>
          <a:p>
            <a:r>
              <a:rPr lang="en-US" altLang="zh-TW" dirty="0">
                <a:solidFill>
                  <a:schemeClr val="bg1">
                    <a:lumMod val="50000"/>
                  </a:schemeClr>
                </a:solidFill>
              </a:rPr>
              <a:t>Google </a:t>
            </a:r>
            <a:r>
              <a:rPr lang="en-US" altLang="zh-TW" dirty="0" err="1" smtClean="0">
                <a:solidFill>
                  <a:schemeClr val="bg1">
                    <a:lumMod val="50000"/>
                  </a:schemeClr>
                </a:solidFill>
              </a:rPr>
              <a:t>Bigtable</a:t>
            </a:r>
            <a:endParaRPr lang="en-US" altLang="zh-TW" dirty="0" smtClean="0">
              <a:solidFill>
                <a:schemeClr val="bg1">
                  <a:lumMod val="50000"/>
                </a:schemeClr>
              </a:solidFill>
            </a:endParaRPr>
          </a:p>
          <a:p>
            <a:r>
              <a:rPr lang="en-US" altLang="zh-TW" dirty="0" err="1" smtClean="0">
                <a:solidFill>
                  <a:schemeClr val="bg1">
                    <a:lumMod val="50000"/>
                  </a:schemeClr>
                </a:solidFill>
              </a:rPr>
              <a:t>Hadoop</a:t>
            </a:r>
            <a:r>
              <a:rPr lang="en-US" altLang="zh-TW" dirty="0" smtClean="0">
                <a:solidFill>
                  <a:schemeClr val="bg1">
                    <a:lumMod val="50000"/>
                  </a:schemeClr>
                </a:solidFill>
              </a:rPr>
              <a:t> (</a:t>
            </a:r>
            <a:r>
              <a:rPr lang="en-US" altLang="zh-TW" dirty="0" err="1" smtClean="0">
                <a:solidFill>
                  <a:schemeClr val="bg1">
                    <a:lumMod val="50000"/>
                  </a:schemeClr>
                </a:solidFill>
              </a:rPr>
              <a:t>Hbase</a:t>
            </a:r>
            <a:r>
              <a:rPr lang="en-US" altLang="zh-TW" dirty="0" smtClean="0">
                <a:solidFill>
                  <a:schemeClr val="bg1">
                    <a:lumMod val="50000"/>
                  </a:schemeClr>
                </a:solidFill>
              </a:rPr>
              <a:t>)</a:t>
            </a:r>
            <a:endParaRPr lang="zh-TW" altLang="en-US" dirty="0">
              <a:solidFill>
                <a:schemeClr val="bg1">
                  <a:lumMod val="50000"/>
                </a:schemeClr>
              </a:solidFill>
            </a:endParaRPr>
          </a:p>
        </p:txBody>
      </p:sp>
    </p:spTree>
    <p:extLst>
      <p:ext uri="{BB962C8B-B14F-4D97-AF65-F5344CB8AC3E}">
        <p14:creationId xmlns="" xmlns:p14="http://schemas.microsoft.com/office/powerpoint/2010/main" val="42119419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Relational Database(1/4)</a:t>
            </a:r>
            <a:endParaRPr lang="zh-TW" altLang="en-US" dirty="0"/>
          </a:p>
        </p:txBody>
      </p:sp>
      <p:sp>
        <p:nvSpPr>
          <p:cNvPr id="3" name="內容版面配置區 2"/>
          <p:cNvSpPr>
            <a:spLocks noGrp="1"/>
          </p:cNvSpPr>
          <p:nvPr>
            <p:ph idx="1"/>
          </p:nvPr>
        </p:nvSpPr>
        <p:spPr/>
        <p:txBody>
          <a:bodyPr>
            <a:normAutofit/>
          </a:bodyPr>
          <a:lstStyle/>
          <a:p>
            <a:r>
              <a:rPr lang="en-US" altLang="zh-TW" dirty="0" smtClean="0">
                <a:latin typeface="+mj-lt"/>
              </a:rPr>
              <a:t>Essentially a group of tables (entities)</a:t>
            </a:r>
          </a:p>
          <a:p>
            <a:pPr lvl="1"/>
            <a:r>
              <a:rPr lang="en-US" altLang="zh-TW" dirty="0" smtClean="0">
                <a:latin typeface="+mj-lt"/>
              </a:rPr>
              <a:t>Tables are made up of columns and rows (</a:t>
            </a:r>
            <a:r>
              <a:rPr lang="en-US" altLang="zh-TW" dirty="0" err="1" smtClean="0">
                <a:latin typeface="+mj-lt"/>
              </a:rPr>
              <a:t>tuples</a:t>
            </a:r>
            <a:r>
              <a:rPr lang="en-US" altLang="zh-TW" dirty="0" smtClean="0">
                <a:latin typeface="+mj-lt"/>
              </a:rPr>
              <a:t>)</a:t>
            </a:r>
          </a:p>
          <a:p>
            <a:pPr lvl="1">
              <a:spcBef>
                <a:spcPts val="0"/>
              </a:spcBef>
            </a:pPr>
            <a:r>
              <a:rPr lang="en-US" altLang="zh-TW" dirty="0" smtClean="0">
                <a:latin typeface="+mj-lt"/>
              </a:rPr>
              <a:t>Tables have constraints, and relationships defined between them</a:t>
            </a:r>
          </a:p>
          <a:p>
            <a:pPr>
              <a:spcBef>
                <a:spcPts val="0"/>
              </a:spcBef>
            </a:pPr>
            <a:r>
              <a:rPr lang="en-US" altLang="zh-TW" dirty="0" smtClean="0">
                <a:latin typeface="+mj-lt"/>
              </a:rPr>
              <a:t>Facilitated through Relational Database Management Systems (RDBMS)</a:t>
            </a:r>
          </a:p>
          <a:p>
            <a:endParaRPr lang="zh-TW" altLang="en-US" dirty="0">
              <a:latin typeface="+mj-lt"/>
            </a:endParaRPr>
          </a:p>
        </p:txBody>
      </p:sp>
      <p:pic>
        <p:nvPicPr>
          <p:cNvPr id="4" name="Picture 2"/>
          <p:cNvPicPr>
            <a:picLocks noChangeAspect="1" noChangeArrowheads="1"/>
          </p:cNvPicPr>
          <p:nvPr/>
        </p:nvPicPr>
        <p:blipFill>
          <a:blip r:embed="rId3" cstate="print"/>
          <a:srcRect/>
          <a:stretch>
            <a:fillRect/>
          </a:stretch>
        </p:blipFill>
        <p:spPr bwMode="auto">
          <a:xfrm>
            <a:off x="3560719" y="3675500"/>
            <a:ext cx="5419156" cy="2993860"/>
          </a:xfrm>
          <a:prstGeom prst="rect">
            <a:avLst/>
          </a:prstGeom>
          <a:noFill/>
          <a:ln w="9525">
            <a:noFill/>
            <a:miter lim="800000"/>
            <a:headEnd/>
            <a:tailEnd/>
          </a:ln>
        </p:spPr>
      </p:pic>
    </p:spTree>
    <p:extLst>
      <p:ext uri="{BB962C8B-B14F-4D97-AF65-F5344CB8AC3E}">
        <p14:creationId xmlns="" xmlns:p14="http://schemas.microsoft.com/office/powerpoint/2010/main" val="35385595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Relational Database(2/4)</a:t>
            </a:r>
            <a:endParaRPr lang="zh-TW" altLang="en-US" dirty="0"/>
          </a:p>
        </p:txBody>
      </p:sp>
      <p:sp>
        <p:nvSpPr>
          <p:cNvPr id="3" name="內容版面配置區 2"/>
          <p:cNvSpPr>
            <a:spLocks noGrp="1"/>
          </p:cNvSpPr>
          <p:nvPr>
            <p:ph idx="1"/>
          </p:nvPr>
        </p:nvSpPr>
        <p:spPr/>
        <p:txBody>
          <a:bodyPr>
            <a:normAutofit fontScale="92500" lnSpcReduction="20000"/>
          </a:bodyPr>
          <a:lstStyle/>
          <a:p>
            <a:r>
              <a:rPr lang="en-US" altLang="zh-TW" dirty="0" smtClean="0">
                <a:latin typeface="+mj-lt"/>
              </a:rPr>
              <a:t>Multiple tables being accessed in a single query are "joined" together</a:t>
            </a:r>
          </a:p>
          <a:p>
            <a:r>
              <a:rPr lang="en-US" altLang="zh-TW" dirty="0" smtClean="0">
                <a:latin typeface="+mj-lt"/>
              </a:rPr>
              <a:t>Normalization is a data-structuring model used with relational databases</a:t>
            </a:r>
          </a:p>
          <a:p>
            <a:pPr lvl="1"/>
            <a:r>
              <a:rPr lang="en-US" altLang="zh-TW" dirty="0" smtClean="0">
                <a:latin typeface="+mj-lt"/>
              </a:rPr>
              <a:t>Ensures data consistency</a:t>
            </a:r>
          </a:p>
          <a:p>
            <a:pPr lvl="1"/>
            <a:r>
              <a:rPr lang="en-US" altLang="zh-TW" dirty="0" smtClean="0">
                <a:latin typeface="+mj-lt"/>
              </a:rPr>
              <a:t>Removes data duplication</a:t>
            </a:r>
          </a:p>
          <a:p>
            <a:r>
              <a:rPr lang="en-US" altLang="zh-TW" dirty="0" smtClean="0">
                <a:latin typeface="+mj-lt"/>
              </a:rPr>
              <a:t>Almost all database systems we use today are RDBMS</a:t>
            </a:r>
          </a:p>
          <a:p>
            <a:pPr lvl="1"/>
            <a:r>
              <a:rPr lang="en-US" altLang="zh-TW" dirty="0" smtClean="0">
                <a:latin typeface="+mj-lt"/>
              </a:rPr>
              <a:t>Oracle</a:t>
            </a:r>
          </a:p>
          <a:p>
            <a:pPr lvl="1"/>
            <a:r>
              <a:rPr lang="en-US" altLang="zh-TW" dirty="0" smtClean="0">
                <a:latin typeface="+mj-lt"/>
              </a:rPr>
              <a:t>SQL Server</a:t>
            </a:r>
          </a:p>
          <a:p>
            <a:pPr lvl="1"/>
            <a:r>
              <a:rPr lang="en-US" altLang="zh-TW" dirty="0" err="1" smtClean="0">
                <a:latin typeface="+mj-lt"/>
              </a:rPr>
              <a:t>MySQL</a:t>
            </a:r>
            <a:endParaRPr lang="en-US" altLang="zh-TW" dirty="0" smtClean="0">
              <a:latin typeface="+mj-lt"/>
            </a:endParaRPr>
          </a:p>
          <a:p>
            <a:pPr lvl="1"/>
            <a:r>
              <a:rPr lang="en-US" altLang="zh-TW" dirty="0" smtClean="0">
                <a:latin typeface="+mj-lt"/>
              </a:rPr>
              <a:t>DB2</a:t>
            </a:r>
          </a:p>
          <a:p>
            <a:pPr lvl="1"/>
            <a:r>
              <a:rPr lang="en-US" altLang="zh-TW" dirty="0" smtClean="0">
                <a:latin typeface="+mj-lt"/>
              </a:rPr>
              <a:t>…</a:t>
            </a:r>
            <a:endParaRPr lang="zh-TW" altLang="en-US" dirty="0">
              <a:latin typeface="+mj-lt"/>
            </a:endParaRPr>
          </a:p>
        </p:txBody>
      </p:sp>
    </p:spTree>
    <p:extLst>
      <p:ext uri="{BB962C8B-B14F-4D97-AF65-F5344CB8AC3E}">
        <p14:creationId xmlns="" xmlns:p14="http://schemas.microsoft.com/office/powerpoint/2010/main" val="9438378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Relational Database(3/4)</a:t>
            </a:r>
            <a:endParaRPr lang="zh-TW" altLang="en-US" dirty="0"/>
          </a:p>
        </p:txBody>
      </p:sp>
      <p:sp>
        <p:nvSpPr>
          <p:cNvPr id="3" name="內容版面配置區 2"/>
          <p:cNvSpPr>
            <a:spLocks noGrp="1"/>
          </p:cNvSpPr>
          <p:nvPr>
            <p:ph idx="1"/>
          </p:nvPr>
        </p:nvSpPr>
        <p:spPr/>
        <p:txBody>
          <a:bodyPr/>
          <a:lstStyle/>
          <a:p>
            <a:r>
              <a:rPr lang="en-US" altLang="zh-TW" dirty="0" smtClean="0">
                <a:latin typeface="+mj-lt"/>
              </a:rPr>
              <a:t>Advantages</a:t>
            </a:r>
          </a:p>
          <a:p>
            <a:pPr lvl="1"/>
            <a:r>
              <a:rPr lang="en-US" altLang="zh-TW" dirty="0" smtClean="0">
                <a:latin typeface="+mj-lt"/>
              </a:rPr>
              <a:t>Simplicity</a:t>
            </a:r>
          </a:p>
          <a:p>
            <a:pPr lvl="1"/>
            <a:r>
              <a:rPr lang="en-US" altLang="zh-TW" dirty="0" smtClean="0">
                <a:latin typeface="+mj-lt"/>
              </a:rPr>
              <a:t>Robustness</a:t>
            </a:r>
          </a:p>
          <a:p>
            <a:pPr lvl="1"/>
            <a:r>
              <a:rPr lang="en-US" altLang="zh-TW" dirty="0" smtClean="0">
                <a:latin typeface="+mj-lt"/>
              </a:rPr>
              <a:t>Flexibility</a:t>
            </a:r>
          </a:p>
          <a:p>
            <a:pPr lvl="1"/>
            <a:r>
              <a:rPr lang="en-US" altLang="zh-TW" dirty="0" smtClean="0">
                <a:latin typeface="+mj-lt"/>
              </a:rPr>
              <a:t>Performance</a:t>
            </a:r>
          </a:p>
          <a:p>
            <a:pPr lvl="1"/>
            <a:r>
              <a:rPr lang="en-US" altLang="zh-TW" dirty="0" smtClean="0">
                <a:latin typeface="+mj-lt"/>
              </a:rPr>
              <a:t>Scalability</a:t>
            </a:r>
          </a:p>
          <a:p>
            <a:pPr lvl="1"/>
            <a:r>
              <a:rPr lang="en-US" altLang="zh-TW" dirty="0" smtClean="0">
                <a:latin typeface="+mj-lt"/>
              </a:rPr>
              <a:t>Compatibility in managing generic data</a:t>
            </a:r>
          </a:p>
          <a:p>
            <a:r>
              <a:rPr lang="en-US" altLang="zh-TW" dirty="0" smtClean="0">
                <a:latin typeface="+mj-lt"/>
              </a:rPr>
              <a:t>However,</a:t>
            </a:r>
          </a:p>
          <a:p>
            <a:pPr lvl="1"/>
            <a:r>
              <a:rPr lang="en-US" altLang="zh-TW" dirty="0" smtClean="0">
                <a:latin typeface="+mj-lt"/>
              </a:rPr>
              <a:t>To offer all of these, relational databases have to be incredibly complex internally</a:t>
            </a:r>
          </a:p>
          <a:p>
            <a:pPr lvl="1"/>
            <a:endParaRPr lang="zh-TW" altLang="en-US" dirty="0">
              <a:latin typeface="+mj-lt"/>
            </a:endParaRPr>
          </a:p>
        </p:txBody>
      </p:sp>
    </p:spTree>
    <p:extLst>
      <p:ext uri="{BB962C8B-B14F-4D97-AF65-F5344CB8AC3E}">
        <p14:creationId xmlns="" xmlns:p14="http://schemas.microsoft.com/office/powerpoint/2010/main" val="384230785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Relational Database(4/4)</a:t>
            </a:r>
            <a:endParaRPr lang="zh-TW" altLang="en-US" dirty="0"/>
          </a:p>
        </p:txBody>
      </p:sp>
      <p:sp>
        <p:nvSpPr>
          <p:cNvPr id="3" name="內容版面配置區 2"/>
          <p:cNvSpPr>
            <a:spLocks noGrp="1"/>
          </p:cNvSpPr>
          <p:nvPr>
            <p:ph idx="1"/>
          </p:nvPr>
        </p:nvSpPr>
        <p:spPr/>
        <p:txBody>
          <a:bodyPr/>
          <a:lstStyle/>
          <a:p>
            <a:r>
              <a:rPr lang="en-US" altLang="zh-TW" dirty="0" smtClean="0">
                <a:latin typeface="+mj-lt"/>
              </a:rPr>
              <a:t>It’s a problem in a different situation but not disadvantage</a:t>
            </a:r>
          </a:p>
          <a:p>
            <a:pPr lvl="1"/>
            <a:r>
              <a:rPr lang="en-US" altLang="zh-TW" dirty="0" smtClean="0">
                <a:latin typeface="+mj-lt"/>
              </a:rPr>
              <a:t>A large-scale Internet application services</a:t>
            </a:r>
          </a:p>
          <a:p>
            <a:pPr lvl="2"/>
            <a:r>
              <a:rPr lang="en-US" altLang="zh-TW" dirty="0" smtClean="0">
                <a:latin typeface="+mj-lt"/>
              </a:rPr>
              <a:t>Their scalability requirements can, first of all, change very quickly and, secondly, grow very large.</a:t>
            </a:r>
          </a:p>
          <a:p>
            <a:pPr lvl="2"/>
            <a:r>
              <a:rPr lang="en-US" altLang="zh-TW" dirty="0" smtClean="0">
                <a:latin typeface="+mj-lt"/>
              </a:rPr>
              <a:t>Relational databases scale well, but usually only when that scaling happens on a single server node.</a:t>
            </a:r>
          </a:p>
          <a:p>
            <a:pPr lvl="2"/>
            <a:r>
              <a:rPr lang="en-US" altLang="zh-TW" dirty="0" smtClean="0">
                <a:latin typeface="+mj-lt"/>
              </a:rPr>
              <a:t>This is when the complexity of relational databases starts to rub against their potential to scale.</a:t>
            </a:r>
          </a:p>
          <a:p>
            <a:pPr lvl="1"/>
            <a:r>
              <a:rPr lang="en-US" altLang="zh-TW" dirty="0" smtClean="0">
                <a:latin typeface="+mj-lt"/>
              </a:rPr>
              <a:t>Cloud services to be viable</a:t>
            </a:r>
          </a:p>
          <a:p>
            <a:pPr lvl="2"/>
            <a:r>
              <a:rPr lang="en-US" altLang="zh-TW" dirty="0" smtClean="0">
                <a:latin typeface="+mj-lt"/>
              </a:rPr>
              <a:t>A cloud platform without a scalable data store is not much of a platform at all</a:t>
            </a:r>
          </a:p>
          <a:p>
            <a:pPr lvl="1"/>
            <a:endParaRPr lang="zh-TW" altLang="en-US" dirty="0">
              <a:latin typeface="+mj-lt"/>
            </a:endParaRPr>
          </a:p>
        </p:txBody>
      </p:sp>
    </p:spTree>
    <p:extLst>
      <p:ext uri="{BB962C8B-B14F-4D97-AF65-F5344CB8AC3E}">
        <p14:creationId xmlns="" xmlns:p14="http://schemas.microsoft.com/office/powerpoint/2010/main" val="11970167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Storage System for Structured Data</a:t>
            </a:r>
            <a:endParaRPr lang="zh-TW" altLang="en-US" dirty="0"/>
          </a:p>
        </p:txBody>
      </p:sp>
      <p:sp>
        <p:nvSpPr>
          <p:cNvPr id="5" name="文字版面配置區 4"/>
          <p:cNvSpPr>
            <a:spLocks noGrp="1"/>
          </p:cNvSpPr>
          <p:nvPr>
            <p:ph type="body" idx="1"/>
          </p:nvPr>
        </p:nvSpPr>
        <p:spPr/>
        <p:txBody>
          <a:bodyPr>
            <a:normAutofit fontScale="92500" lnSpcReduction="20000"/>
          </a:bodyPr>
          <a:lstStyle/>
          <a:p>
            <a:r>
              <a:rPr lang="en-US" altLang="zh-TW" smtClean="0">
                <a:solidFill>
                  <a:schemeClr val="bg1">
                    <a:lumMod val="50000"/>
                  </a:schemeClr>
                </a:solidFill>
              </a:rPr>
              <a:t>Database Overview</a:t>
            </a:r>
          </a:p>
          <a:p>
            <a:r>
              <a:rPr lang="en-US" altLang="zh-TW" smtClean="0">
                <a:solidFill>
                  <a:schemeClr val="bg1">
                    <a:lumMod val="50000"/>
                  </a:schemeClr>
                </a:solidFill>
              </a:rPr>
              <a:t>Relational </a:t>
            </a:r>
            <a:r>
              <a:rPr lang="en-US" altLang="zh-TW" dirty="0">
                <a:solidFill>
                  <a:schemeClr val="bg1">
                    <a:lumMod val="50000"/>
                  </a:schemeClr>
                </a:solidFill>
              </a:rPr>
              <a:t>Database (SQL)</a:t>
            </a:r>
          </a:p>
          <a:p>
            <a:r>
              <a:rPr lang="en-US" altLang="zh-TW" dirty="0"/>
              <a:t>Non-relational Database </a:t>
            </a:r>
            <a:r>
              <a:rPr lang="en-US" altLang="zh-TW" dirty="0" smtClean="0"/>
              <a:t>Introduction (NOSQL/</a:t>
            </a:r>
            <a:r>
              <a:rPr lang="en-US" altLang="zh-TW" dirty="0" err="1" smtClean="0"/>
              <a:t>NoREL</a:t>
            </a:r>
            <a:r>
              <a:rPr lang="en-US" altLang="zh-TW" dirty="0" smtClean="0"/>
              <a:t>)</a:t>
            </a:r>
          </a:p>
          <a:p>
            <a:r>
              <a:rPr lang="en-US" altLang="zh-TW" dirty="0">
                <a:solidFill>
                  <a:schemeClr val="bg1">
                    <a:lumMod val="50000"/>
                  </a:schemeClr>
                </a:solidFill>
              </a:rPr>
              <a:t>Google </a:t>
            </a:r>
            <a:r>
              <a:rPr lang="en-US" altLang="zh-TW" dirty="0" err="1" smtClean="0">
                <a:solidFill>
                  <a:schemeClr val="bg1">
                    <a:lumMod val="50000"/>
                  </a:schemeClr>
                </a:solidFill>
              </a:rPr>
              <a:t>Bigtable</a:t>
            </a:r>
            <a:endParaRPr lang="en-US" altLang="zh-TW" dirty="0"/>
          </a:p>
          <a:p>
            <a:r>
              <a:rPr lang="en-US" altLang="zh-TW" dirty="0" err="1" smtClean="0">
                <a:solidFill>
                  <a:schemeClr val="bg1">
                    <a:lumMod val="50000"/>
                  </a:schemeClr>
                </a:solidFill>
              </a:rPr>
              <a:t>Hadoop</a:t>
            </a:r>
            <a:r>
              <a:rPr lang="en-US" altLang="zh-TW" dirty="0" smtClean="0">
                <a:solidFill>
                  <a:schemeClr val="bg1">
                    <a:lumMod val="50000"/>
                  </a:schemeClr>
                </a:solidFill>
              </a:rPr>
              <a:t> (</a:t>
            </a:r>
            <a:r>
              <a:rPr lang="en-US" altLang="zh-TW" dirty="0" err="1" smtClean="0">
                <a:solidFill>
                  <a:schemeClr val="bg1">
                    <a:lumMod val="50000"/>
                  </a:schemeClr>
                </a:solidFill>
              </a:rPr>
              <a:t>Hbase</a:t>
            </a:r>
            <a:r>
              <a:rPr lang="en-US" altLang="zh-TW" dirty="0" smtClean="0">
                <a:solidFill>
                  <a:schemeClr val="bg1">
                    <a:lumMod val="50000"/>
                  </a:schemeClr>
                </a:solidFill>
              </a:rPr>
              <a:t>)</a:t>
            </a:r>
            <a:endParaRPr lang="zh-TW" altLang="en-US" dirty="0">
              <a:solidFill>
                <a:schemeClr val="bg1">
                  <a:lumMod val="50000"/>
                </a:schemeClr>
              </a:solidFill>
            </a:endParaRPr>
          </a:p>
        </p:txBody>
      </p:sp>
    </p:spTree>
    <p:extLst>
      <p:ext uri="{BB962C8B-B14F-4D97-AF65-F5344CB8AC3E}">
        <p14:creationId xmlns="" xmlns:p14="http://schemas.microsoft.com/office/powerpoint/2010/main" val="180718182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Non-relational Database Introduction</a:t>
            </a:r>
            <a:endParaRPr lang="zh-TW" altLang="en-US" dirty="0"/>
          </a:p>
        </p:txBody>
      </p:sp>
      <p:sp>
        <p:nvSpPr>
          <p:cNvPr id="3" name="文字版面配置區 2"/>
          <p:cNvSpPr>
            <a:spLocks noGrp="1"/>
          </p:cNvSpPr>
          <p:nvPr>
            <p:ph type="body" idx="1"/>
          </p:nvPr>
        </p:nvSpPr>
        <p:spPr/>
        <p:txBody>
          <a:bodyPr/>
          <a:lstStyle/>
          <a:p>
            <a:r>
              <a:rPr lang="en-US" altLang="zh-TW" dirty="0" smtClean="0"/>
              <a:t>NOSQL Overview</a:t>
            </a:r>
          </a:p>
          <a:p>
            <a:r>
              <a:rPr lang="en-US" altLang="zh-TW" dirty="0" smtClean="0">
                <a:solidFill>
                  <a:schemeClr val="bg1">
                    <a:lumMod val="50000"/>
                  </a:schemeClr>
                </a:solidFill>
              </a:rPr>
              <a:t>Related Theorem</a:t>
            </a:r>
          </a:p>
          <a:p>
            <a:r>
              <a:rPr lang="en-US" altLang="zh-TW" dirty="0" smtClean="0">
                <a:solidFill>
                  <a:schemeClr val="bg1">
                    <a:lumMod val="50000"/>
                  </a:schemeClr>
                </a:solidFill>
              </a:rPr>
              <a:t>Distributed Database System</a:t>
            </a:r>
          </a:p>
        </p:txBody>
      </p:sp>
    </p:spTree>
    <p:extLst>
      <p:ext uri="{BB962C8B-B14F-4D97-AF65-F5344CB8AC3E}">
        <p14:creationId xmlns="" xmlns:p14="http://schemas.microsoft.com/office/powerpoint/2010/main" val="12955640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What is NOSQL</a:t>
            </a:r>
            <a:endParaRPr lang="zh-TW" altLang="en-US" dirty="0"/>
          </a:p>
        </p:txBody>
      </p:sp>
      <p:sp>
        <p:nvSpPr>
          <p:cNvPr id="3" name="內容版面配置區 2"/>
          <p:cNvSpPr>
            <a:spLocks noGrp="1"/>
          </p:cNvSpPr>
          <p:nvPr>
            <p:ph idx="1"/>
          </p:nvPr>
        </p:nvSpPr>
        <p:spPr>
          <a:xfrm>
            <a:off x="457200" y="1600200"/>
            <a:ext cx="8229600" cy="5257800"/>
          </a:xfrm>
        </p:spPr>
        <p:txBody>
          <a:bodyPr>
            <a:normAutofit lnSpcReduction="10000"/>
          </a:bodyPr>
          <a:lstStyle/>
          <a:p>
            <a:r>
              <a:rPr lang="en-US" altLang="zh-TW" dirty="0" smtClean="0">
                <a:solidFill>
                  <a:srgbClr val="FF0000"/>
                </a:solidFill>
                <a:latin typeface="+mj-lt"/>
              </a:rPr>
              <a:t>N</a:t>
            </a:r>
            <a:r>
              <a:rPr lang="en-US" altLang="zh-TW" dirty="0" smtClean="0">
                <a:latin typeface="+mj-lt"/>
              </a:rPr>
              <a:t>ot </a:t>
            </a:r>
            <a:r>
              <a:rPr lang="en-US" altLang="zh-TW" dirty="0" smtClean="0">
                <a:solidFill>
                  <a:srgbClr val="FF0000"/>
                </a:solidFill>
                <a:latin typeface="+mj-lt"/>
              </a:rPr>
              <a:t>O</a:t>
            </a:r>
            <a:r>
              <a:rPr lang="en-US" altLang="zh-TW" dirty="0" smtClean="0">
                <a:latin typeface="+mj-lt"/>
              </a:rPr>
              <a:t>nly </a:t>
            </a:r>
            <a:r>
              <a:rPr lang="en-US" altLang="zh-TW" dirty="0" smtClean="0">
                <a:solidFill>
                  <a:srgbClr val="FF0000"/>
                </a:solidFill>
                <a:latin typeface="+mj-lt"/>
              </a:rPr>
              <a:t>SQL</a:t>
            </a:r>
          </a:p>
          <a:p>
            <a:pPr lvl="1"/>
            <a:r>
              <a:rPr lang="en-US" altLang="zh-TW" dirty="0" smtClean="0">
                <a:latin typeface="+mj-lt"/>
              </a:rPr>
              <a:t>A </a:t>
            </a:r>
            <a:r>
              <a:rPr lang="en-US" altLang="zh-TW" dirty="0">
                <a:latin typeface="+mj-lt"/>
              </a:rPr>
              <a:t>term used to designate database management </a:t>
            </a:r>
            <a:r>
              <a:rPr lang="en-US" altLang="zh-TW" dirty="0" smtClean="0">
                <a:latin typeface="+mj-lt"/>
              </a:rPr>
              <a:t>systems</a:t>
            </a:r>
          </a:p>
          <a:p>
            <a:pPr lvl="1"/>
            <a:r>
              <a:rPr lang="en-US" altLang="zh-TW" dirty="0" smtClean="0">
                <a:latin typeface="+mj-lt"/>
              </a:rPr>
              <a:t>Differ </a:t>
            </a:r>
            <a:r>
              <a:rPr lang="en-US" altLang="zh-TW" dirty="0">
                <a:latin typeface="+mj-lt"/>
              </a:rPr>
              <a:t>from classic relational database management </a:t>
            </a:r>
            <a:r>
              <a:rPr lang="en-US" altLang="zh-TW" dirty="0" smtClean="0">
                <a:latin typeface="+mj-lt"/>
              </a:rPr>
              <a:t>systems</a:t>
            </a:r>
          </a:p>
          <a:p>
            <a:pPr lvl="1"/>
            <a:r>
              <a:rPr lang="en-US" altLang="zh-TW" dirty="0" smtClean="0">
                <a:latin typeface="+mj-lt"/>
              </a:rPr>
              <a:t>The </a:t>
            </a:r>
            <a:r>
              <a:rPr lang="en-US" altLang="zh-TW" dirty="0">
                <a:latin typeface="+mj-lt"/>
              </a:rPr>
              <a:t>most common interpretation of "</a:t>
            </a:r>
            <a:r>
              <a:rPr lang="en-US" altLang="zh-TW" dirty="0" err="1">
                <a:latin typeface="+mj-lt"/>
              </a:rPr>
              <a:t>NoSQL</a:t>
            </a:r>
            <a:r>
              <a:rPr lang="en-US" altLang="zh-TW" dirty="0">
                <a:latin typeface="+mj-lt"/>
              </a:rPr>
              <a:t>" is </a:t>
            </a:r>
            <a:r>
              <a:rPr lang="en-US" altLang="zh-TW" dirty="0" smtClean="0">
                <a:latin typeface="+mj-lt"/>
              </a:rPr>
              <a:t>“Non-relational“ (</a:t>
            </a:r>
            <a:r>
              <a:rPr lang="en-US" altLang="zh-TW" dirty="0" err="1" smtClean="0">
                <a:latin typeface="+mj-lt"/>
              </a:rPr>
              <a:t>NoREL</a:t>
            </a:r>
            <a:r>
              <a:rPr lang="en-US" altLang="zh-TW" dirty="0">
                <a:latin typeface="+mj-lt"/>
              </a:rPr>
              <a:t>, not widely used)</a:t>
            </a:r>
            <a:endParaRPr lang="en-US" altLang="zh-TW" dirty="0" smtClean="0">
              <a:latin typeface="+mj-lt"/>
            </a:endParaRPr>
          </a:p>
          <a:p>
            <a:r>
              <a:rPr lang="en-US" altLang="zh-TW" dirty="0" smtClean="0">
                <a:latin typeface="+mj-lt"/>
              </a:rPr>
              <a:t>Some NOSQL examples</a:t>
            </a:r>
          </a:p>
          <a:p>
            <a:pPr lvl="1"/>
            <a:r>
              <a:rPr lang="en-US" altLang="zh-TW" dirty="0" smtClean="0">
                <a:latin typeface="+mj-lt"/>
              </a:rPr>
              <a:t>Google </a:t>
            </a:r>
            <a:r>
              <a:rPr lang="en-US" altLang="zh-TW" dirty="0" err="1" smtClean="0">
                <a:latin typeface="+mj-lt"/>
              </a:rPr>
              <a:t>Bigtable</a:t>
            </a:r>
            <a:endParaRPr lang="en-US" altLang="zh-TW" dirty="0">
              <a:latin typeface="+mj-lt"/>
            </a:endParaRPr>
          </a:p>
          <a:p>
            <a:pPr lvl="2"/>
            <a:r>
              <a:rPr lang="en-US" altLang="zh-TW" dirty="0" smtClean="0">
                <a:latin typeface="+mj-lt"/>
              </a:rPr>
              <a:t>Open Source - Apache </a:t>
            </a:r>
            <a:r>
              <a:rPr lang="en-US" altLang="zh-TW" dirty="0" err="1" smtClean="0">
                <a:latin typeface="+mj-lt"/>
              </a:rPr>
              <a:t>Hbase</a:t>
            </a:r>
            <a:endParaRPr lang="en-US" altLang="zh-TW" dirty="0" smtClean="0">
              <a:latin typeface="+mj-lt"/>
            </a:endParaRPr>
          </a:p>
          <a:p>
            <a:pPr lvl="1"/>
            <a:r>
              <a:rPr lang="en-US" altLang="zh-TW" dirty="0" smtClean="0">
                <a:latin typeface="+mj-lt"/>
              </a:rPr>
              <a:t>Amazon Dynamo</a:t>
            </a:r>
          </a:p>
          <a:p>
            <a:pPr lvl="1"/>
            <a:r>
              <a:rPr lang="en-US" altLang="zh-TW" dirty="0">
                <a:latin typeface="+mj-lt"/>
              </a:rPr>
              <a:t>Apache </a:t>
            </a:r>
            <a:r>
              <a:rPr lang="en-US" altLang="zh-TW" dirty="0" smtClean="0">
                <a:latin typeface="+mj-lt"/>
              </a:rPr>
              <a:t>Cassandra</a:t>
            </a:r>
          </a:p>
          <a:p>
            <a:r>
              <a:rPr lang="en-US" altLang="zh-TW" dirty="0" smtClean="0">
                <a:latin typeface="+mj-lt"/>
              </a:rPr>
              <a:t>Emphasizes </a:t>
            </a:r>
            <a:r>
              <a:rPr lang="en-US" altLang="zh-TW" dirty="0">
                <a:latin typeface="+mj-lt"/>
              </a:rPr>
              <a:t>the advantages of </a:t>
            </a:r>
            <a:r>
              <a:rPr lang="en-US" altLang="zh-TW" dirty="0" smtClean="0">
                <a:latin typeface="+mj-lt"/>
              </a:rPr>
              <a:t>Key/Value </a:t>
            </a:r>
            <a:r>
              <a:rPr lang="en-US" altLang="zh-TW" dirty="0">
                <a:latin typeface="+mj-lt"/>
              </a:rPr>
              <a:t>Stores, Document Databases, and Graph </a:t>
            </a:r>
            <a:r>
              <a:rPr lang="en-US" altLang="zh-TW" dirty="0" smtClean="0">
                <a:latin typeface="+mj-lt"/>
              </a:rPr>
              <a:t>Databases</a:t>
            </a:r>
          </a:p>
        </p:txBody>
      </p:sp>
    </p:spTree>
    <p:extLst>
      <p:ext uri="{BB962C8B-B14F-4D97-AF65-F5344CB8AC3E}">
        <p14:creationId xmlns="" xmlns:p14="http://schemas.microsoft.com/office/powerpoint/2010/main" val="1301931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Key/Value Database(1/4)</a:t>
            </a:r>
            <a:endParaRPr lang="zh-TW" altLang="en-US" dirty="0"/>
          </a:p>
        </p:txBody>
      </p:sp>
      <p:sp>
        <p:nvSpPr>
          <p:cNvPr id="3" name="內容版面配置區 2"/>
          <p:cNvSpPr>
            <a:spLocks noGrp="1"/>
          </p:cNvSpPr>
          <p:nvPr>
            <p:ph idx="1"/>
          </p:nvPr>
        </p:nvSpPr>
        <p:spPr/>
        <p:txBody>
          <a:bodyPr>
            <a:normAutofit/>
          </a:bodyPr>
          <a:lstStyle/>
          <a:p>
            <a:r>
              <a:rPr lang="en-US" altLang="zh-TW" dirty="0" smtClean="0">
                <a:latin typeface="+mj-lt"/>
              </a:rPr>
              <a:t>No official name yet exists, so you may see it referred to</a:t>
            </a:r>
          </a:p>
          <a:p>
            <a:pPr lvl="1"/>
            <a:r>
              <a:rPr lang="en-US" altLang="zh-TW" dirty="0" smtClean="0">
                <a:latin typeface="+mj-lt"/>
              </a:rPr>
              <a:t>Document-oriented</a:t>
            </a:r>
          </a:p>
          <a:p>
            <a:pPr lvl="1"/>
            <a:r>
              <a:rPr lang="en-US" altLang="zh-TW" dirty="0" smtClean="0">
                <a:latin typeface="+mj-lt"/>
              </a:rPr>
              <a:t>Internet-facing</a:t>
            </a:r>
          </a:p>
          <a:p>
            <a:pPr lvl="1"/>
            <a:r>
              <a:rPr lang="en-US" altLang="zh-TW" dirty="0" smtClean="0">
                <a:latin typeface="+mj-lt"/>
              </a:rPr>
              <a:t>Attribute-oriented</a:t>
            </a:r>
          </a:p>
          <a:p>
            <a:pPr lvl="1"/>
            <a:r>
              <a:rPr lang="en-US" altLang="zh-TW" dirty="0" smtClean="0">
                <a:latin typeface="+mj-lt"/>
              </a:rPr>
              <a:t>Distributed database (this can be relational also)</a:t>
            </a:r>
          </a:p>
          <a:p>
            <a:pPr lvl="1"/>
            <a:r>
              <a:rPr lang="en-US" altLang="zh-TW" dirty="0" err="1" smtClean="0">
                <a:latin typeface="+mj-lt"/>
              </a:rPr>
              <a:t>Sharded</a:t>
            </a:r>
            <a:r>
              <a:rPr lang="en-US" altLang="zh-TW" dirty="0" smtClean="0">
                <a:latin typeface="+mj-lt"/>
              </a:rPr>
              <a:t> sorted arrays</a:t>
            </a:r>
          </a:p>
          <a:p>
            <a:pPr lvl="1"/>
            <a:r>
              <a:rPr lang="en-US" altLang="zh-TW" dirty="0" smtClean="0">
                <a:latin typeface="+mj-lt"/>
              </a:rPr>
              <a:t>Distributed hash table</a:t>
            </a:r>
          </a:p>
          <a:p>
            <a:pPr lvl="1"/>
            <a:r>
              <a:rPr lang="en-US" altLang="zh-TW" dirty="0" smtClean="0">
                <a:latin typeface="+mj-lt"/>
              </a:rPr>
              <a:t>Key/value database(</a:t>
            </a:r>
            <a:r>
              <a:rPr lang="en-US" altLang="zh-TW" dirty="0" err="1" smtClean="0">
                <a:latin typeface="+mj-lt"/>
              </a:rPr>
              <a:t>datastore</a:t>
            </a:r>
            <a:r>
              <a:rPr lang="en-US" altLang="zh-TW" dirty="0" smtClean="0">
                <a:latin typeface="+mj-lt"/>
              </a:rPr>
              <a:t>)</a:t>
            </a:r>
          </a:p>
        </p:txBody>
      </p:sp>
    </p:spTree>
    <p:extLst>
      <p:ext uri="{BB962C8B-B14F-4D97-AF65-F5344CB8AC3E}">
        <p14:creationId xmlns="" xmlns:p14="http://schemas.microsoft.com/office/powerpoint/2010/main" val="46837583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Key/Value Database(2/4)</a:t>
            </a:r>
            <a:endParaRPr lang="zh-TW" altLang="en-US" dirty="0"/>
          </a:p>
        </p:txBody>
      </p:sp>
      <p:sp>
        <p:nvSpPr>
          <p:cNvPr id="3" name="內容版面配置區 2"/>
          <p:cNvSpPr>
            <a:spLocks noGrp="1"/>
          </p:cNvSpPr>
          <p:nvPr>
            <p:ph idx="1"/>
          </p:nvPr>
        </p:nvSpPr>
        <p:spPr>
          <a:xfrm>
            <a:off x="457200" y="1600201"/>
            <a:ext cx="8229600" cy="4565103"/>
          </a:xfrm>
        </p:spPr>
        <p:txBody>
          <a:bodyPr>
            <a:normAutofit/>
          </a:bodyPr>
          <a:lstStyle/>
          <a:p>
            <a:r>
              <a:rPr lang="en-US" altLang="zh-TW" dirty="0" smtClean="0">
                <a:latin typeface="+mj-lt"/>
              </a:rPr>
              <a:t>No Entity Joins</a:t>
            </a:r>
          </a:p>
          <a:p>
            <a:pPr lvl="1"/>
            <a:r>
              <a:rPr lang="en-US" altLang="zh-TW" dirty="0" smtClean="0">
                <a:latin typeface="+mj-lt"/>
              </a:rPr>
              <a:t>Key/value databases are item-oriented</a:t>
            </a:r>
          </a:p>
          <a:p>
            <a:pPr lvl="1"/>
            <a:r>
              <a:rPr lang="en-US" altLang="zh-TW" dirty="0" smtClean="0">
                <a:latin typeface="+mj-lt"/>
              </a:rPr>
              <a:t>All relevant data relating to an item are stored within that item</a:t>
            </a:r>
          </a:p>
          <a:p>
            <a:pPr lvl="1"/>
            <a:r>
              <a:rPr lang="en-US" altLang="zh-TW" dirty="0" smtClean="0">
                <a:latin typeface="+mj-lt"/>
              </a:rPr>
              <a:t>A domain (a table) can contain vastly different items</a:t>
            </a:r>
          </a:p>
          <a:p>
            <a:pPr lvl="1"/>
            <a:r>
              <a:rPr lang="en-US" altLang="zh-TW" dirty="0" smtClean="0">
                <a:latin typeface="+mj-lt"/>
              </a:rPr>
              <a:t>This model allows a single item to contain all relevant data</a:t>
            </a:r>
          </a:p>
          <a:p>
            <a:pPr lvl="2"/>
            <a:r>
              <a:rPr lang="en-US" altLang="zh-TW" dirty="0" smtClean="0">
                <a:latin typeface="+mj-lt"/>
              </a:rPr>
              <a:t>Improves scalability by eliminating the need to join data from multiple tables</a:t>
            </a:r>
          </a:p>
          <a:p>
            <a:pPr lvl="2"/>
            <a:r>
              <a:rPr lang="en-US" altLang="zh-TW" dirty="0" smtClean="0">
                <a:latin typeface="+mj-lt"/>
              </a:rPr>
              <a:t>With a relational database, such data needs to be joined to be able to regroup relevant attributes.</a:t>
            </a:r>
          </a:p>
          <a:p>
            <a:pPr lvl="1"/>
            <a:endParaRPr lang="en-US" altLang="zh-TW" dirty="0" smtClean="0">
              <a:latin typeface="+mj-lt"/>
            </a:endParaRPr>
          </a:p>
        </p:txBody>
      </p:sp>
    </p:spTree>
    <p:extLst>
      <p:ext uri="{BB962C8B-B14F-4D97-AF65-F5344CB8AC3E}">
        <p14:creationId xmlns="" xmlns:p14="http://schemas.microsoft.com/office/powerpoint/2010/main" val="22088507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Key/Value Database(3/4)</a:t>
            </a:r>
            <a:endParaRPr lang="zh-TW" altLang="en-US" dirty="0"/>
          </a:p>
        </p:txBody>
      </p:sp>
      <p:sp>
        <p:nvSpPr>
          <p:cNvPr id="3" name="內容版面配置區 2"/>
          <p:cNvSpPr>
            <a:spLocks noGrp="1"/>
          </p:cNvSpPr>
          <p:nvPr>
            <p:ph idx="1"/>
          </p:nvPr>
        </p:nvSpPr>
        <p:spPr/>
        <p:txBody>
          <a:bodyPr>
            <a:normAutofit/>
          </a:bodyPr>
          <a:lstStyle/>
          <a:p>
            <a:r>
              <a:rPr lang="en-US" altLang="zh-TW" dirty="0" smtClean="0">
                <a:latin typeface="+mj-lt"/>
              </a:rPr>
              <a:t>Advantages of key/value DBs to relational DBs</a:t>
            </a:r>
          </a:p>
          <a:p>
            <a:pPr lvl="1"/>
            <a:r>
              <a:rPr lang="en-US" altLang="zh-TW" dirty="0" smtClean="0">
                <a:latin typeface="+mj-lt"/>
              </a:rPr>
              <a:t>Suitability for Clouds</a:t>
            </a:r>
          </a:p>
          <a:p>
            <a:pPr lvl="2"/>
            <a:r>
              <a:rPr lang="en-US" altLang="zh-TW" dirty="0" smtClean="0">
                <a:latin typeface="+mj-lt"/>
              </a:rPr>
              <a:t>Key/Value DBs are simple and thus scale much better than relational databases</a:t>
            </a:r>
          </a:p>
          <a:p>
            <a:pPr lvl="2"/>
            <a:r>
              <a:rPr lang="en-US" altLang="zh-TW" dirty="0" smtClean="0">
                <a:latin typeface="+mj-lt"/>
              </a:rPr>
              <a:t>Provides a relatively cheap data store platform with massive potential to scale</a:t>
            </a:r>
            <a:endParaRPr lang="en-US" altLang="zh-TW" b="1" dirty="0" smtClean="0">
              <a:latin typeface="+mj-lt"/>
            </a:endParaRPr>
          </a:p>
          <a:p>
            <a:pPr lvl="1"/>
            <a:r>
              <a:rPr lang="en-US" altLang="zh-TW" dirty="0" smtClean="0">
                <a:latin typeface="+mj-lt"/>
              </a:rPr>
              <a:t>More Natural Fit with Code</a:t>
            </a:r>
          </a:p>
          <a:p>
            <a:pPr lvl="2"/>
            <a:r>
              <a:rPr lang="en-US" altLang="zh-TW" dirty="0" smtClean="0">
                <a:latin typeface="+mj-lt"/>
              </a:rPr>
              <a:t>Relational data models and Application Code Object Models are typically built differently</a:t>
            </a:r>
          </a:p>
          <a:p>
            <a:pPr lvl="2"/>
            <a:r>
              <a:rPr lang="en-US" altLang="zh-TW" dirty="0" smtClean="0">
                <a:latin typeface="+mj-lt"/>
              </a:rPr>
              <a:t>Key/value databases retain data in a structure that maps more directly to object classes used in the underlying application code</a:t>
            </a:r>
            <a:endParaRPr lang="en-US" altLang="zh-TW" b="1" dirty="0" smtClean="0">
              <a:latin typeface="+mj-lt"/>
            </a:endParaRPr>
          </a:p>
          <a:p>
            <a:pPr lvl="1"/>
            <a:endParaRPr lang="en-US" altLang="zh-TW" dirty="0" smtClean="0">
              <a:latin typeface="+mj-lt"/>
            </a:endParaRPr>
          </a:p>
        </p:txBody>
      </p:sp>
    </p:spTree>
    <p:extLst>
      <p:ext uri="{BB962C8B-B14F-4D97-AF65-F5344CB8AC3E}">
        <p14:creationId xmlns="" xmlns:p14="http://schemas.microsoft.com/office/powerpoint/2010/main" val="15198377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Key/Value Database(4/4)</a:t>
            </a:r>
            <a:endParaRPr lang="zh-TW" altLang="en-US" dirty="0"/>
          </a:p>
        </p:txBody>
      </p:sp>
      <p:sp>
        <p:nvSpPr>
          <p:cNvPr id="3" name="內容版面配置區 2"/>
          <p:cNvSpPr>
            <a:spLocks noGrp="1"/>
          </p:cNvSpPr>
          <p:nvPr>
            <p:ph idx="1"/>
          </p:nvPr>
        </p:nvSpPr>
        <p:spPr>
          <a:xfrm>
            <a:off x="457200" y="1600200"/>
            <a:ext cx="8229600" cy="5069160"/>
          </a:xfrm>
        </p:spPr>
        <p:txBody>
          <a:bodyPr>
            <a:normAutofit/>
          </a:bodyPr>
          <a:lstStyle/>
          <a:p>
            <a:r>
              <a:rPr lang="en-US" altLang="zh-TW" dirty="0" smtClean="0">
                <a:latin typeface="+mj-lt"/>
              </a:rPr>
              <a:t>Disadvantages of key/value DBs to relational DBs</a:t>
            </a:r>
          </a:p>
          <a:p>
            <a:pPr lvl="1"/>
            <a:r>
              <a:rPr lang="en-US" altLang="zh-TW" dirty="0" smtClean="0">
                <a:latin typeface="+mj-lt"/>
              </a:rPr>
              <a:t>Data integrity issues</a:t>
            </a:r>
          </a:p>
          <a:p>
            <a:pPr lvl="2"/>
            <a:r>
              <a:rPr lang="en-US" altLang="zh-TW" dirty="0" smtClean="0">
                <a:latin typeface="+mj-lt"/>
              </a:rPr>
              <a:t>Data that violate integrity constraints cannot physically be entered into the relational DB</a:t>
            </a:r>
          </a:p>
          <a:p>
            <a:pPr lvl="2"/>
            <a:r>
              <a:rPr lang="en-US" altLang="zh-TW" dirty="0" smtClean="0">
                <a:latin typeface="+mj-lt"/>
              </a:rPr>
              <a:t>In a key/value DB, the responsibility for ensuring data integrity falls entirely to the application</a:t>
            </a:r>
          </a:p>
          <a:p>
            <a:pPr lvl="1"/>
            <a:r>
              <a:rPr lang="en-US" altLang="zh-TW" dirty="0" smtClean="0">
                <a:latin typeface="+mj-lt"/>
              </a:rPr>
              <a:t>Application-dependent</a:t>
            </a:r>
          </a:p>
          <a:p>
            <a:pPr lvl="2"/>
            <a:r>
              <a:rPr lang="en-US" altLang="zh-TW" dirty="0" smtClean="0">
                <a:latin typeface="+mj-lt"/>
              </a:rPr>
              <a:t>Relational DBs modeling process creates a logical structure that reflects the data it is to contain, rather than reflecting the structure of the application</a:t>
            </a:r>
          </a:p>
          <a:p>
            <a:pPr lvl="2"/>
            <a:r>
              <a:rPr lang="en-US" altLang="zh-TW" dirty="0" smtClean="0">
                <a:latin typeface="+mj-lt"/>
              </a:rPr>
              <a:t>Key/value DBs can try replacing the relational data modeling exercise with a class modeling exercise</a:t>
            </a:r>
          </a:p>
          <a:p>
            <a:pPr lvl="1"/>
            <a:r>
              <a:rPr lang="en-US" altLang="zh-TW" dirty="0" smtClean="0">
                <a:latin typeface="+mj-lt"/>
              </a:rPr>
              <a:t>Incompatibility</a:t>
            </a:r>
          </a:p>
        </p:txBody>
      </p:sp>
    </p:spTree>
    <p:extLst>
      <p:ext uri="{BB962C8B-B14F-4D97-AF65-F5344CB8AC3E}">
        <p14:creationId xmlns="" xmlns:p14="http://schemas.microsoft.com/office/powerpoint/2010/main" val="412606478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Non-relational Database Introduction</a:t>
            </a:r>
            <a:endParaRPr lang="zh-TW" altLang="en-US" dirty="0"/>
          </a:p>
        </p:txBody>
      </p:sp>
      <p:sp>
        <p:nvSpPr>
          <p:cNvPr id="3" name="文字版面配置區 2"/>
          <p:cNvSpPr>
            <a:spLocks noGrp="1"/>
          </p:cNvSpPr>
          <p:nvPr>
            <p:ph type="body" idx="1"/>
          </p:nvPr>
        </p:nvSpPr>
        <p:spPr/>
        <p:txBody>
          <a:bodyPr/>
          <a:lstStyle/>
          <a:p>
            <a:r>
              <a:rPr lang="en-US" altLang="zh-TW" dirty="0" smtClean="0">
                <a:solidFill>
                  <a:schemeClr val="bg1">
                    <a:lumMod val="50000"/>
                  </a:schemeClr>
                </a:solidFill>
              </a:rPr>
              <a:t>NOSQL Overview</a:t>
            </a:r>
          </a:p>
          <a:p>
            <a:r>
              <a:rPr lang="en-US" altLang="zh-TW" dirty="0"/>
              <a:t>Related Theorem</a:t>
            </a:r>
          </a:p>
          <a:p>
            <a:r>
              <a:rPr lang="en-US" altLang="zh-TW" dirty="0" smtClean="0">
                <a:solidFill>
                  <a:schemeClr val="bg1">
                    <a:lumMod val="50000"/>
                  </a:schemeClr>
                </a:solidFill>
              </a:rPr>
              <a:t>Distributed Database System</a:t>
            </a:r>
          </a:p>
        </p:txBody>
      </p:sp>
    </p:spTree>
    <p:extLst>
      <p:ext uri="{BB962C8B-B14F-4D97-AF65-F5344CB8AC3E}">
        <p14:creationId xmlns="" xmlns:p14="http://schemas.microsoft.com/office/powerpoint/2010/main" val="2092731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CAP Theorem(1/2)</a:t>
            </a:r>
            <a:endParaRPr lang="zh-TW" altLang="en-US" dirty="0"/>
          </a:p>
        </p:txBody>
      </p:sp>
      <p:sp>
        <p:nvSpPr>
          <p:cNvPr id="3" name="內容版面配置區 2"/>
          <p:cNvSpPr>
            <a:spLocks noGrp="1"/>
          </p:cNvSpPr>
          <p:nvPr>
            <p:ph idx="1"/>
          </p:nvPr>
        </p:nvSpPr>
        <p:spPr>
          <a:xfrm>
            <a:off x="457200" y="1600200"/>
            <a:ext cx="8229600" cy="4853136"/>
          </a:xfrm>
        </p:spPr>
        <p:txBody>
          <a:bodyPr>
            <a:normAutofit fontScale="92500" lnSpcReduction="10000"/>
          </a:bodyPr>
          <a:lstStyle/>
          <a:p>
            <a:r>
              <a:rPr lang="en-US" altLang="zh-TW" dirty="0" smtClean="0">
                <a:latin typeface="+mj-lt"/>
              </a:rPr>
              <a:t>When designing distributed data storage systems, it’s very common to invoke the CAP Theorem</a:t>
            </a:r>
          </a:p>
          <a:p>
            <a:pPr lvl="1"/>
            <a:r>
              <a:rPr lang="en-US" altLang="zh-TW" dirty="0" smtClean="0">
                <a:latin typeface="+mj-lt"/>
              </a:rPr>
              <a:t>Consistency, Availability, Partition-tolerance</a:t>
            </a:r>
          </a:p>
          <a:p>
            <a:r>
              <a:rPr lang="en-US" altLang="zh-TW" dirty="0" smtClean="0">
                <a:latin typeface="+mj-lt"/>
              </a:rPr>
              <a:t>Consistency</a:t>
            </a:r>
          </a:p>
          <a:p>
            <a:pPr lvl="1"/>
            <a:r>
              <a:rPr lang="en-US" altLang="zh-TW" dirty="0" smtClean="0">
                <a:latin typeface="+mj-lt"/>
              </a:rPr>
              <a:t>The goal is to allow multisite transactions to have the familiar all-or-nothing semantics. </a:t>
            </a:r>
          </a:p>
          <a:p>
            <a:r>
              <a:rPr lang="en-US" altLang="zh-TW" dirty="0" smtClean="0">
                <a:latin typeface="+mj-lt"/>
              </a:rPr>
              <a:t>Availability</a:t>
            </a:r>
          </a:p>
          <a:p>
            <a:pPr lvl="1"/>
            <a:r>
              <a:rPr lang="en-US" altLang="zh-TW" dirty="0" smtClean="0">
                <a:latin typeface="+mj-lt"/>
              </a:rPr>
              <a:t>When a failure occurs, the system should keep going, switching over to a replica, if required. </a:t>
            </a:r>
          </a:p>
          <a:p>
            <a:r>
              <a:rPr lang="en-US" altLang="zh-TW" dirty="0" smtClean="0">
                <a:latin typeface="+mj-lt"/>
              </a:rPr>
              <a:t>Partition-tolerance</a:t>
            </a:r>
          </a:p>
          <a:p>
            <a:pPr lvl="1"/>
            <a:r>
              <a:rPr lang="en-US" altLang="zh-TW" dirty="0" smtClean="0">
                <a:latin typeface="+mj-lt"/>
              </a:rPr>
              <a:t>If there is a network failure that splits the processing nodes into two groups that cannot talk to each other, then the goal would be to allow processing to continue in both subgroups.</a:t>
            </a:r>
          </a:p>
          <a:p>
            <a:endParaRPr lang="zh-TW" altLang="en-US" dirty="0">
              <a:latin typeface="+mj-lt"/>
            </a:endParaRPr>
          </a:p>
        </p:txBody>
      </p:sp>
    </p:spTree>
    <p:extLst>
      <p:ext uri="{BB962C8B-B14F-4D97-AF65-F5344CB8AC3E}">
        <p14:creationId xmlns="" xmlns:p14="http://schemas.microsoft.com/office/powerpoint/2010/main" val="168589176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CAP Theorem(2/2)</a:t>
            </a:r>
            <a:endParaRPr lang="zh-TW" altLang="en-US" dirty="0"/>
          </a:p>
        </p:txBody>
      </p:sp>
      <p:sp>
        <p:nvSpPr>
          <p:cNvPr id="3" name="內容版面配置區 2"/>
          <p:cNvSpPr>
            <a:spLocks noGrp="1"/>
          </p:cNvSpPr>
          <p:nvPr>
            <p:ph idx="1"/>
          </p:nvPr>
        </p:nvSpPr>
        <p:spPr/>
        <p:txBody>
          <a:bodyPr/>
          <a:lstStyle/>
          <a:p>
            <a:r>
              <a:rPr lang="en-US" altLang="zh-TW" dirty="0" smtClean="0">
                <a:latin typeface="+mj-lt"/>
              </a:rPr>
              <a:t>Consistency, availability, partition tolerance. Pick two.</a:t>
            </a:r>
          </a:p>
          <a:p>
            <a:pPr lvl="1"/>
            <a:r>
              <a:rPr lang="en-US" altLang="zh-TW" dirty="0" smtClean="0">
                <a:latin typeface="+mj-lt"/>
              </a:rPr>
              <a:t>If you have a partition in your network, you lose either consistency (because you allow updates to both sides of the partition) or you lose availability (because you detect the error and shutdown the system until the error condition is resolved).</a:t>
            </a:r>
          </a:p>
        </p:txBody>
      </p:sp>
      <p:pic>
        <p:nvPicPr>
          <p:cNvPr id="6146" name="Picture 2"/>
          <p:cNvPicPr>
            <a:picLocks noChangeAspect="1" noChangeArrowheads="1"/>
          </p:cNvPicPr>
          <p:nvPr/>
        </p:nvPicPr>
        <p:blipFill>
          <a:blip r:embed="rId3" cstate="print"/>
          <a:srcRect/>
          <a:stretch>
            <a:fillRect/>
          </a:stretch>
        </p:blipFill>
        <p:spPr bwMode="auto">
          <a:xfrm>
            <a:off x="4283968" y="3645024"/>
            <a:ext cx="4320480" cy="3063126"/>
          </a:xfrm>
          <a:prstGeom prst="rect">
            <a:avLst/>
          </a:prstGeom>
          <a:noFill/>
          <a:ln w="9525">
            <a:noFill/>
            <a:miter lim="800000"/>
            <a:headEnd/>
            <a:tailEnd/>
          </a:ln>
        </p:spPr>
      </p:pic>
    </p:spTree>
    <p:extLst>
      <p:ext uri="{BB962C8B-B14F-4D97-AF65-F5344CB8AC3E}">
        <p14:creationId xmlns="" xmlns:p14="http://schemas.microsoft.com/office/powerpoint/2010/main" val="83227299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Non-relational Database Introduction</a:t>
            </a:r>
            <a:endParaRPr lang="zh-TW" altLang="en-US" dirty="0"/>
          </a:p>
        </p:txBody>
      </p:sp>
      <p:sp>
        <p:nvSpPr>
          <p:cNvPr id="3" name="文字版面配置區 2"/>
          <p:cNvSpPr>
            <a:spLocks noGrp="1"/>
          </p:cNvSpPr>
          <p:nvPr>
            <p:ph type="body" idx="1"/>
          </p:nvPr>
        </p:nvSpPr>
        <p:spPr/>
        <p:txBody>
          <a:bodyPr/>
          <a:lstStyle/>
          <a:p>
            <a:r>
              <a:rPr lang="en-US" altLang="zh-TW" dirty="0" smtClean="0">
                <a:solidFill>
                  <a:schemeClr val="bg1">
                    <a:lumMod val="50000"/>
                  </a:schemeClr>
                </a:solidFill>
              </a:rPr>
              <a:t>NOSQL Overview</a:t>
            </a:r>
          </a:p>
          <a:p>
            <a:r>
              <a:rPr lang="en-US" altLang="zh-TW" dirty="0">
                <a:solidFill>
                  <a:schemeClr val="bg1">
                    <a:lumMod val="50000"/>
                  </a:schemeClr>
                </a:solidFill>
              </a:rPr>
              <a:t>Related Theorem</a:t>
            </a:r>
          </a:p>
          <a:p>
            <a:r>
              <a:rPr lang="en-US" altLang="zh-TW" dirty="0"/>
              <a:t>Distributed Database </a:t>
            </a:r>
            <a:r>
              <a:rPr lang="en-US" altLang="zh-TW" dirty="0" smtClean="0"/>
              <a:t>System</a:t>
            </a:r>
            <a:endParaRPr lang="zh-TW" altLang="en-US" dirty="0">
              <a:solidFill>
                <a:schemeClr val="bg1">
                  <a:lumMod val="50000"/>
                </a:schemeClr>
              </a:solidFill>
            </a:endParaRPr>
          </a:p>
        </p:txBody>
      </p:sp>
    </p:spTree>
    <p:extLst>
      <p:ext uri="{BB962C8B-B14F-4D97-AF65-F5344CB8AC3E}">
        <p14:creationId xmlns="" xmlns:p14="http://schemas.microsoft.com/office/powerpoint/2010/main" val="31982239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Introduction</a:t>
            </a:r>
            <a:endParaRPr lang="zh-TW" altLang="en-US" dirty="0"/>
          </a:p>
        </p:txBody>
      </p:sp>
      <p:sp>
        <p:nvSpPr>
          <p:cNvPr id="3" name="內容版面配置區 2"/>
          <p:cNvSpPr>
            <a:spLocks noGrp="1"/>
          </p:cNvSpPr>
          <p:nvPr>
            <p:ph idx="1"/>
          </p:nvPr>
        </p:nvSpPr>
        <p:spPr>
          <a:xfrm>
            <a:off x="457200" y="1412776"/>
            <a:ext cx="8229600" cy="5256584"/>
          </a:xfrm>
        </p:spPr>
        <p:txBody>
          <a:bodyPr>
            <a:normAutofit lnSpcReduction="10000"/>
          </a:bodyPr>
          <a:lstStyle/>
          <a:p>
            <a:r>
              <a:rPr lang="en-US" altLang="zh-TW" dirty="0" smtClean="0">
                <a:latin typeface="+mj-lt"/>
              </a:rPr>
              <a:t>Distributed database system = distributed database + distributed DBMS</a:t>
            </a:r>
          </a:p>
          <a:p>
            <a:pPr lvl="1"/>
            <a:r>
              <a:rPr lang="en-US" altLang="zh-TW" dirty="0" smtClean="0">
                <a:latin typeface="+mj-lt"/>
              </a:rPr>
              <a:t>Distributed database</a:t>
            </a:r>
          </a:p>
          <a:p>
            <a:pPr lvl="2"/>
            <a:r>
              <a:rPr lang="en-US" altLang="zh-TW" dirty="0" smtClean="0">
                <a:latin typeface="+mj-lt"/>
              </a:rPr>
              <a:t>a collection of multiple inter-correlated databases distributed over a computer network</a:t>
            </a:r>
          </a:p>
          <a:p>
            <a:pPr lvl="1"/>
            <a:r>
              <a:rPr lang="en-US" altLang="zh-TW" dirty="0" smtClean="0">
                <a:latin typeface="+mj-lt"/>
              </a:rPr>
              <a:t>Distributed DBMS</a:t>
            </a:r>
          </a:p>
          <a:p>
            <a:pPr lvl="2"/>
            <a:r>
              <a:rPr lang="en-US" altLang="zh-TW" dirty="0" smtClean="0">
                <a:latin typeface="+mj-lt"/>
              </a:rPr>
              <a:t>manage a distributed database and make the distribution transparent to users</a:t>
            </a:r>
          </a:p>
          <a:p>
            <a:r>
              <a:rPr lang="en-US" altLang="zh-TW" dirty="0" smtClean="0">
                <a:latin typeface="+mj-lt"/>
              </a:rPr>
              <a:t>Consists of</a:t>
            </a:r>
          </a:p>
          <a:p>
            <a:pPr lvl="1"/>
            <a:r>
              <a:rPr lang="fr-FR" altLang="zh-TW" dirty="0" smtClean="0">
                <a:latin typeface="+mj-lt"/>
              </a:rPr>
              <a:t>query nodes: user interface routines</a:t>
            </a:r>
          </a:p>
          <a:p>
            <a:pPr lvl="1"/>
            <a:r>
              <a:rPr lang="en-US" altLang="zh-TW" dirty="0" smtClean="0">
                <a:latin typeface="+mj-lt"/>
              </a:rPr>
              <a:t>data nodes: data storage</a:t>
            </a:r>
          </a:p>
          <a:p>
            <a:r>
              <a:rPr lang="en-US" altLang="zh-TW" dirty="0" smtClean="0">
                <a:latin typeface="+mj-lt"/>
              </a:rPr>
              <a:t>Loosely coupled: connected with network, each node has its own storage / processor / operating system</a:t>
            </a:r>
            <a:endParaRPr lang="zh-TW" altLang="en-US" dirty="0">
              <a:latin typeface="+mj-lt"/>
            </a:endParaRPr>
          </a:p>
        </p:txBody>
      </p:sp>
    </p:spTree>
    <p:extLst>
      <p:ext uri="{BB962C8B-B14F-4D97-AF65-F5344CB8AC3E}">
        <p14:creationId xmlns="" xmlns:p14="http://schemas.microsoft.com/office/powerpoint/2010/main" val="205537535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System Architectures</a:t>
            </a:r>
            <a:endParaRPr lang="zh-TW" altLang="en-US" dirty="0"/>
          </a:p>
        </p:txBody>
      </p:sp>
      <p:sp>
        <p:nvSpPr>
          <p:cNvPr id="3" name="內容版面配置區 2"/>
          <p:cNvSpPr>
            <a:spLocks noGrp="1"/>
          </p:cNvSpPr>
          <p:nvPr>
            <p:ph idx="1"/>
          </p:nvPr>
        </p:nvSpPr>
        <p:spPr>
          <a:xfrm>
            <a:off x="457200" y="1484784"/>
            <a:ext cx="8229600" cy="4968552"/>
          </a:xfrm>
        </p:spPr>
        <p:txBody>
          <a:bodyPr>
            <a:normAutofit fontScale="92500" lnSpcReduction="10000"/>
          </a:bodyPr>
          <a:lstStyle/>
          <a:p>
            <a:r>
              <a:rPr lang="en-US" altLang="zh-TW" dirty="0" smtClean="0">
                <a:latin typeface="+mj-lt"/>
              </a:rPr>
              <a:t>Centralized</a:t>
            </a:r>
          </a:p>
          <a:p>
            <a:pPr lvl="1"/>
            <a:r>
              <a:rPr lang="en-US" altLang="zh-TW" dirty="0" smtClean="0">
                <a:latin typeface="+mj-lt"/>
              </a:rPr>
              <a:t>one host for everything, multi-processor is possible but a transaction gets only one processor</a:t>
            </a:r>
          </a:p>
          <a:p>
            <a:r>
              <a:rPr lang="en-US" altLang="zh-TW" dirty="0" smtClean="0">
                <a:latin typeface="+mj-lt"/>
              </a:rPr>
              <a:t>Parallel</a:t>
            </a:r>
          </a:p>
          <a:p>
            <a:pPr lvl="1"/>
            <a:r>
              <a:rPr lang="en-US" altLang="zh-TW" dirty="0" smtClean="0">
                <a:latin typeface="+mj-lt"/>
              </a:rPr>
              <a:t>a transaction may be processed by multiple processors</a:t>
            </a:r>
          </a:p>
          <a:p>
            <a:r>
              <a:rPr lang="en-US" altLang="zh-TW" dirty="0" smtClean="0">
                <a:latin typeface="+mj-lt"/>
              </a:rPr>
              <a:t>Client-Server</a:t>
            </a:r>
          </a:p>
          <a:p>
            <a:pPr lvl="1"/>
            <a:r>
              <a:rPr lang="en-US" altLang="zh-TW" dirty="0" smtClean="0">
                <a:latin typeface="+mj-lt"/>
              </a:rPr>
              <a:t>database stored on one server host for multiple clients, centrally managed</a:t>
            </a:r>
          </a:p>
          <a:p>
            <a:r>
              <a:rPr lang="en-US" altLang="zh-TW" dirty="0" smtClean="0">
                <a:latin typeface="+mj-lt"/>
              </a:rPr>
              <a:t>Distributed</a:t>
            </a:r>
          </a:p>
          <a:p>
            <a:pPr lvl="1"/>
            <a:r>
              <a:rPr lang="en-US" altLang="zh-TW" dirty="0" smtClean="0">
                <a:latin typeface="+mj-lt"/>
              </a:rPr>
              <a:t>database stored on multiple hosts, transparent to clients</a:t>
            </a:r>
          </a:p>
          <a:p>
            <a:r>
              <a:rPr lang="en-US" altLang="zh-TW" dirty="0" smtClean="0">
                <a:latin typeface="+mj-lt"/>
              </a:rPr>
              <a:t>Peer to Peer</a:t>
            </a:r>
          </a:p>
          <a:p>
            <a:pPr lvl="1"/>
            <a:r>
              <a:rPr lang="en-US" altLang="zh-TW" dirty="0" smtClean="0">
                <a:latin typeface="+mj-lt"/>
              </a:rPr>
              <a:t>each node is a client and a server; requires sophisticated protocols, still in development</a:t>
            </a:r>
            <a:endParaRPr lang="zh-TW" altLang="en-US" dirty="0">
              <a:latin typeface="+mj-lt"/>
            </a:endParaRPr>
          </a:p>
        </p:txBody>
      </p:sp>
    </p:spTree>
    <p:extLst>
      <p:ext uri="{BB962C8B-B14F-4D97-AF65-F5344CB8AC3E}">
        <p14:creationId xmlns="" xmlns:p14="http://schemas.microsoft.com/office/powerpoint/2010/main" val="422304630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Data Models</a:t>
            </a:r>
            <a:endParaRPr lang="zh-TW" altLang="en-US" dirty="0"/>
          </a:p>
        </p:txBody>
      </p:sp>
      <p:sp>
        <p:nvSpPr>
          <p:cNvPr id="3" name="內容版面配置區 2"/>
          <p:cNvSpPr>
            <a:spLocks noGrp="1"/>
          </p:cNvSpPr>
          <p:nvPr>
            <p:ph idx="1"/>
          </p:nvPr>
        </p:nvSpPr>
        <p:spPr>
          <a:xfrm>
            <a:off x="457200" y="1484784"/>
            <a:ext cx="8229600" cy="4900810"/>
          </a:xfrm>
        </p:spPr>
        <p:txBody>
          <a:bodyPr>
            <a:normAutofit fontScale="92500" lnSpcReduction="10000"/>
          </a:bodyPr>
          <a:lstStyle/>
          <a:p>
            <a:r>
              <a:rPr lang="en-US" altLang="zh-TW" dirty="0" smtClean="0">
                <a:latin typeface="+mj-lt"/>
              </a:rPr>
              <a:t>Hierarchical Model</a:t>
            </a:r>
          </a:p>
          <a:p>
            <a:pPr lvl="1"/>
            <a:r>
              <a:rPr lang="en-US" altLang="zh-TW" dirty="0" smtClean="0">
                <a:latin typeface="+mj-lt"/>
              </a:rPr>
              <a:t>Data organized in a tree namespace</a:t>
            </a:r>
          </a:p>
          <a:p>
            <a:r>
              <a:rPr lang="en-US" altLang="zh-TW" dirty="0" smtClean="0">
                <a:latin typeface="+mj-lt"/>
              </a:rPr>
              <a:t>Network Model</a:t>
            </a:r>
          </a:p>
          <a:p>
            <a:pPr lvl="1"/>
            <a:r>
              <a:rPr lang="en-US" altLang="zh-TW" dirty="0" smtClean="0">
                <a:latin typeface="+mj-lt"/>
              </a:rPr>
              <a:t>Like Hierarchical Model, but a data may have multiple parents</a:t>
            </a:r>
          </a:p>
          <a:p>
            <a:r>
              <a:rPr lang="en-US" altLang="zh-TW" dirty="0" smtClean="0">
                <a:latin typeface="+mj-lt"/>
              </a:rPr>
              <a:t>Entity-Relationship Model</a:t>
            </a:r>
          </a:p>
          <a:p>
            <a:pPr lvl="1"/>
            <a:r>
              <a:rPr lang="en-US" altLang="zh-TW" dirty="0" smtClean="0">
                <a:latin typeface="+mj-lt"/>
              </a:rPr>
              <a:t>Data are organized in entities which can have relationships among them</a:t>
            </a:r>
          </a:p>
          <a:p>
            <a:r>
              <a:rPr lang="en-US" altLang="zh-TW" dirty="0" smtClean="0">
                <a:latin typeface="+mj-lt"/>
              </a:rPr>
              <a:t>Object-Oriented Model</a:t>
            </a:r>
          </a:p>
          <a:p>
            <a:pPr lvl="1"/>
            <a:r>
              <a:rPr lang="en-US" altLang="zh-TW" dirty="0" smtClean="0">
                <a:latin typeface="+mj-lt"/>
              </a:rPr>
              <a:t>Database capability in an object-oriented language</a:t>
            </a:r>
          </a:p>
          <a:p>
            <a:r>
              <a:rPr lang="en-US" altLang="zh-TW" dirty="0" smtClean="0">
                <a:latin typeface="+mj-lt"/>
              </a:rPr>
              <a:t>Semi-structured Model</a:t>
            </a:r>
          </a:p>
          <a:p>
            <a:pPr lvl="1"/>
            <a:r>
              <a:rPr lang="en-US" altLang="zh-TW" dirty="0" smtClean="0">
                <a:latin typeface="+mj-lt"/>
              </a:rPr>
              <a:t>Schema is contained in data (often associated with “self-describing” and “XML”)</a:t>
            </a:r>
            <a:endParaRPr lang="zh-TW" altLang="en-US" dirty="0">
              <a:latin typeface="+mj-lt"/>
            </a:endParaRPr>
          </a:p>
        </p:txBody>
      </p:sp>
    </p:spTree>
    <p:extLst>
      <p:ext uri="{BB962C8B-B14F-4D97-AF65-F5344CB8AC3E}">
        <p14:creationId xmlns="" xmlns:p14="http://schemas.microsoft.com/office/powerpoint/2010/main" val="67274290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Data distribution</a:t>
            </a:r>
            <a:endParaRPr lang="zh-TW" altLang="en-US" dirty="0"/>
          </a:p>
        </p:txBody>
      </p:sp>
      <p:sp>
        <p:nvSpPr>
          <p:cNvPr id="3" name="內容版面配置區 2"/>
          <p:cNvSpPr>
            <a:spLocks noGrp="1"/>
          </p:cNvSpPr>
          <p:nvPr>
            <p:ph idx="1"/>
          </p:nvPr>
        </p:nvSpPr>
        <p:spPr>
          <a:xfrm>
            <a:off x="457200" y="1449948"/>
            <a:ext cx="8229600" cy="5069160"/>
          </a:xfrm>
        </p:spPr>
        <p:txBody>
          <a:bodyPr>
            <a:normAutofit fontScale="92500"/>
          </a:bodyPr>
          <a:lstStyle/>
          <a:p>
            <a:r>
              <a:rPr lang="en-US" altLang="zh-TW" dirty="0" smtClean="0">
                <a:latin typeface="+mj-lt"/>
              </a:rPr>
              <a:t>Data is physically distributed among data nodes</a:t>
            </a:r>
          </a:p>
          <a:p>
            <a:pPr lvl="1"/>
            <a:r>
              <a:rPr lang="en-US" altLang="zh-TW" dirty="0" smtClean="0">
                <a:latin typeface="+mj-lt"/>
              </a:rPr>
              <a:t>Fragmentation: divide data onto data nodes</a:t>
            </a:r>
          </a:p>
          <a:p>
            <a:pPr lvl="1"/>
            <a:r>
              <a:rPr lang="en-US" altLang="zh-TW" dirty="0" smtClean="0">
                <a:latin typeface="+mj-lt"/>
              </a:rPr>
              <a:t>Replication: copy data among data nodes</a:t>
            </a:r>
          </a:p>
          <a:p>
            <a:r>
              <a:rPr lang="en-US" altLang="zh-TW" dirty="0" smtClean="0">
                <a:latin typeface="+mj-lt"/>
              </a:rPr>
              <a:t>Fragmentation enables placing data close to clients</a:t>
            </a:r>
          </a:p>
          <a:p>
            <a:pPr lvl="1"/>
            <a:r>
              <a:rPr lang="en-US" altLang="zh-TW" dirty="0" smtClean="0">
                <a:latin typeface="+mj-lt"/>
              </a:rPr>
              <a:t>May reduce size of data involved</a:t>
            </a:r>
          </a:p>
          <a:p>
            <a:pPr lvl="1"/>
            <a:r>
              <a:rPr lang="en-US" altLang="zh-TW" dirty="0" smtClean="0">
                <a:latin typeface="+mj-lt"/>
              </a:rPr>
              <a:t>May reduce transmission cost</a:t>
            </a:r>
          </a:p>
          <a:p>
            <a:r>
              <a:rPr lang="en-US" altLang="zh-TW" dirty="0" smtClean="0">
                <a:latin typeface="+mj-lt"/>
              </a:rPr>
              <a:t>Replication</a:t>
            </a:r>
          </a:p>
          <a:p>
            <a:pPr lvl="1"/>
            <a:r>
              <a:rPr lang="en-US" altLang="zh-TW" dirty="0" smtClean="0">
                <a:latin typeface="+mj-lt"/>
              </a:rPr>
              <a:t>Preferable when the same data are accessed from applications that run at multiple nodes</a:t>
            </a:r>
          </a:p>
          <a:p>
            <a:pPr lvl="1"/>
            <a:r>
              <a:rPr lang="en-US" altLang="zh-TW" dirty="0" smtClean="0">
                <a:latin typeface="+mj-lt"/>
              </a:rPr>
              <a:t>May be more cost-effective to duplicate data at multiple nodes rather than continuously moving it between them</a:t>
            </a:r>
          </a:p>
          <a:p>
            <a:r>
              <a:rPr lang="en-US" altLang="zh-TW" dirty="0" smtClean="0">
                <a:latin typeface="+mj-lt"/>
              </a:rPr>
              <a:t>Many different schemes of fragmentation and replication</a:t>
            </a:r>
            <a:endParaRPr lang="zh-TW" altLang="en-US" dirty="0">
              <a:latin typeface="+mj-lt"/>
            </a:endParaRPr>
          </a:p>
        </p:txBody>
      </p:sp>
    </p:spTree>
    <p:extLst>
      <p:ext uri="{BB962C8B-B14F-4D97-AF65-F5344CB8AC3E}">
        <p14:creationId xmlns="" xmlns:p14="http://schemas.microsoft.com/office/powerpoint/2010/main" val="3923121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1000"/>
                                        <p:tgtEl>
                                          <p:spTgt spid="3">
                                            <p:txEl>
                                              <p:pRg st="6" end="6"/>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 calcmode="lin" valueType="num">
                                      <p:cBhvr additive="base">
                                        <p:cTn id="2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 calcmode="lin" valueType="num">
                                      <p:cBhvr additive="base">
                                        <p:cTn id="3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Effect transition="in" filter="fade">
                                      <p:cBhvr>
                                        <p:cTn id="39" dur="1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Fragmentation</a:t>
            </a:r>
            <a:endParaRPr lang="zh-TW" altLang="en-US" dirty="0"/>
          </a:p>
        </p:txBody>
      </p:sp>
      <p:sp>
        <p:nvSpPr>
          <p:cNvPr id="3" name="內容版面配置區 2"/>
          <p:cNvSpPr>
            <a:spLocks noGrp="1"/>
          </p:cNvSpPr>
          <p:nvPr>
            <p:ph idx="1"/>
          </p:nvPr>
        </p:nvSpPr>
        <p:spPr>
          <a:xfrm>
            <a:off x="467544" y="1412776"/>
            <a:ext cx="8229600" cy="4525963"/>
          </a:xfrm>
        </p:spPr>
        <p:txBody>
          <a:bodyPr/>
          <a:lstStyle/>
          <a:p>
            <a:r>
              <a:rPr lang="en-US" altLang="zh-TW" dirty="0" smtClean="0">
                <a:latin typeface="+mj-lt"/>
              </a:rPr>
              <a:t>Horizontal fragmentation</a:t>
            </a:r>
          </a:p>
          <a:p>
            <a:pPr lvl="1"/>
            <a:r>
              <a:rPr lang="en-US" altLang="zh-TW" dirty="0" smtClean="0">
                <a:latin typeface="+mj-lt"/>
              </a:rPr>
              <a:t>split by rows based on a fragmentation predicate</a:t>
            </a:r>
          </a:p>
          <a:p>
            <a:r>
              <a:rPr lang="en-US" altLang="zh-TW" dirty="0" smtClean="0">
                <a:latin typeface="+mj-lt"/>
              </a:rPr>
              <a:t>Vertical fragmentation</a:t>
            </a:r>
          </a:p>
          <a:p>
            <a:pPr lvl="1"/>
            <a:r>
              <a:rPr lang="en-US" altLang="zh-TW" dirty="0" smtClean="0">
                <a:latin typeface="+mj-lt"/>
              </a:rPr>
              <a:t>split by columns based on attributes</a:t>
            </a:r>
          </a:p>
          <a:p>
            <a:r>
              <a:rPr lang="en-US" altLang="zh-TW" dirty="0" smtClean="0">
                <a:latin typeface="+mj-lt"/>
              </a:rPr>
              <a:t>Also called “partition” in some literature</a:t>
            </a:r>
          </a:p>
          <a:p>
            <a:endParaRPr lang="en-US" altLang="zh-TW" dirty="0" smtClean="0">
              <a:latin typeface="+mj-lt"/>
            </a:endParaRPr>
          </a:p>
          <a:p>
            <a:endParaRPr lang="en-US" altLang="zh-TW" dirty="0" smtClean="0">
              <a:latin typeface="+mj-lt"/>
            </a:endParaRPr>
          </a:p>
          <a:p>
            <a:endParaRPr lang="en-US" altLang="zh-TW" dirty="0" smtClean="0">
              <a:latin typeface="+mj-lt"/>
            </a:endParaRPr>
          </a:p>
          <a:p>
            <a:endParaRPr lang="en-US" altLang="zh-TW" dirty="0" smtClean="0">
              <a:latin typeface="+mj-lt"/>
            </a:endParaRPr>
          </a:p>
          <a:p>
            <a:endParaRPr lang="en-US" altLang="zh-TW" dirty="0" smtClean="0">
              <a:latin typeface="+mj-lt"/>
            </a:endParaRPr>
          </a:p>
        </p:txBody>
      </p:sp>
      <p:graphicFrame>
        <p:nvGraphicFramePr>
          <p:cNvPr id="4" name="表格 3"/>
          <p:cNvGraphicFramePr>
            <a:graphicFrameLocks noGrp="1"/>
          </p:cNvGraphicFramePr>
          <p:nvPr/>
        </p:nvGraphicFramePr>
        <p:xfrm>
          <a:off x="1187624" y="4005064"/>
          <a:ext cx="6624736" cy="2307065"/>
        </p:xfrm>
        <a:graphic>
          <a:graphicData uri="http://schemas.openxmlformats.org/drawingml/2006/table">
            <a:tbl>
              <a:tblPr firstRow="1" bandRow="1">
                <a:tableStyleId>{5C22544A-7EE6-4342-B048-85BDC9FD1C3A}</a:tableStyleId>
              </a:tblPr>
              <a:tblGrid>
                <a:gridCol w="1656184"/>
                <a:gridCol w="1473959"/>
                <a:gridCol w="2034594"/>
                <a:gridCol w="1459999"/>
              </a:tblGrid>
              <a:tr h="461413">
                <a:tc>
                  <a:txBody>
                    <a:bodyPr/>
                    <a:lstStyle/>
                    <a:p>
                      <a:r>
                        <a:rPr lang="en-US" altLang="zh-TW" sz="1700" b="1" kern="1200" baseline="0" dirty="0" smtClean="0">
                          <a:solidFill>
                            <a:schemeClr val="lt1"/>
                          </a:solidFill>
                          <a:latin typeface="+mn-lt"/>
                          <a:ea typeface="+mn-ea"/>
                          <a:cs typeface="+mn-cs"/>
                        </a:rPr>
                        <a:t>Last name</a:t>
                      </a:r>
                      <a:endParaRPr lang="zh-TW" altLang="en-US" sz="1700" dirty="0"/>
                    </a:p>
                  </a:txBody>
                  <a:tcPr marL="87120" marR="87120" marT="43560" marB="43560"/>
                </a:tc>
                <a:tc>
                  <a:txBody>
                    <a:bodyPr/>
                    <a:lstStyle/>
                    <a:p>
                      <a:r>
                        <a:rPr lang="en-US" altLang="zh-TW" sz="1700" b="1" kern="1200" baseline="0" dirty="0" smtClean="0">
                          <a:solidFill>
                            <a:schemeClr val="lt1"/>
                          </a:solidFill>
                          <a:latin typeface="+mn-lt"/>
                          <a:ea typeface="+mn-ea"/>
                          <a:cs typeface="+mn-cs"/>
                        </a:rPr>
                        <a:t>First name</a:t>
                      </a:r>
                      <a:endParaRPr lang="zh-TW" altLang="en-US" sz="1700" dirty="0"/>
                    </a:p>
                  </a:txBody>
                  <a:tcPr marL="87120" marR="87120" marT="43560" marB="43560"/>
                </a:tc>
                <a:tc>
                  <a:txBody>
                    <a:bodyPr/>
                    <a:lstStyle/>
                    <a:p>
                      <a:r>
                        <a:rPr lang="en-US" altLang="zh-TW" sz="1700" b="1" kern="1200" baseline="0" dirty="0" smtClean="0">
                          <a:solidFill>
                            <a:schemeClr val="lt1"/>
                          </a:solidFill>
                          <a:latin typeface="+mn-lt"/>
                          <a:ea typeface="+mn-ea"/>
                          <a:cs typeface="+mn-cs"/>
                        </a:rPr>
                        <a:t>Department</a:t>
                      </a:r>
                      <a:endParaRPr lang="zh-TW" altLang="en-US" sz="1700" dirty="0"/>
                    </a:p>
                  </a:txBody>
                  <a:tcPr marL="87120" marR="87120" marT="43560" marB="43560"/>
                </a:tc>
                <a:tc>
                  <a:txBody>
                    <a:bodyPr/>
                    <a:lstStyle/>
                    <a:p>
                      <a:r>
                        <a:rPr lang="en-US" altLang="zh-TW" sz="1700" b="1" kern="1200" baseline="0" dirty="0" smtClean="0">
                          <a:solidFill>
                            <a:schemeClr val="lt1"/>
                          </a:solidFill>
                          <a:latin typeface="+mn-lt"/>
                          <a:ea typeface="+mn-ea"/>
                          <a:cs typeface="+mn-cs"/>
                        </a:rPr>
                        <a:t>ID</a:t>
                      </a:r>
                      <a:endParaRPr lang="zh-TW" altLang="en-US" sz="1700" dirty="0"/>
                    </a:p>
                  </a:txBody>
                  <a:tcPr marL="87120" marR="87120" marT="43560" marB="43560"/>
                </a:tc>
              </a:tr>
              <a:tr h="461413">
                <a:tc>
                  <a:txBody>
                    <a:bodyPr/>
                    <a:lstStyle/>
                    <a:p>
                      <a:r>
                        <a:rPr lang="en-US" altLang="zh-TW" sz="1700" kern="1200" baseline="0" dirty="0" smtClean="0">
                          <a:solidFill>
                            <a:schemeClr val="dk1"/>
                          </a:solidFill>
                          <a:latin typeface="+mn-lt"/>
                          <a:ea typeface="+mn-ea"/>
                          <a:cs typeface="+mn-cs"/>
                        </a:rPr>
                        <a:t>Chang</a:t>
                      </a:r>
                      <a:endParaRPr lang="zh-TW" altLang="en-US" sz="1700" dirty="0"/>
                    </a:p>
                  </a:txBody>
                  <a:tcPr marL="87120" marR="87120" marT="43560" marB="43560"/>
                </a:tc>
                <a:tc>
                  <a:txBody>
                    <a:bodyPr/>
                    <a:lstStyle/>
                    <a:p>
                      <a:r>
                        <a:rPr lang="en-US" altLang="zh-TW" sz="1700" kern="1200" baseline="0" dirty="0" smtClean="0">
                          <a:solidFill>
                            <a:schemeClr val="dk1"/>
                          </a:solidFill>
                          <a:latin typeface="+mn-lt"/>
                          <a:ea typeface="+mn-ea"/>
                          <a:cs typeface="+mn-cs"/>
                        </a:rPr>
                        <a:t>Three</a:t>
                      </a:r>
                      <a:endParaRPr lang="zh-TW" altLang="en-US" sz="1700" dirty="0"/>
                    </a:p>
                  </a:txBody>
                  <a:tcPr marL="87120" marR="87120" marT="43560" marB="43560"/>
                </a:tc>
                <a:tc>
                  <a:txBody>
                    <a:bodyPr/>
                    <a:lstStyle/>
                    <a:p>
                      <a:r>
                        <a:rPr lang="en-US" altLang="zh-TW" sz="1700" kern="1200" baseline="0" dirty="0" smtClean="0">
                          <a:solidFill>
                            <a:schemeClr val="dk1"/>
                          </a:solidFill>
                          <a:latin typeface="+mn-lt"/>
                          <a:ea typeface="+mn-ea"/>
                          <a:cs typeface="+mn-cs"/>
                        </a:rPr>
                        <a:t>Computer Science</a:t>
                      </a:r>
                      <a:endParaRPr lang="zh-TW" altLang="en-US" sz="1700" dirty="0"/>
                    </a:p>
                  </a:txBody>
                  <a:tcPr marL="87120" marR="87120" marT="43560" marB="43560"/>
                </a:tc>
                <a:tc>
                  <a:txBody>
                    <a:bodyPr/>
                    <a:lstStyle/>
                    <a:p>
                      <a:r>
                        <a:rPr lang="en-US" altLang="zh-TW" sz="1700" kern="1200" baseline="0" dirty="0" smtClean="0">
                          <a:solidFill>
                            <a:schemeClr val="dk1"/>
                          </a:solidFill>
                          <a:latin typeface="+mn-lt"/>
                          <a:ea typeface="+mn-ea"/>
                          <a:cs typeface="+mn-cs"/>
                        </a:rPr>
                        <a:t>X12045</a:t>
                      </a:r>
                      <a:endParaRPr lang="zh-TW" altLang="en-US" sz="1700" dirty="0"/>
                    </a:p>
                  </a:txBody>
                  <a:tcPr marL="87120" marR="87120" marT="43560" marB="43560"/>
                </a:tc>
              </a:tr>
              <a:tr h="461413">
                <a:tc>
                  <a:txBody>
                    <a:bodyPr/>
                    <a:lstStyle/>
                    <a:p>
                      <a:r>
                        <a:rPr lang="en-US" altLang="zh-TW" sz="1700" kern="1200" baseline="0" dirty="0" smtClean="0">
                          <a:solidFill>
                            <a:schemeClr val="dk1"/>
                          </a:solidFill>
                          <a:latin typeface="+mn-lt"/>
                          <a:ea typeface="+mn-ea"/>
                          <a:cs typeface="+mn-cs"/>
                        </a:rPr>
                        <a:t>Lee</a:t>
                      </a:r>
                      <a:endParaRPr lang="zh-TW" altLang="en-US" sz="1700" dirty="0"/>
                    </a:p>
                  </a:txBody>
                  <a:tcPr marL="87120" marR="87120" marT="43560" marB="43560"/>
                </a:tc>
                <a:tc>
                  <a:txBody>
                    <a:bodyPr/>
                    <a:lstStyle/>
                    <a:p>
                      <a:r>
                        <a:rPr lang="en-US" altLang="zh-TW" sz="1700" kern="1200" baseline="0" dirty="0" smtClean="0">
                          <a:solidFill>
                            <a:schemeClr val="dk1"/>
                          </a:solidFill>
                          <a:latin typeface="+mn-lt"/>
                          <a:ea typeface="+mn-ea"/>
                          <a:cs typeface="+mn-cs"/>
                        </a:rPr>
                        <a:t>Four</a:t>
                      </a:r>
                      <a:endParaRPr lang="zh-TW" altLang="en-US" sz="1700" dirty="0"/>
                    </a:p>
                  </a:txBody>
                  <a:tcPr marL="87120" marR="87120" marT="43560" marB="43560"/>
                </a:tc>
                <a:tc>
                  <a:txBody>
                    <a:bodyPr/>
                    <a:lstStyle/>
                    <a:p>
                      <a:r>
                        <a:rPr lang="en-US" altLang="zh-TW" sz="1700" kern="1200" baseline="0" dirty="0" smtClean="0">
                          <a:solidFill>
                            <a:schemeClr val="dk1"/>
                          </a:solidFill>
                          <a:latin typeface="+mn-lt"/>
                          <a:ea typeface="+mn-ea"/>
                          <a:cs typeface="+mn-cs"/>
                        </a:rPr>
                        <a:t>Law</a:t>
                      </a:r>
                      <a:endParaRPr lang="zh-TW" altLang="en-US" sz="1700" dirty="0"/>
                    </a:p>
                  </a:txBody>
                  <a:tcPr marL="87120" marR="87120" marT="43560" marB="43560"/>
                </a:tc>
                <a:tc>
                  <a:txBody>
                    <a:bodyPr/>
                    <a:lstStyle/>
                    <a:p>
                      <a:r>
                        <a:rPr lang="en-US" altLang="zh-TW" sz="1700" kern="1200" baseline="0" dirty="0" smtClean="0">
                          <a:solidFill>
                            <a:schemeClr val="dk1"/>
                          </a:solidFill>
                          <a:latin typeface="+mn-lt"/>
                          <a:ea typeface="+mn-ea"/>
                          <a:cs typeface="+mn-cs"/>
                        </a:rPr>
                        <a:t>Y34098</a:t>
                      </a:r>
                      <a:endParaRPr lang="zh-TW" altLang="en-US" sz="1700" dirty="0"/>
                    </a:p>
                  </a:txBody>
                  <a:tcPr marL="87120" marR="87120" marT="43560" marB="43560"/>
                </a:tc>
              </a:tr>
              <a:tr h="461413">
                <a:tc>
                  <a:txBody>
                    <a:bodyPr/>
                    <a:lstStyle/>
                    <a:p>
                      <a:r>
                        <a:rPr lang="en-US" altLang="zh-TW" sz="1700" kern="1200" baseline="0" dirty="0" smtClean="0">
                          <a:solidFill>
                            <a:schemeClr val="dk1"/>
                          </a:solidFill>
                          <a:latin typeface="+mn-lt"/>
                          <a:ea typeface="+mn-ea"/>
                          <a:cs typeface="+mn-cs"/>
                        </a:rPr>
                        <a:t>Chang</a:t>
                      </a:r>
                      <a:endParaRPr lang="zh-TW" altLang="en-US" sz="1700" dirty="0"/>
                    </a:p>
                  </a:txBody>
                  <a:tcPr marL="87120" marR="87120" marT="43560" marB="43560"/>
                </a:tc>
                <a:tc>
                  <a:txBody>
                    <a:bodyPr/>
                    <a:lstStyle/>
                    <a:p>
                      <a:r>
                        <a:rPr lang="en-US" altLang="zh-TW" sz="1700" kern="1200" baseline="0" dirty="0" smtClean="0">
                          <a:solidFill>
                            <a:schemeClr val="dk1"/>
                          </a:solidFill>
                          <a:latin typeface="+mn-lt"/>
                          <a:ea typeface="+mn-ea"/>
                          <a:cs typeface="+mn-cs"/>
                        </a:rPr>
                        <a:t>Frank</a:t>
                      </a:r>
                      <a:endParaRPr lang="zh-TW" altLang="en-US" sz="1700" dirty="0"/>
                    </a:p>
                  </a:txBody>
                  <a:tcPr marL="87120" marR="87120" marT="43560" marB="43560"/>
                </a:tc>
                <a:tc>
                  <a:txBody>
                    <a:bodyPr/>
                    <a:lstStyle/>
                    <a:p>
                      <a:r>
                        <a:rPr lang="en-US" altLang="zh-TW" sz="1700" kern="1200" baseline="0" dirty="0" smtClean="0">
                          <a:solidFill>
                            <a:schemeClr val="dk1"/>
                          </a:solidFill>
                          <a:latin typeface="+mn-lt"/>
                          <a:ea typeface="+mn-ea"/>
                          <a:cs typeface="+mn-cs"/>
                        </a:rPr>
                        <a:t>Medicine</a:t>
                      </a:r>
                      <a:endParaRPr lang="zh-TW" altLang="en-US" sz="1700" dirty="0"/>
                    </a:p>
                  </a:txBody>
                  <a:tcPr marL="87120" marR="87120" marT="43560" marB="43560"/>
                </a:tc>
                <a:tc>
                  <a:txBody>
                    <a:bodyPr/>
                    <a:lstStyle/>
                    <a:p>
                      <a:r>
                        <a:rPr lang="en-US" altLang="zh-TW" sz="1700" kern="1200" baseline="0" dirty="0" smtClean="0">
                          <a:solidFill>
                            <a:schemeClr val="dk1"/>
                          </a:solidFill>
                          <a:latin typeface="+mn-lt"/>
                          <a:ea typeface="+mn-ea"/>
                          <a:cs typeface="+mn-cs"/>
                        </a:rPr>
                        <a:t>Z99441</a:t>
                      </a:r>
                      <a:endParaRPr lang="zh-TW" altLang="en-US" sz="1700" dirty="0"/>
                    </a:p>
                  </a:txBody>
                  <a:tcPr marL="87120" marR="87120" marT="43560" marB="43560"/>
                </a:tc>
              </a:tr>
              <a:tr h="461413">
                <a:tc>
                  <a:txBody>
                    <a:bodyPr/>
                    <a:lstStyle/>
                    <a:p>
                      <a:r>
                        <a:rPr lang="en-US" altLang="zh-TW" sz="1700" kern="1200" baseline="0" dirty="0" smtClean="0">
                          <a:solidFill>
                            <a:schemeClr val="dk1"/>
                          </a:solidFill>
                          <a:latin typeface="+mn-lt"/>
                          <a:ea typeface="+mn-ea"/>
                          <a:cs typeface="+mn-cs"/>
                        </a:rPr>
                        <a:t>Wang</a:t>
                      </a:r>
                      <a:endParaRPr lang="zh-TW" altLang="en-US" sz="1700" dirty="0"/>
                    </a:p>
                  </a:txBody>
                  <a:tcPr marL="87120" marR="87120" marT="43560" marB="43560"/>
                </a:tc>
                <a:tc>
                  <a:txBody>
                    <a:bodyPr/>
                    <a:lstStyle/>
                    <a:p>
                      <a:r>
                        <a:rPr lang="en-US" altLang="zh-TW" sz="1700" kern="1200" baseline="0" dirty="0" smtClean="0">
                          <a:solidFill>
                            <a:schemeClr val="dk1"/>
                          </a:solidFill>
                          <a:latin typeface="+mn-lt"/>
                          <a:ea typeface="+mn-ea"/>
                          <a:cs typeface="+mn-cs"/>
                        </a:rPr>
                        <a:t>Andy</a:t>
                      </a:r>
                      <a:endParaRPr lang="zh-TW" altLang="en-US" sz="1700" dirty="0"/>
                    </a:p>
                  </a:txBody>
                  <a:tcPr marL="87120" marR="87120" marT="43560" marB="43560"/>
                </a:tc>
                <a:tc>
                  <a:txBody>
                    <a:bodyPr/>
                    <a:lstStyle/>
                    <a:p>
                      <a:r>
                        <a:rPr lang="en-US" altLang="zh-TW" sz="1700" kern="1200" baseline="0" dirty="0" smtClean="0">
                          <a:solidFill>
                            <a:schemeClr val="dk1"/>
                          </a:solidFill>
                          <a:latin typeface="+mn-lt"/>
                          <a:ea typeface="+mn-ea"/>
                          <a:cs typeface="+mn-cs"/>
                        </a:rPr>
                        <a:t>Medicine</a:t>
                      </a:r>
                      <a:endParaRPr lang="zh-TW" altLang="en-US" sz="1700" dirty="0"/>
                    </a:p>
                  </a:txBody>
                  <a:tcPr marL="87120" marR="87120" marT="43560" marB="43560"/>
                </a:tc>
                <a:tc>
                  <a:txBody>
                    <a:bodyPr/>
                    <a:lstStyle/>
                    <a:p>
                      <a:r>
                        <a:rPr lang="en-US" altLang="zh-TW" sz="1700" kern="1200" baseline="0" dirty="0" smtClean="0">
                          <a:solidFill>
                            <a:schemeClr val="dk1"/>
                          </a:solidFill>
                          <a:latin typeface="+mn-lt"/>
                          <a:ea typeface="+mn-ea"/>
                          <a:cs typeface="+mn-cs"/>
                        </a:rPr>
                        <a:t>S94717</a:t>
                      </a:r>
                      <a:endParaRPr lang="zh-TW" altLang="en-US" sz="1700" dirty="0"/>
                    </a:p>
                  </a:txBody>
                  <a:tcPr marL="87120" marR="87120" marT="43560" marB="43560"/>
                </a:tc>
              </a:tr>
            </a:tbl>
          </a:graphicData>
        </a:graphic>
      </p:graphicFrame>
      <p:cxnSp>
        <p:nvCxnSpPr>
          <p:cNvPr id="9" name="直線接點 8"/>
          <p:cNvCxnSpPr/>
          <p:nvPr/>
        </p:nvCxnSpPr>
        <p:spPr>
          <a:xfrm>
            <a:off x="539552" y="5373216"/>
            <a:ext cx="7776864"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1" name="直線接點 10"/>
          <p:cNvCxnSpPr/>
          <p:nvPr/>
        </p:nvCxnSpPr>
        <p:spPr>
          <a:xfrm rot="5400000">
            <a:off x="2986656" y="5193196"/>
            <a:ext cx="2664296"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 xmlns:p14="http://schemas.microsoft.com/office/powerpoint/2010/main" val="3103204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1000"/>
                                        <p:tgtEl>
                                          <p:spTgt spid="3">
                                            <p:txEl>
                                              <p:pRg st="3" end="3"/>
                                            </p:txEl>
                                          </p:spTgt>
                                        </p:tgtEl>
                                      </p:cBhvr>
                                    </p:animEffect>
                                  </p:childTnLst>
                                </p:cTn>
                              </p:par>
                              <p:par>
                                <p:cTn id="11" presetID="10" presetClass="exit" presetSubtype="0" fill="hold" nodeType="withEffect">
                                  <p:stCondLst>
                                    <p:cond delay="0"/>
                                  </p:stCondLst>
                                  <p:childTnLst>
                                    <p:animEffect transition="out" filter="fade">
                                      <p:cBhvr>
                                        <p:cTn id="12" dur="1000"/>
                                        <p:tgtEl>
                                          <p:spTgt spid="9"/>
                                        </p:tgtEl>
                                      </p:cBhvr>
                                    </p:animEffect>
                                    <p:set>
                                      <p:cBhvr>
                                        <p:cTn id="13" dur="1" fill="hold">
                                          <p:stCondLst>
                                            <p:cond delay="999"/>
                                          </p:stCondLst>
                                        </p:cTn>
                                        <p:tgtEl>
                                          <p:spTgt spid="9"/>
                                        </p:tgtEl>
                                        <p:attrNameLst>
                                          <p:attrName>style.visibility</p:attrName>
                                        </p:attrNameLst>
                                      </p:cBhvr>
                                      <p:to>
                                        <p:strVal val="hidden"/>
                                      </p:to>
                                    </p:se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Properties</a:t>
            </a:r>
            <a:endParaRPr lang="zh-TW" altLang="en-US" dirty="0"/>
          </a:p>
        </p:txBody>
      </p:sp>
      <p:sp>
        <p:nvSpPr>
          <p:cNvPr id="3" name="內容版面配置區 2"/>
          <p:cNvSpPr>
            <a:spLocks noGrp="1"/>
          </p:cNvSpPr>
          <p:nvPr>
            <p:ph idx="1"/>
          </p:nvPr>
        </p:nvSpPr>
        <p:spPr>
          <a:xfrm>
            <a:off x="457200" y="1600200"/>
            <a:ext cx="8229600" cy="4997152"/>
          </a:xfrm>
        </p:spPr>
        <p:txBody>
          <a:bodyPr>
            <a:normAutofit/>
          </a:bodyPr>
          <a:lstStyle/>
          <a:p>
            <a:r>
              <a:rPr lang="en-US" altLang="zh-TW" dirty="0" smtClean="0">
                <a:latin typeface="+mj-lt"/>
              </a:rPr>
              <a:t>Concurrency control</a:t>
            </a:r>
          </a:p>
          <a:p>
            <a:pPr lvl="1"/>
            <a:r>
              <a:rPr lang="en-US" altLang="zh-TW" dirty="0" smtClean="0">
                <a:latin typeface="+mj-lt"/>
              </a:rPr>
              <a:t>Make sure the distributed database is in a consistent state after a transaction</a:t>
            </a:r>
          </a:p>
          <a:p>
            <a:r>
              <a:rPr lang="en-US" altLang="zh-TW" dirty="0" smtClean="0">
                <a:latin typeface="+mj-lt"/>
              </a:rPr>
              <a:t>Reliability protocols</a:t>
            </a:r>
          </a:p>
          <a:p>
            <a:pPr lvl="1"/>
            <a:r>
              <a:rPr lang="en-US" altLang="zh-TW" dirty="0" smtClean="0">
                <a:latin typeface="+mj-lt"/>
              </a:rPr>
              <a:t>Make sure termination of transactions in the face of failures (system failure, storage failure, lost message, network partition, etc)</a:t>
            </a:r>
          </a:p>
          <a:p>
            <a:r>
              <a:rPr lang="en-US" altLang="zh-TW" dirty="0" smtClean="0">
                <a:latin typeface="+mj-lt"/>
              </a:rPr>
              <a:t>One copy equivalence</a:t>
            </a:r>
          </a:p>
          <a:p>
            <a:pPr lvl="1"/>
            <a:r>
              <a:rPr lang="en-US" altLang="zh-TW" dirty="0" smtClean="0">
                <a:latin typeface="+mj-lt"/>
              </a:rPr>
              <a:t>The same data item in all replicas must be the same</a:t>
            </a:r>
            <a:endParaRPr lang="zh-TW" altLang="en-US" dirty="0">
              <a:latin typeface="+mj-lt"/>
            </a:endParaRPr>
          </a:p>
        </p:txBody>
      </p:sp>
    </p:spTree>
    <p:extLst>
      <p:ext uri="{BB962C8B-B14F-4D97-AF65-F5344CB8AC3E}">
        <p14:creationId xmlns="" xmlns:p14="http://schemas.microsoft.com/office/powerpoint/2010/main" val="156682276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Query Optimization</a:t>
            </a:r>
            <a:endParaRPr lang="zh-TW" altLang="en-US" dirty="0"/>
          </a:p>
        </p:txBody>
      </p:sp>
      <p:sp>
        <p:nvSpPr>
          <p:cNvPr id="3" name="內容版面配置區 2"/>
          <p:cNvSpPr>
            <a:spLocks noGrp="1"/>
          </p:cNvSpPr>
          <p:nvPr>
            <p:ph idx="1"/>
          </p:nvPr>
        </p:nvSpPr>
        <p:spPr/>
        <p:txBody>
          <a:bodyPr>
            <a:normAutofit fontScale="92500"/>
          </a:bodyPr>
          <a:lstStyle/>
          <a:p>
            <a:r>
              <a:rPr lang="en-US" altLang="zh-TW" dirty="0" smtClean="0">
                <a:latin typeface="+mj-lt"/>
              </a:rPr>
              <a:t>Looking for the best execution strategy for a given query</a:t>
            </a:r>
          </a:p>
          <a:p>
            <a:r>
              <a:rPr lang="en-US" altLang="zh-TW" dirty="0" smtClean="0">
                <a:latin typeface="+mj-lt"/>
              </a:rPr>
              <a:t>Typically done in 4 steps</a:t>
            </a:r>
          </a:p>
          <a:p>
            <a:pPr lvl="1"/>
            <a:r>
              <a:rPr lang="en-US" altLang="zh-TW" dirty="0" smtClean="0">
                <a:latin typeface="+mj-lt"/>
              </a:rPr>
              <a:t>query decomposition: translate query to relational algebra (for relational database) and analyze/simplify it</a:t>
            </a:r>
          </a:p>
          <a:p>
            <a:pPr lvl="1"/>
            <a:r>
              <a:rPr lang="en-US" altLang="zh-TW" dirty="0" smtClean="0">
                <a:latin typeface="+mj-lt"/>
              </a:rPr>
              <a:t>data localization: decide which fragments are involved and generate local queries to fragments</a:t>
            </a:r>
          </a:p>
          <a:p>
            <a:pPr lvl="1"/>
            <a:r>
              <a:rPr lang="en-US" altLang="zh-TW" dirty="0" smtClean="0">
                <a:latin typeface="+mj-lt"/>
              </a:rPr>
              <a:t>global optimization: finding the best execution strategy of queries and messages to fragments</a:t>
            </a:r>
          </a:p>
          <a:p>
            <a:pPr lvl="1"/>
            <a:r>
              <a:rPr lang="en-US" altLang="zh-TW" dirty="0" smtClean="0">
                <a:latin typeface="+mj-lt"/>
              </a:rPr>
              <a:t>local optimization: optimize the query at a node for a fragment</a:t>
            </a:r>
          </a:p>
          <a:p>
            <a:r>
              <a:rPr lang="en-US" altLang="zh-TW" dirty="0" smtClean="0">
                <a:latin typeface="+mj-lt"/>
              </a:rPr>
              <a:t>Sophisticated topic</a:t>
            </a:r>
            <a:endParaRPr lang="zh-TW" altLang="en-US" dirty="0">
              <a:latin typeface="+mj-lt"/>
            </a:endParaRPr>
          </a:p>
        </p:txBody>
      </p:sp>
    </p:spTree>
    <p:extLst>
      <p:ext uri="{BB962C8B-B14F-4D97-AF65-F5344CB8AC3E}">
        <p14:creationId xmlns="" xmlns:p14="http://schemas.microsoft.com/office/powerpoint/2010/main" val="389198700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Storage System for Structured Data</a:t>
            </a:r>
            <a:endParaRPr lang="zh-TW" altLang="en-US" dirty="0"/>
          </a:p>
        </p:txBody>
      </p:sp>
      <p:sp>
        <p:nvSpPr>
          <p:cNvPr id="5" name="文字版面配置區 4"/>
          <p:cNvSpPr>
            <a:spLocks noGrp="1"/>
          </p:cNvSpPr>
          <p:nvPr>
            <p:ph type="body" idx="1"/>
          </p:nvPr>
        </p:nvSpPr>
        <p:spPr/>
        <p:txBody>
          <a:bodyPr>
            <a:normAutofit fontScale="92500" lnSpcReduction="20000"/>
          </a:bodyPr>
          <a:lstStyle/>
          <a:p>
            <a:r>
              <a:rPr lang="en-US" altLang="zh-TW" dirty="0" smtClean="0">
                <a:solidFill>
                  <a:schemeClr val="bg1">
                    <a:lumMod val="50000"/>
                  </a:schemeClr>
                </a:solidFill>
              </a:rPr>
              <a:t>Database Overview</a:t>
            </a:r>
          </a:p>
          <a:p>
            <a:r>
              <a:rPr lang="en-US" altLang="zh-TW" dirty="0">
                <a:solidFill>
                  <a:schemeClr val="bg1">
                    <a:lumMod val="50000"/>
                  </a:schemeClr>
                </a:solidFill>
              </a:rPr>
              <a:t>Relational Database (SQL)</a:t>
            </a:r>
          </a:p>
          <a:p>
            <a:r>
              <a:rPr lang="en-US" altLang="zh-TW" dirty="0">
                <a:solidFill>
                  <a:schemeClr val="bg1">
                    <a:lumMod val="50000"/>
                  </a:schemeClr>
                </a:solidFill>
              </a:rPr>
              <a:t>Non-relational Database </a:t>
            </a:r>
            <a:r>
              <a:rPr lang="en-US" altLang="zh-TW" dirty="0" smtClean="0">
                <a:solidFill>
                  <a:schemeClr val="bg1">
                    <a:lumMod val="50000"/>
                  </a:schemeClr>
                </a:solidFill>
              </a:rPr>
              <a:t>Introduction (NOSQL/</a:t>
            </a:r>
            <a:r>
              <a:rPr lang="en-US" altLang="zh-TW" dirty="0" err="1" smtClean="0">
                <a:solidFill>
                  <a:schemeClr val="bg1">
                    <a:lumMod val="50000"/>
                  </a:schemeClr>
                </a:solidFill>
              </a:rPr>
              <a:t>NoREL</a:t>
            </a:r>
            <a:r>
              <a:rPr lang="en-US" altLang="zh-TW" dirty="0" smtClean="0">
                <a:solidFill>
                  <a:schemeClr val="bg1">
                    <a:lumMod val="50000"/>
                  </a:schemeClr>
                </a:solidFill>
              </a:rPr>
              <a:t>)</a:t>
            </a:r>
          </a:p>
          <a:p>
            <a:r>
              <a:rPr lang="en-US" altLang="zh-TW" sz="2100" dirty="0"/>
              <a:t>Google </a:t>
            </a:r>
            <a:r>
              <a:rPr lang="en-US" altLang="zh-TW" sz="2100" dirty="0" err="1"/>
              <a:t>Bigtable</a:t>
            </a:r>
            <a:endParaRPr lang="en-US" altLang="zh-TW" sz="2100" dirty="0"/>
          </a:p>
          <a:p>
            <a:r>
              <a:rPr lang="en-US" altLang="zh-TW" dirty="0" err="1" smtClean="0">
                <a:solidFill>
                  <a:schemeClr val="bg1">
                    <a:lumMod val="50000"/>
                  </a:schemeClr>
                </a:solidFill>
              </a:rPr>
              <a:t>Hadoop</a:t>
            </a:r>
            <a:r>
              <a:rPr lang="en-US" altLang="zh-TW" dirty="0" smtClean="0">
                <a:solidFill>
                  <a:schemeClr val="bg1">
                    <a:lumMod val="50000"/>
                  </a:schemeClr>
                </a:solidFill>
              </a:rPr>
              <a:t> (</a:t>
            </a:r>
            <a:r>
              <a:rPr lang="en-US" altLang="zh-TW" dirty="0" err="1" smtClean="0">
                <a:solidFill>
                  <a:schemeClr val="bg1">
                    <a:lumMod val="50000"/>
                  </a:schemeClr>
                </a:solidFill>
              </a:rPr>
              <a:t>Hbase</a:t>
            </a:r>
            <a:r>
              <a:rPr lang="en-US" altLang="zh-TW" dirty="0" smtClean="0">
                <a:solidFill>
                  <a:schemeClr val="bg1">
                    <a:lumMod val="50000"/>
                  </a:schemeClr>
                </a:solidFill>
              </a:rPr>
              <a:t>)</a:t>
            </a:r>
            <a:endParaRPr lang="zh-TW" altLang="en-US" dirty="0">
              <a:solidFill>
                <a:schemeClr val="bg1">
                  <a:lumMod val="50000"/>
                </a:schemeClr>
              </a:solidFill>
            </a:endParaRPr>
          </a:p>
        </p:txBody>
      </p:sp>
    </p:spTree>
    <p:extLst>
      <p:ext uri="{BB962C8B-B14F-4D97-AF65-F5344CB8AC3E}">
        <p14:creationId xmlns="" xmlns:p14="http://schemas.microsoft.com/office/powerpoint/2010/main" val="130960441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idx="4294967295"/>
          </p:nvPr>
        </p:nvSpPr>
        <p:spPr>
          <a:xfrm>
            <a:off x="1371600" y="4406900"/>
            <a:ext cx="7772400" cy="1362075"/>
          </a:xfrm>
        </p:spPr>
        <p:txBody>
          <a:bodyPr>
            <a:normAutofit fontScale="90000"/>
          </a:bodyPr>
          <a:lstStyle/>
          <a:p>
            <a:r>
              <a:rPr lang="en-US" altLang="zh-TW" dirty="0" err="1" smtClean="0"/>
              <a:t>Bigtable</a:t>
            </a:r>
            <a:r>
              <a:rPr lang="zh-TW" altLang="en-US" dirty="0" smtClean="0"/>
              <a:t/>
            </a:r>
            <a:br>
              <a:rPr lang="zh-TW" altLang="en-US" dirty="0" smtClean="0"/>
            </a:br>
            <a:endParaRPr lang="zh-TW" altLang="en-US" dirty="0"/>
          </a:p>
        </p:txBody>
      </p:sp>
      <p:sp>
        <p:nvSpPr>
          <p:cNvPr id="5" name="文字版面配置區 4"/>
          <p:cNvSpPr>
            <a:spLocks noGrp="1"/>
          </p:cNvSpPr>
          <p:nvPr>
            <p:ph type="body" idx="4294967295"/>
          </p:nvPr>
        </p:nvSpPr>
        <p:spPr>
          <a:xfrm>
            <a:off x="1371600" y="2906713"/>
            <a:ext cx="7772400" cy="1500187"/>
          </a:xfrm>
        </p:spPr>
        <p:txBody>
          <a:bodyPr>
            <a:normAutofit/>
          </a:bodyPr>
          <a:lstStyle/>
          <a:p>
            <a:pPr marL="0" indent="0">
              <a:buNone/>
            </a:pPr>
            <a:r>
              <a:rPr lang="en-US" altLang="zh-TW" dirty="0" smtClean="0"/>
              <a:t>How to manage structured data in a distributed storage system that is designed to scale to a very large size …</a:t>
            </a:r>
            <a:endParaRPr lang="zh-TW" alt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Overview</a:t>
            </a:r>
            <a:endParaRPr lang="zh-TW" altLang="en-US" dirty="0"/>
          </a:p>
        </p:txBody>
      </p:sp>
      <p:sp>
        <p:nvSpPr>
          <p:cNvPr id="3" name="內容版面配置區 2"/>
          <p:cNvSpPr>
            <a:spLocks noGrp="1"/>
          </p:cNvSpPr>
          <p:nvPr>
            <p:ph idx="1"/>
          </p:nvPr>
        </p:nvSpPr>
        <p:spPr/>
        <p:txBody>
          <a:bodyPr>
            <a:normAutofit/>
          </a:bodyPr>
          <a:lstStyle/>
          <a:p>
            <a:r>
              <a:rPr lang="en-US" altLang="zh-TW" dirty="0" err="1" smtClean="0">
                <a:latin typeface="+mj-lt"/>
              </a:rPr>
              <a:t>Bigtable</a:t>
            </a:r>
            <a:r>
              <a:rPr lang="en-US" altLang="zh-TW" dirty="0" smtClean="0">
                <a:latin typeface="+mj-lt"/>
              </a:rPr>
              <a:t> Introduction</a:t>
            </a:r>
          </a:p>
          <a:p>
            <a:endParaRPr lang="en-US" altLang="zh-TW" dirty="0" smtClean="0">
              <a:latin typeface="+mj-lt"/>
            </a:endParaRPr>
          </a:p>
          <a:p>
            <a:r>
              <a:rPr lang="en-US" altLang="zh-TW" dirty="0" smtClean="0">
                <a:latin typeface="+mj-lt"/>
              </a:rPr>
              <a:t>Implementation</a:t>
            </a:r>
          </a:p>
          <a:p>
            <a:endParaRPr lang="en-US" altLang="zh-TW" dirty="0" smtClean="0">
              <a:latin typeface="+mj-lt"/>
            </a:endParaRPr>
          </a:p>
          <a:p>
            <a:r>
              <a:rPr lang="en-US" altLang="zh-TW" dirty="0" smtClean="0">
                <a:latin typeface="+mj-lt"/>
              </a:rPr>
              <a:t>Details</a:t>
            </a:r>
          </a:p>
          <a:p>
            <a:endParaRPr lang="en-US" altLang="zh-TW" dirty="0" smtClean="0">
              <a:latin typeface="+mj-lt"/>
            </a:endParaRPr>
          </a:p>
          <a:p>
            <a:r>
              <a:rPr lang="en-US" altLang="zh-TW" dirty="0" smtClean="0">
                <a:latin typeface="+mj-lt"/>
              </a:rPr>
              <a:t>Conclusions</a:t>
            </a:r>
          </a:p>
          <a:p>
            <a:pPr lvl="1"/>
            <a:endParaRPr lang="en-US" altLang="zh-TW" dirty="0" smtClean="0">
              <a:latin typeface="+mj-lt"/>
            </a:endParaRPr>
          </a:p>
          <a:p>
            <a:endParaRPr lang="en-US" altLang="zh-TW" dirty="0" smtClean="0">
              <a:latin typeface="+mj-lt"/>
            </a:endParaRPr>
          </a:p>
          <a:p>
            <a:endParaRPr lang="zh-TW" altLang="en-US" dirty="0">
              <a:latin typeface="+mj-lt"/>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Bigtable</a:t>
            </a:r>
            <a:r>
              <a:rPr lang="en-US" altLang="zh-TW" dirty="0" smtClean="0"/>
              <a:t> Introduction</a:t>
            </a:r>
            <a:endParaRPr lang="zh-TW" altLang="en-US" dirty="0"/>
          </a:p>
        </p:txBody>
      </p:sp>
      <p:sp>
        <p:nvSpPr>
          <p:cNvPr id="3" name="文字版面配置區 2"/>
          <p:cNvSpPr>
            <a:spLocks noGrp="1"/>
          </p:cNvSpPr>
          <p:nvPr>
            <p:ph type="body" idx="1"/>
          </p:nvPr>
        </p:nvSpPr>
        <p:spPr/>
        <p:txBody>
          <a:bodyPr/>
          <a:lstStyle/>
          <a:p>
            <a:r>
              <a:rPr lang="en-US" altLang="zh-TW" dirty="0" smtClean="0"/>
              <a:t>Motivation</a:t>
            </a:r>
          </a:p>
          <a:p>
            <a:r>
              <a:rPr lang="en-US" altLang="zh-TW" dirty="0" smtClean="0">
                <a:solidFill>
                  <a:schemeClr val="bg1">
                    <a:lumMod val="50000"/>
                  </a:schemeClr>
                </a:solidFill>
              </a:rPr>
              <a:t>Building Model</a:t>
            </a:r>
          </a:p>
          <a:p>
            <a:r>
              <a:rPr lang="en-US" altLang="zh-TW" dirty="0" smtClean="0">
                <a:solidFill>
                  <a:schemeClr val="bg1">
                    <a:lumMod val="50000"/>
                  </a:schemeClr>
                </a:solidFill>
              </a:rPr>
              <a:t>Data Model</a:t>
            </a:r>
            <a:endParaRPr lang="zh-TW" altLang="en-US" dirty="0">
              <a:solidFill>
                <a:schemeClr val="bg1">
                  <a:lumMod val="50000"/>
                </a:schemeClr>
              </a:solidFill>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Motivation</a:t>
            </a:r>
            <a:endParaRPr lang="zh-TW" altLang="en-US" dirty="0"/>
          </a:p>
        </p:txBody>
      </p:sp>
      <p:sp>
        <p:nvSpPr>
          <p:cNvPr id="3" name="內容版面配置區 2"/>
          <p:cNvSpPr>
            <a:spLocks noGrp="1"/>
          </p:cNvSpPr>
          <p:nvPr>
            <p:ph idx="1"/>
          </p:nvPr>
        </p:nvSpPr>
        <p:spPr>
          <a:xfrm>
            <a:off x="457200" y="1600200"/>
            <a:ext cx="8229600" cy="4997152"/>
          </a:xfrm>
        </p:spPr>
        <p:txBody>
          <a:bodyPr>
            <a:normAutofit/>
          </a:bodyPr>
          <a:lstStyle/>
          <a:p>
            <a:r>
              <a:rPr lang="en-US" altLang="zh-TW" dirty="0" smtClean="0">
                <a:latin typeface="+mj-lt"/>
              </a:rPr>
              <a:t>Lots of (semi-)structured data at Google</a:t>
            </a:r>
          </a:p>
          <a:p>
            <a:pPr lvl="1"/>
            <a:r>
              <a:rPr lang="en-US" altLang="zh-TW" dirty="0" smtClean="0">
                <a:latin typeface="+mj-lt"/>
              </a:rPr>
              <a:t>Web</a:t>
            </a:r>
          </a:p>
          <a:p>
            <a:pPr lvl="2"/>
            <a:r>
              <a:rPr lang="en-US" altLang="zh-TW" dirty="0" smtClean="0">
                <a:latin typeface="+mj-lt"/>
              </a:rPr>
              <a:t>contents, crawl metadata, links/anchors/</a:t>
            </a:r>
            <a:r>
              <a:rPr lang="en-US" altLang="zh-TW" dirty="0" err="1" smtClean="0">
                <a:latin typeface="+mj-lt"/>
              </a:rPr>
              <a:t>pagerank</a:t>
            </a:r>
            <a:r>
              <a:rPr lang="en-US" altLang="zh-TW" dirty="0" smtClean="0">
                <a:latin typeface="+mj-lt"/>
              </a:rPr>
              <a:t>, …</a:t>
            </a:r>
          </a:p>
          <a:p>
            <a:pPr lvl="1"/>
            <a:r>
              <a:rPr lang="en-US" altLang="zh-TW" dirty="0" smtClean="0">
                <a:latin typeface="+mj-lt"/>
              </a:rPr>
              <a:t>Per-user data</a:t>
            </a:r>
          </a:p>
          <a:p>
            <a:pPr lvl="2"/>
            <a:r>
              <a:rPr lang="en-US" altLang="zh-TW" dirty="0" smtClean="0">
                <a:latin typeface="+mj-lt"/>
              </a:rPr>
              <a:t>user preference settings, recent queries, search results, …</a:t>
            </a:r>
          </a:p>
          <a:p>
            <a:pPr lvl="1"/>
            <a:r>
              <a:rPr lang="en-US" altLang="zh-TW" dirty="0" smtClean="0">
                <a:latin typeface="+mj-lt"/>
              </a:rPr>
              <a:t>Geographic locations</a:t>
            </a:r>
          </a:p>
          <a:p>
            <a:pPr lvl="2"/>
            <a:r>
              <a:rPr lang="en-US" altLang="zh-TW" sz="1600" dirty="0" smtClean="0">
                <a:latin typeface="+mj-lt"/>
              </a:rPr>
              <a:t>physical entities (shops, restaurants, etc.), roads, satellite image data, user annotations, …</a:t>
            </a:r>
            <a:endParaRPr lang="en-US" altLang="zh-TW" dirty="0" smtClean="0">
              <a:latin typeface="+mj-lt"/>
            </a:endParaRPr>
          </a:p>
          <a:p>
            <a:r>
              <a:rPr lang="en-US" altLang="zh-TW" dirty="0" smtClean="0">
                <a:latin typeface="+mj-lt"/>
              </a:rPr>
              <a:t>Scale is large</a:t>
            </a:r>
          </a:p>
          <a:p>
            <a:pPr lvl="1"/>
            <a:r>
              <a:rPr lang="en-US" altLang="zh-TW" dirty="0" smtClean="0">
                <a:latin typeface="+mj-lt"/>
              </a:rPr>
              <a:t>Billions of URLs, many versions/page (~20K/version)</a:t>
            </a:r>
          </a:p>
          <a:p>
            <a:pPr lvl="1"/>
            <a:r>
              <a:rPr lang="en-US" altLang="zh-TW" dirty="0" smtClean="0">
                <a:latin typeface="+mj-lt"/>
              </a:rPr>
              <a:t>Hundreds of millions of users, thousands of queries/sec</a:t>
            </a:r>
          </a:p>
          <a:p>
            <a:pPr lvl="1"/>
            <a:r>
              <a:rPr lang="en-US" altLang="zh-TW" dirty="0" smtClean="0">
                <a:latin typeface="+mj-lt"/>
              </a:rPr>
              <a:t>100TB+ of satellite image data</a:t>
            </a:r>
          </a:p>
          <a:p>
            <a:pPr lvl="1"/>
            <a:endParaRPr lang="en-US" altLang="zh-TW" dirty="0" smtClean="0">
              <a:latin typeface="+mj-lt"/>
            </a:endParaRPr>
          </a:p>
          <a:p>
            <a:pPr lvl="1"/>
            <a:endParaRPr lang="zh-TW" altLang="en-US" sz="2800" dirty="0" smtClean="0">
              <a:solidFill>
                <a:schemeClr val="tx2">
                  <a:lumMod val="75000"/>
                </a:schemeClr>
              </a:solidFill>
              <a:latin typeface="+mj-lt"/>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Bigtable</a:t>
            </a:r>
            <a:r>
              <a:rPr lang="en-US" altLang="zh-TW" dirty="0" smtClean="0"/>
              <a:t> Introduction</a:t>
            </a:r>
            <a:endParaRPr lang="zh-TW" altLang="en-US" dirty="0"/>
          </a:p>
        </p:txBody>
      </p:sp>
      <p:sp>
        <p:nvSpPr>
          <p:cNvPr id="3" name="文字版面配置區 2"/>
          <p:cNvSpPr>
            <a:spLocks noGrp="1"/>
          </p:cNvSpPr>
          <p:nvPr>
            <p:ph type="body" idx="1"/>
          </p:nvPr>
        </p:nvSpPr>
        <p:spPr/>
        <p:txBody>
          <a:bodyPr/>
          <a:lstStyle/>
          <a:p>
            <a:r>
              <a:rPr lang="en-US" altLang="zh-TW" dirty="0" smtClean="0">
                <a:solidFill>
                  <a:schemeClr val="bg1">
                    <a:lumMod val="50000"/>
                  </a:schemeClr>
                </a:solidFill>
              </a:rPr>
              <a:t>Motivation</a:t>
            </a:r>
          </a:p>
          <a:p>
            <a:r>
              <a:rPr lang="en-US" altLang="zh-TW" dirty="0" smtClean="0"/>
              <a:t>Building Model</a:t>
            </a:r>
          </a:p>
          <a:p>
            <a:r>
              <a:rPr lang="en-US" altLang="zh-TW" dirty="0" smtClean="0">
                <a:solidFill>
                  <a:schemeClr val="bg1">
                    <a:lumMod val="50000"/>
                  </a:schemeClr>
                </a:solidFill>
              </a:rPr>
              <a:t>Data Model</a:t>
            </a:r>
            <a:endParaRPr lang="zh-TW" altLang="en-US" dirty="0">
              <a:solidFill>
                <a:schemeClr val="bg1">
                  <a:lumMod val="50000"/>
                </a:schemeClr>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GB" altLang="zh-TW" dirty="0" smtClean="0">
                <a:ea typeface="新細明體" charset="-120"/>
              </a:rPr>
              <a:t>Typical Cluster</a:t>
            </a:r>
            <a:endParaRPr lang="zh-TW" altLang="en-US" dirty="0"/>
          </a:p>
        </p:txBody>
      </p:sp>
      <p:sp>
        <p:nvSpPr>
          <p:cNvPr id="5" name="AutoShape 4"/>
          <p:cNvSpPr>
            <a:spLocks noChangeArrowheads="1"/>
          </p:cNvSpPr>
          <p:nvPr/>
        </p:nvSpPr>
        <p:spPr bwMode="auto">
          <a:xfrm>
            <a:off x="4778375" y="2205508"/>
            <a:ext cx="1482725" cy="395288"/>
          </a:xfrm>
          <a:prstGeom prst="roundRect">
            <a:avLst>
              <a:gd name="adj" fmla="val 403"/>
            </a:avLst>
          </a:prstGeom>
          <a:noFill/>
          <a:ln w="28440">
            <a:solidFill>
              <a:srgbClr val="009999"/>
            </a:solidFill>
            <a:round/>
            <a:headEnd/>
            <a:tailEnd/>
          </a:ln>
        </p:spPr>
        <p:txBody>
          <a:bodyPr wrap="none" anchor="ctr"/>
          <a:lstStyle/>
          <a:p>
            <a:pPr algn="ctr"/>
            <a:r>
              <a:rPr lang="en-GB" altLang="zh-TW" dirty="0" smtClean="0">
                <a:solidFill>
                  <a:srgbClr val="FF0000"/>
                </a:solidFill>
                <a:ea typeface="新細明體" charset="-120"/>
              </a:rPr>
              <a:t>Lock service</a:t>
            </a:r>
          </a:p>
        </p:txBody>
      </p:sp>
      <p:sp>
        <p:nvSpPr>
          <p:cNvPr id="8" name="AutoShape 7"/>
          <p:cNvSpPr>
            <a:spLocks noChangeArrowheads="1"/>
          </p:cNvSpPr>
          <p:nvPr/>
        </p:nvSpPr>
        <p:spPr bwMode="auto">
          <a:xfrm>
            <a:off x="7261225" y="2176933"/>
            <a:ext cx="1444626" cy="395288"/>
          </a:xfrm>
          <a:prstGeom prst="roundRect">
            <a:avLst>
              <a:gd name="adj" fmla="val 403"/>
            </a:avLst>
          </a:prstGeom>
          <a:noFill/>
          <a:ln w="28440">
            <a:solidFill>
              <a:srgbClr val="009999"/>
            </a:solidFill>
            <a:round/>
            <a:headEnd/>
            <a:tailEnd/>
          </a:ln>
        </p:spPr>
        <p:txBody>
          <a:bodyPr wrap="none" anchor="ctr"/>
          <a:lstStyle/>
          <a:p>
            <a:pPr algn="ctr"/>
            <a:r>
              <a:rPr lang="en-GB" altLang="zh-TW" dirty="0" smtClean="0">
                <a:solidFill>
                  <a:srgbClr val="FF0000"/>
                </a:solidFill>
                <a:ea typeface="新細明體" charset="-120"/>
              </a:rPr>
              <a:t>GFS master</a:t>
            </a:r>
          </a:p>
        </p:txBody>
      </p:sp>
      <p:sp>
        <p:nvSpPr>
          <p:cNvPr id="11" name="AutoShape 10"/>
          <p:cNvSpPr>
            <a:spLocks noChangeArrowheads="1"/>
          </p:cNvSpPr>
          <p:nvPr/>
        </p:nvSpPr>
        <p:spPr bwMode="auto">
          <a:xfrm>
            <a:off x="727075" y="2176933"/>
            <a:ext cx="2855913" cy="395288"/>
          </a:xfrm>
          <a:prstGeom prst="roundRect">
            <a:avLst>
              <a:gd name="adj" fmla="val 403"/>
            </a:avLst>
          </a:prstGeom>
          <a:noFill/>
          <a:ln w="28440">
            <a:solidFill>
              <a:srgbClr val="009999"/>
            </a:solidFill>
            <a:round/>
            <a:headEnd/>
            <a:tailEnd/>
          </a:ln>
        </p:spPr>
        <p:txBody>
          <a:bodyPr wrap="none" anchor="ctr"/>
          <a:lstStyle/>
          <a:p>
            <a:pPr algn="ctr"/>
            <a:r>
              <a:rPr lang="en-GB" altLang="zh-TW" dirty="0" smtClean="0">
                <a:solidFill>
                  <a:srgbClr val="FF0000"/>
                </a:solidFill>
                <a:ea typeface="新細明體" charset="-120"/>
              </a:rPr>
              <a:t>Cluster scheduling master</a:t>
            </a:r>
          </a:p>
        </p:txBody>
      </p:sp>
      <p:sp>
        <p:nvSpPr>
          <p:cNvPr id="24" name="AutoShape 14"/>
          <p:cNvSpPr>
            <a:spLocks noChangeArrowheads="1"/>
          </p:cNvSpPr>
          <p:nvPr/>
        </p:nvSpPr>
        <p:spPr bwMode="auto">
          <a:xfrm>
            <a:off x="1520826" y="4972521"/>
            <a:ext cx="1236663" cy="609600"/>
          </a:xfrm>
          <a:prstGeom prst="roundRect">
            <a:avLst>
              <a:gd name="adj" fmla="val 259"/>
            </a:avLst>
          </a:prstGeom>
          <a:ln>
            <a:headEnd/>
            <a:tailEnd/>
          </a:ln>
        </p:spPr>
        <p:style>
          <a:lnRef idx="3">
            <a:schemeClr val="lt1"/>
          </a:lnRef>
          <a:fillRef idx="1">
            <a:schemeClr val="accent5"/>
          </a:fillRef>
          <a:effectRef idx="1">
            <a:schemeClr val="accent5"/>
          </a:effectRef>
          <a:fontRef idx="minor">
            <a:schemeClr val="lt1"/>
          </a:fontRef>
        </p:style>
        <p:txBody>
          <a:bodyPr wrap="none" anchor="ctr"/>
          <a:lstStyle/>
          <a:p>
            <a:pPr algn="ctr">
              <a:lnSpc>
                <a:spcPct val="93000"/>
              </a:lnSpc>
              <a:buClr>
                <a:srgbClr val="FF000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smtClean="0">
                <a:solidFill>
                  <a:schemeClr val="bg1">
                    <a:lumMod val="95000"/>
                  </a:schemeClr>
                </a:solidFill>
                <a:ea typeface="新細明體" charset="-120"/>
              </a:rPr>
              <a:t>GFS</a:t>
            </a:r>
          </a:p>
          <a:p>
            <a:pPr algn="ctr">
              <a:buClr>
                <a:srgbClr val="FF000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err="1" smtClean="0">
                <a:solidFill>
                  <a:schemeClr val="bg1">
                    <a:lumMod val="95000"/>
                  </a:schemeClr>
                </a:solidFill>
                <a:ea typeface="新細明體" charset="-120"/>
              </a:rPr>
              <a:t>chunkserver</a:t>
            </a:r>
            <a:endParaRPr lang="en-GB" altLang="zh-TW" dirty="0">
              <a:solidFill>
                <a:schemeClr val="bg1">
                  <a:lumMod val="95000"/>
                </a:schemeClr>
              </a:solidFill>
              <a:ea typeface="新細明體" charset="-120"/>
            </a:endParaRPr>
          </a:p>
        </p:txBody>
      </p:sp>
      <p:sp>
        <p:nvSpPr>
          <p:cNvPr id="15" name="AutoShape 16"/>
          <p:cNvSpPr>
            <a:spLocks noChangeArrowheads="1"/>
          </p:cNvSpPr>
          <p:nvPr/>
        </p:nvSpPr>
        <p:spPr bwMode="auto">
          <a:xfrm>
            <a:off x="239713" y="3504083"/>
            <a:ext cx="2593975" cy="2590800"/>
          </a:xfrm>
          <a:prstGeom prst="roundRect">
            <a:avLst>
              <a:gd name="adj" fmla="val 60"/>
            </a:avLst>
          </a:prstGeom>
          <a:noFill/>
          <a:ln w="28440">
            <a:solidFill>
              <a:srgbClr val="009999"/>
            </a:solidFill>
            <a:prstDash val="dash"/>
            <a:round/>
            <a:headEnd/>
            <a:tailEnd/>
          </a:ln>
        </p:spPr>
        <p:txBody>
          <a:bodyPr wrap="none" anchor="ctr"/>
          <a:lstStyle/>
          <a:p>
            <a:endParaRPr lang="zh-TW" altLang="en-US"/>
          </a:p>
        </p:txBody>
      </p:sp>
      <p:sp>
        <p:nvSpPr>
          <p:cNvPr id="22" name="AutoShape 18"/>
          <p:cNvSpPr>
            <a:spLocks noChangeArrowheads="1"/>
          </p:cNvSpPr>
          <p:nvPr/>
        </p:nvSpPr>
        <p:spPr bwMode="auto">
          <a:xfrm>
            <a:off x="339726" y="4962996"/>
            <a:ext cx="1063625" cy="609600"/>
          </a:xfrm>
          <a:prstGeom prst="roundRect">
            <a:avLst>
              <a:gd name="adj" fmla="val 259"/>
            </a:avLst>
          </a:prstGeom>
          <a:ln>
            <a:headEnd/>
            <a:tailEnd/>
          </a:ln>
        </p:spPr>
        <p:style>
          <a:lnRef idx="3">
            <a:schemeClr val="lt1"/>
          </a:lnRef>
          <a:fillRef idx="1">
            <a:schemeClr val="accent5"/>
          </a:fillRef>
          <a:effectRef idx="1">
            <a:schemeClr val="accent5"/>
          </a:effectRef>
          <a:fontRef idx="minor">
            <a:schemeClr val="lt1"/>
          </a:fontRef>
        </p:style>
        <p:txBody>
          <a:bodyPr wrap="none" anchor="ctr"/>
          <a:lstStyle/>
          <a:p>
            <a:pPr algn="ctr">
              <a:lnSpc>
                <a:spcPct val="93000"/>
              </a:lnSpc>
              <a:buClr>
                <a:srgbClr val="FF000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smtClean="0">
                <a:solidFill>
                  <a:schemeClr val="bg1">
                    <a:lumMod val="95000"/>
                  </a:schemeClr>
                </a:solidFill>
                <a:ea typeface="新細明體" charset="-120"/>
              </a:rPr>
              <a:t>Scheduler</a:t>
            </a:r>
          </a:p>
          <a:p>
            <a:pPr algn="ctr">
              <a:buClr>
                <a:srgbClr val="FF000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smtClean="0">
                <a:solidFill>
                  <a:schemeClr val="bg1">
                    <a:lumMod val="95000"/>
                  </a:schemeClr>
                </a:solidFill>
                <a:ea typeface="新細明體" charset="-120"/>
              </a:rPr>
              <a:t>slave</a:t>
            </a:r>
            <a:endParaRPr lang="en-GB" altLang="zh-TW" dirty="0">
              <a:solidFill>
                <a:schemeClr val="bg1">
                  <a:lumMod val="95000"/>
                </a:schemeClr>
              </a:solidFill>
              <a:ea typeface="新細明體" charset="-120"/>
            </a:endParaRPr>
          </a:p>
        </p:txBody>
      </p:sp>
      <p:sp>
        <p:nvSpPr>
          <p:cNvPr id="20" name="AutoShape 21"/>
          <p:cNvSpPr>
            <a:spLocks noChangeArrowheads="1"/>
          </p:cNvSpPr>
          <p:nvPr/>
        </p:nvSpPr>
        <p:spPr bwMode="auto">
          <a:xfrm>
            <a:off x="350838" y="5644033"/>
            <a:ext cx="2406650" cy="365125"/>
          </a:xfrm>
          <a:prstGeom prst="roundRect">
            <a:avLst>
              <a:gd name="adj" fmla="val 431"/>
            </a:avLst>
          </a:prstGeom>
          <a:ln>
            <a:headEnd/>
            <a:tailEnd/>
          </a:ln>
        </p:spPr>
        <p:style>
          <a:lnRef idx="3">
            <a:schemeClr val="lt1"/>
          </a:lnRef>
          <a:fillRef idx="1">
            <a:schemeClr val="accent5"/>
          </a:fillRef>
          <a:effectRef idx="1">
            <a:schemeClr val="accent5"/>
          </a:effectRef>
          <a:fontRef idx="minor">
            <a:schemeClr val="lt1"/>
          </a:fontRef>
        </p:style>
        <p:txBody>
          <a:bodyPr wrap="none" anchor="ctr"/>
          <a:lstStyle/>
          <a:p>
            <a:pPr algn="ctr"/>
            <a:r>
              <a:rPr lang="en-GB" altLang="zh-TW" dirty="0" smtClean="0">
                <a:solidFill>
                  <a:schemeClr val="bg1">
                    <a:lumMod val="95000"/>
                  </a:schemeClr>
                </a:solidFill>
                <a:ea typeface="新細明體" charset="-120"/>
              </a:rPr>
              <a:t>Linux</a:t>
            </a:r>
          </a:p>
        </p:txBody>
      </p:sp>
      <p:sp>
        <p:nvSpPr>
          <p:cNvPr id="18" name="AutoShape 23"/>
          <p:cNvSpPr>
            <a:spLocks noChangeArrowheads="1"/>
          </p:cNvSpPr>
          <p:nvPr/>
        </p:nvSpPr>
        <p:spPr bwMode="auto">
          <a:xfrm>
            <a:off x="952501" y="3148483"/>
            <a:ext cx="1238250" cy="366713"/>
          </a:xfrm>
          <a:prstGeom prst="roundRect">
            <a:avLst>
              <a:gd name="adj" fmla="val 431"/>
            </a:avLst>
          </a:prstGeom>
          <a:noFill/>
          <a:ln w="9525">
            <a:noFill/>
            <a:round/>
            <a:headEnd/>
            <a:tailEnd/>
          </a:ln>
        </p:spPr>
        <p:txBody>
          <a:bodyPr wrap="none" lIns="90000" tIns="46800" rIns="90000" bIns="46800">
            <a:spAutoFit/>
          </a:bodyPr>
          <a:lstStyle/>
          <a:p>
            <a:pPr algn="ctr">
              <a:lnSpc>
                <a:spcPct val="93000"/>
              </a:lnSpc>
              <a:buClr>
                <a:srgbClr val="009999"/>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a:solidFill>
                  <a:srgbClr val="009999"/>
                </a:solidFill>
                <a:ea typeface="新細明體" charset="-120"/>
              </a:rPr>
              <a:t>Machine 1</a:t>
            </a:r>
          </a:p>
        </p:txBody>
      </p:sp>
      <p:sp>
        <p:nvSpPr>
          <p:cNvPr id="19" name="Line 24"/>
          <p:cNvSpPr>
            <a:spLocks noChangeShapeType="1"/>
          </p:cNvSpPr>
          <p:nvPr/>
        </p:nvSpPr>
        <p:spPr bwMode="auto">
          <a:xfrm>
            <a:off x="261938" y="4820121"/>
            <a:ext cx="2509862" cy="0"/>
          </a:xfrm>
          <a:prstGeom prst="line">
            <a:avLst/>
          </a:prstGeom>
          <a:noFill/>
          <a:ln w="28440">
            <a:solidFill>
              <a:srgbClr val="009999"/>
            </a:solidFill>
            <a:prstDash val="dash"/>
            <a:round/>
            <a:headEnd/>
            <a:tailEnd/>
          </a:ln>
        </p:spPr>
        <p:txBody>
          <a:bodyPr/>
          <a:lstStyle/>
          <a:p>
            <a:endParaRPr lang="zh-TW" altLang="en-US"/>
          </a:p>
        </p:txBody>
      </p:sp>
      <p:sp>
        <p:nvSpPr>
          <p:cNvPr id="27" name="AutoShape 26"/>
          <p:cNvSpPr>
            <a:spLocks noChangeArrowheads="1"/>
          </p:cNvSpPr>
          <p:nvPr/>
        </p:nvSpPr>
        <p:spPr bwMode="auto">
          <a:xfrm>
            <a:off x="355600" y="4294663"/>
            <a:ext cx="1150938" cy="365126"/>
          </a:xfrm>
          <a:prstGeom prst="roundRect">
            <a:avLst>
              <a:gd name="adj" fmla="val 431"/>
            </a:avLst>
          </a:prstGeom>
          <a:noFill/>
          <a:ln w="28440">
            <a:solidFill>
              <a:srgbClr val="009999"/>
            </a:solidFill>
            <a:round/>
            <a:headEnd/>
            <a:tailEnd/>
          </a:ln>
        </p:spPr>
        <p:txBody>
          <a:bodyPr wrap="none" anchor="ctr"/>
          <a:lstStyle/>
          <a:p>
            <a:pPr algn="ctr"/>
            <a:r>
              <a:rPr lang="en-GB" altLang="zh-TW" dirty="0" smtClean="0">
                <a:solidFill>
                  <a:srgbClr val="FF0000"/>
                </a:solidFill>
                <a:ea typeface="新細明體" charset="-120"/>
              </a:rPr>
              <a:t>User app2</a:t>
            </a:r>
          </a:p>
        </p:txBody>
      </p:sp>
      <p:sp>
        <p:nvSpPr>
          <p:cNvPr id="30" name="AutoShape 29"/>
          <p:cNvSpPr>
            <a:spLocks noChangeArrowheads="1"/>
          </p:cNvSpPr>
          <p:nvPr/>
        </p:nvSpPr>
        <p:spPr bwMode="auto">
          <a:xfrm>
            <a:off x="379413" y="3613621"/>
            <a:ext cx="831849" cy="609599"/>
          </a:xfrm>
          <a:prstGeom prst="roundRect">
            <a:avLst>
              <a:gd name="adj" fmla="val 259"/>
            </a:avLst>
          </a:prstGeom>
          <a:noFill/>
          <a:ln w="28440">
            <a:solidFill>
              <a:srgbClr val="009999"/>
            </a:solidFill>
            <a:round/>
            <a:headEnd/>
            <a:tailEnd/>
          </a:ln>
        </p:spPr>
        <p:txBody>
          <a:bodyPr wrap="none" anchor="ctr"/>
          <a:lstStyle/>
          <a:p>
            <a:pPr algn="ctr">
              <a:lnSpc>
                <a:spcPct val="93000"/>
              </a:lnSpc>
              <a:buClr>
                <a:srgbClr val="FF000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smtClean="0">
                <a:solidFill>
                  <a:srgbClr val="FF0000"/>
                </a:solidFill>
                <a:ea typeface="新細明體" charset="-120"/>
              </a:rPr>
              <a:t>User</a:t>
            </a:r>
          </a:p>
          <a:p>
            <a:pPr algn="ctr">
              <a:buClr>
                <a:srgbClr val="FF000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smtClean="0">
                <a:solidFill>
                  <a:srgbClr val="FF0000"/>
                </a:solidFill>
                <a:ea typeface="新細明體" charset="-120"/>
              </a:rPr>
              <a:t>app1</a:t>
            </a:r>
          </a:p>
        </p:txBody>
      </p:sp>
      <p:sp>
        <p:nvSpPr>
          <p:cNvPr id="33" name="AutoShape 32"/>
          <p:cNvSpPr>
            <a:spLocks noChangeArrowheads="1"/>
          </p:cNvSpPr>
          <p:nvPr/>
        </p:nvSpPr>
        <p:spPr bwMode="auto">
          <a:xfrm>
            <a:off x="1700213" y="3842221"/>
            <a:ext cx="1014413" cy="609599"/>
          </a:xfrm>
          <a:prstGeom prst="roundRect">
            <a:avLst>
              <a:gd name="adj" fmla="val 259"/>
            </a:avLst>
          </a:prstGeom>
          <a:noFill/>
          <a:ln w="28440">
            <a:solidFill>
              <a:srgbClr val="009999"/>
            </a:solidFill>
            <a:round/>
            <a:headEnd/>
            <a:tailEnd/>
          </a:ln>
        </p:spPr>
        <p:txBody>
          <a:bodyPr wrap="none" anchor="ctr"/>
          <a:lstStyle/>
          <a:p>
            <a:pPr algn="ctr">
              <a:lnSpc>
                <a:spcPct val="93000"/>
              </a:lnSpc>
              <a:buClr>
                <a:srgbClr val="FF000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err="1" smtClean="0">
                <a:solidFill>
                  <a:srgbClr val="FF0000"/>
                </a:solidFill>
                <a:ea typeface="新細明體" charset="-120"/>
              </a:rPr>
              <a:t>BigTable</a:t>
            </a:r>
            <a:endParaRPr lang="en-GB" altLang="zh-TW" dirty="0" smtClean="0">
              <a:solidFill>
                <a:srgbClr val="FF0000"/>
              </a:solidFill>
              <a:ea typeface="新細明體" charset="-120"/>
            </a:endParaRPr>
          </a:p>
          <a:p>
            <a:pPr algn="ctr">
              <a:buClr>
                <a:srgbClr val="FF000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smtClean="0">
                <a:solidFill>
                  <a:srgbClr val="FF0000"/>
                </a:solidFill>
                <a:ea typeface="新細明體" charset="-120"/>
              </a:rPr>
              <a:t>server</a:t>
            </a:r>
          </a:p>
        </p:txBody>
      </p:sp>
      <p:sp>
        <p:nvSpPr>
          <p:cNvPr id="35" name="AutoShape 34"/>
          <p:cNvSpPr>
            <a:spLocks noChangeArrowheads="1"/>
          </p:cNvSpPr>
          <p:nvPr/>
        </p:nvSpPr>
        <p:spPr bwMode="auto">
          <a:xfrm>
            <a:off x="5622925" y="4731221"/>
            <a:ext cx="641350" cy="641350"/>
          </a:xfrm>
          <a:prstGeom prst="roundRect">
            <a:avLst>
              <a:gd name="adj" fmla="val 245"/>
            </a:avLst>
          </a:prstGeom>
          <a:noFill/>
          <a:ln w="9525">
            <a:noFill/>
            <a:round/>
            <a:headEnd/>
            <a:tailEnd/>
          </a:ln>
        </p:spPr>
        <p:txBody>
          <a:bodyPr wrap="none" lIns="90000" tIns="46800" rIns="90000" bIns="46800">
            <a:spAutoFit/>
          </a:bodyPr>
          <a:lstStyle/>
          <a:p>
            <a:pPr algn="ctr">
              <a:lnSpc>
                <a:spcPct val="93000"/>
              </a:lnSpc>
              <a:buClr>
                <a:srgbClr val="009999"/>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sz="3600" dirty="0">
                <a:solidFill>
                  <a:srgbClr val="009999"/>
                </a:solidFill>
                <a:ea typeface="新細明體" charset="-120"/>
              </a:rPr>
              <a:t>…</a:t>
            </a:r>
          </a:p>
        </p:txBody>
      </p:sp>
      <p:sp>
        <p:nvSpPr>
          <p:cNvPr id="37" name="AutoShape 36"/>
          <p:cNvSpPr>
            <a:spLocks noChangeArrowheads="1"/>
          </p:cNvSpPr>
          <p:nvPr/>
        </p:nvSpPr>
        <p:spPr bwMode="auto">
          <a:xfrm>
            <a:off x="3198813" y="4072408"/>
            <a:ext cx="831849" cy="609601"/>
          </a:xfrm>
          <a:prstGeom prst="roundRect">
            <a:avLst>
              <a:gd name="adj" fmla="val 259"/>
            </a:avLst>
          </a:prstGeom>
          <a:noFill/>
          <a:ln w="28440">
            <a:solidFill>
              <a:srgbClr val="009999"/>
            </a:solidFill>
            <a:round/>
            <a:headEnd/>
            <a:tailEnd/>
          </a:ln>
        </p:spPr>
        <p:txBody>
          <a:bodyPr wrap="none" anchor="ctr"/>
          <a:lstStyle/>
          <a:p>
            <a:pPr algn="ctr">
              <a:lnSpc>
                <a:spcPct val="93000"/>
              </a:lnSpc>
              <a:buClr>
                <a:srgbClr val="FF000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smtClean="0">
                <a:solidFill>
                  <a:srgbClr val="FF0000"/>
                </a:solidFill>
                <a:ea typeface="新細明體" charset="-120"/>
              </a:rPr>
              <a:t>User</a:t>
            </a:r>
          </a:p>
          <a:p>
            <a:pPr algn="ctr">
              <a:buClr>
                <a:srgbClr val="FF000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smtClean="0">
                <a:solidFill>
                  <a:srgbClr val="FF0000"/>
                </a:solidFill>
                <a:ea typeface="新細明體" charset="-120"/>
              </a:rPr>
              <a:t>app1</a:t>
            </a:r>
          </a:p>
        </p:txBody>
      </p:sp>
      <p:sp>
        <p:nvSpPr>
          <p:cNvPr id="40" name="AutoShape 39"/>
          <p:cNvSpPr>
            <a:spLocks noChangeArrowheads="1"/>
          </p:cNvSpPr>
          <p:nvPr/>
        </p:nvSpPr>
        <p:spPr bwMode="auto">
          <a:xfrm>
            <a:off x="4440238" y="3842221"/>
            <a:ext cx="1014413" cy="609599"/>
          </a:xfrm>
          <a:prstGeom prst="roundRect">
            <a:avLst>
              <a:gd name="adj" fmla="val 259"/>
            </a:avLst>
          </a:prstGeom>
          <a:noFill/>
          <a:ln w="28440">
            <a:solidFill>
              <a:srgbClr val="009999"/>
            </a:solidFill>
            <a:round/>
            <a:headEnd/>
            <a:tailEnd/>
          </a:ln>
        </p:spPr>
        <p:txBody>
          <a:bodyPr wrap="none" anchor="ctr"/>
          <a:lstStyle/>
          <a:p>
            <a:pPr algn="ctr">
              <a:lnSpc>
                <a:spcPct val="93000"/>
              </a:lnSpc>
              <a:buClr>
                <a:srgbClr val="FF000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err="1" smtClean="0">
                <a:solidFill>
                  <a:srgbClr val="FF0000"/>
                </a:solidFill>
                <a:ea typeface="新細明體" charset="-120"/>
              </a:rPr>
              <a:t>BigTable</a:t>
            </a:r>
            <a:endParaRPr lang="en-GB" altLang="zh-TW" dirty="0" smtClean="0">
              <a:solidFill>
                <a:srgbClr val="FF0000"/>
              </a:solidFill>
              <a:ea typeface="新細明體" charset="-120"/>
            </a:endParaRPr>
          </a:p>
          <a:p>
            <a:pPr algn="ctr">
              <a:buClr>
                <a:srgbClr val="FF000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smtClean="0">
                <a:solidFill>
                  <a:srgbClr val="FF0000"/>
                </a:solidFill>
                <a:ea typeface="新細明體" charset="-120"/>
              </a:rPr>
              <a:t>server</a:t>
            </a:r>
          </a:p>
        </p:txBody>
      </p:sp>
      <p:sp>
        <p:nvSpPr>
          <p:cNvPr id="42" name="AutoShape 41"/>
          <p:cNvSpPr>
            <a:spLocks noChangeArrowheads="1"/>
          </p:cNvSpPr>
          <p:nvPr/>
        </p:nvSpPr>
        <p:spPr bwMode="auto">
          <a:xfrm>
            <a:off x="6950075" y="1954683"/>
            <a:ext cx="1957388" cy="820738"/>
          </a:xfrm>
          <a:prstGeom prst="roundRect">
            <a:avLst>
              <a:gd name="adj" fmla="val 190"/>
            </a:avLst>
          </a:prstGeom>
          <a:noFill/>
          <a:ln w="28440">
            <a:solidFill>
              <a:srgbClr val="FFCC00"/>
            </a:solidFill>
            <a:prstDash val="dash"/>
            <a:round/>
            <a:headEnd/>
            <a:tailEnd/>
          </a:ln>
        </p:spPr>
        <p:txBody>
          <a:bodyPr wrap="none" anchor="ctr"/>
          <a:lstStyle/>
          <a:p>
            <a:endParaRPr lang="zh-TW" altLang="en-US"/>
          </a:p>
        </p:txBody>
      </p:sp>
      <p:sp>
        <p:nvSpPr>
          <p:cNvPr id="43" name="AutoShape 42"/>
          <p:cNvSpPr>
            <a:spLocks noChangeArrowheads="1"/>
          </p:cNvSpPr>
          <p:nvPr/>
        </p:nvSpPr>
        <p:spPr bwMode="auto">
          <a:xfrm>
            <a:off x="4554538" y="1954683"/>
            <a:ext cx="1957387" cy="820738"/>
          </a:xfrm>
          <a:prstGeom prst="roundRect">
            <a:avLst>
              <a:gd name="adj" fmla="val 190"/>
            </a:avLst>
          </a:prstGeom>
          <a:noFill/>
          <a:ln w="28440">
            <a:solidFill>
              <a:srgbClr val="FFCC00"/>
            </a:solidFill>
            <a:prstDash val="dash"/>
            <a:round/>
            <a:headEnd/>
            <a:tailEnd/>
          </a:ln>
        </p:spPr>
        <p:txBody>
          <a:bodyPr wrap="none" anchor="ctr"/>
          <a:lstStyle/>
          <a:p>
            <a:endParaRPr lang="zh-TW" altLang="en-US"/>
          </a:p>
        </p:txBody>
      </p:sp>
      <p:sp>
        <p:nvSpPr>
          <p:cNvPr id="44" name="AutoShape 43"/>
          <p:cNvSpPr>
            <a:spLocks noChangeArrowheads="1"/>
          </p:cNvSpPr>
          <p:nvPr/>
        </p:nvSpPr>
        <p:spPr bwMode="auto">
          <a:xfrm>
            <a:off x="495300" y="1954683"/>
            <a:ext cx="3279775" cy="820738"/>
          </a:xfrm>
          <a:prstGeom prst="roundRect">
            <a:avLst>
              <a:gd name="adj" fmla="val 190"/>
            </a:avLst>
          </a:prstGeom>
          <a:noFill/>
          <a:ln w="28440">
            <a:solidFill>
              <a:srgbClr val="FFCC00"/>
            </a:solidFill>
            <a:prstDash val="dash"/>
            <a:round/>
            <a:headEnd/>
            <a:tailEnd/>
          </a:ln>
        </p:spPr>
        <p:txBody>
          <a:bodyPr wrap="none" anchor="ctr"/>
          <a:lstStyle/>
          <a:p>
            <a:endParaRPr lang="zh-TW" altLang="en-US"/>
          </a:p>
        </p:txBody>
      </p:sp>
      <p:sp>
        <p:nvSpPr>
          <p:cNvPr id="46" name="AutoShape 45"/>
          <p:cNvSpPr>
            <a:spLocks noChangeArrowheads="1"/>
          </p:cNvSpPr>
          <p:nvPr/>
        </p:nvSpPr>
        <p:spPr bwMode="auto">
          <a:xfrm>
            <a:off x="6642100" y="4050183"/>
            <a:ext cx="1876426" cy="395288"/>
          </a:xfrm>
          <a:prstGeom prst="roundRect">
            <a:avLst>
              <a:gd name="adj" fmla="val 403"/>
            </a:avLst>
          </a:prstGeom>
          <a:noFill/>
          <a:ln w="28440">
            <a:solidFill>
              <a:srgbClr val="009999"/>
            </a:solidFill>
            <a:round/>
            <a:headEnd/>
            <a:tailEnd/>
          </a:ln>
        </p:spPr>
        <p:txBody>
          <a:bodyPr wrap="none" anchor="ctr"/>
          <a:lstStyle/>
          <a:p>
            <a:pPr algn="ctr"/>
            <a:r>
              <a:rPr lang="en-GB" altLang="zh-TW" dirty="0" err="1" smtClean="0">
                <a:solidFill>
                  <a:srgbClr val="FF0000"/>
                </a:solidFill>
                <a:ea typeface="新細明體" charset="-120"/>
              </a:rPr>
              <a:t>BigTable</a:t>
            </a:r>
            <a:r>
              <a:rPr lang="en-GB" altLang="zh-TW" dirty="0" smtClean="0">
                <a:solidFill>
                  <a:srgbClr val="FF0000"/>
                </a:solidFill>
                <a:ea typeface="新細明體" charset="-120"/>
              </a:rPr>
              <a:t> master</a:t>
            </a:r>
          </a:p>
        </p:txBody>
      </p:sp>
      <p:sp>
        <p:nvSpPr>
          <p:cNvPr id="59" name="AutoShape 49"/>
          <p:cNvSpPr>
            <a:spLocks noChangeArrowheads="1"/>
          </p:cNvSpPr>
          <p:nvPr/>
        </p:nvSpPr>
        <p:spPr bwMode="auto">
          <a:xfrm>
            <a:off x="4291013" y="4972521"/>
            <a:ext cx="1236663" cy="609600"/>
          </a:xfrm>
          <a:prstGeom prst="roundRect">
            <a:avLst>
              <a:gd name="adj" fmla="val 259"/>
            </a:avLst>
          </a:prstGeom>
          <a:ln>
            <a:headEnd/>
            <a:tailEnd/>
          </a:ln>
        </p:spPr>
        <p:style>
          <a:lnRef idx="3">
            <a:schemeClr val="lt1"/>
          </a:lnRef>
          <a:fillRef idx="1">
            <a:schemeClr val="accent5"/>
          </a:fillRef>
          <a:effectRef idx="1">
            <a:schemeClr val="accent5"/>
          </a:effectRef>
          <a:fontRef idx="minor">
            <a:schemeClr val="lt1"/>
          </a:fontRef>
        </p:style>
        <p:txBody>
          <a:bodyPr wrap="none" anchor="ctr"/>
          <a:lstStyle/>
          <a:p>
            <a:pPr algn="ctr">
              <a:lnSpc>
                <a:spcPct val="93000"/>
              </a:lnSpc>
              <a:buClr>
                <a:srgbClr val="FF000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smtClean="0">
                <a:solidFill>
                  <a:schemeClr val="bg1">
                    <a:lumMod val="95000"/>
                  </a:schemeClr>
                </a:solidFill>
                <a:ea typeface="新細明體" charset="-120"/>
              </a:rPr>
              <a:t>GFS</a:t>
            </a:r>
          </a:p>
          <a:p>
            <a:pPr algn="ctr">
              <a:buClr>
                <a:srgbClr val="FF000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err="1" smtClean="0">
                <a:solidFill>
                  <a:schemeClr val="bg1">
                    <a:lumMod val="95000"/>
                  </a:schemeClr>
                </a:solidFill>
                <a:ea typeface="新細明體" charset="-120"/>
              </a:rPr>
              <a:t>chunkserver</a:t>
            </a:r>
            <a:endParaRPr lang="en-GB" altLang="zh-TW" dirty="0" smtClean="0">
              <a:solidFill>
                <a:schemeClr val="bg1">
                  <a:lumMod val="95000"/>
                </a:schemeClr>
              </a:solidFill>
              <a:ea typeface="新細明體" charset="-120"/>
            </a:endParaRPr>
          </a:p>
        </p:txBody>
      </p:sp>
      <p:sp>
        <p:nvSpPr>
          <p:cNvPr id="50" name="AutoShape 51"/>
          <p:cNvSpPr>
            <a:spLocks noChangeArrowheads="1"/>
          </p:cNvSpPr>
          <p:nvPr/>
        </p:nvSpPr>
        <p:spPr bwMode="auto">
          <a:xfrm>
            <a:off x="3009900" y="3504083"/>
            <a:ext cx="2593975" cy="2590800"/>
          </a:xfrm>
          <a:prstGeom prst="roundRect">
            <a:avLst>
              <a:gd name="adj" fmla="val 60"/>
            </a:avLst>
          </a:prstGeom>
          <a:noFill/>
          <a:ln w="28440">
            <a:solidFill>
              <a:srgbClr val="009999"/>
            </a:solidFill>
            <a:prstDash val="dash"/>
            <a:round/>
            <a:headEnd/>
            <a:tailEnd/>
          </a:ln>
        </p:spPr>
        <p:txBody>
          <a:bodyPr wrap="none" anchor="ctr"/>
          <a:lstStyle/>
          <a:p>
            <a:endParaRPr lang="zh-TW" altLang="en-US"/>
          </a:p>
        </p:txBody>
      </p:sp>
      <p:sp>
        <p:nvSpPr>
          <p:cNvPr id="57" name="AutoShape 53"/>
          <p:cNvSpPr>
            <a:spLocks noChangeArrowheads="1"/>
          </p:cNvSpPr>
          <p:nvPr/>
        </p:nvSpPr>
        <p:spPr bwMode="auto">
          <a:xfrm>
            <a:off x="3109913" y="4962996"/>
            <a:ext cx="1063625" cy="609600"/>
          </a:xfrm>
          <a:prstGeom prst="roundRect">
            <a:avLst>
              <a:gd name="adj" fmla="val 259"/>
            </a:avLst>
          </a:prstGeom>
          <a:ln>
            <a:headEnd/>
            <a:tailEnd/>
          </a:ln>
        </p:spPr>
        <p:style>
          <a:lnRef idx="3">
            <a:schemeClr val="lt1"/>
          </a:lnRef>
          <a:fillRef idx="1">
            <a:schemeClr val="accent5"/>
          </a:fillRef>
          <a:effectRef idx="1">
            <a:schemeClr val="accent5"/>
          </a:effectRef>
          <a:fontRef idx="minor">
            <a:schemeClr val="lt1"/>
          </a:fontRef>
        </p:style>
        <p:txBody>
          <a:bodyPr wrap="none" anchor="ctr"/>
          <a:lstStyle/>
          <a:p>
            <a:pPr algn="ctr">
              <a:lnSpc>
                <a:spcPct val="93000"/>
              </a:lnSpc>
              <a:buClr>
                <a:srgbClr val="FF000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smtClean="0">
                <a:solidFill>
                  <a:schemeClr val="bg1">
                    <a:lumMod val="95000"/>
                  </a:schemeClr>
                </a:solidFill>
                <a:ea typeface="新細明體" charset="-120"/>
              </a:rPr>
              <a:t>Scheduler</a:t>
            </a:r>
          </a:p>
          <a:p>
            <a:pPr algn="ctr">
              <a:buClr>
                <a:srgbClr val="FF000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smtClean="0">
                <a:solidFill>
                  <a:schemeClr val="bg1">
                    <a:lumMod val="95000"/>
                  </a:schemeClr>
                </a:solidFill>
                <a:ea typeface="新細明體" charset="-120"/>
              </a:rPr>
              <a:t>slave</a:t>
            </a:r>
          </a:p>
        </p:txBody>
      </p:sp>
      <p:sp>
        <p:nvSpPr>
          <p:cNvPr id="55" name="AutoShape 56"/>
          <p:cNvSpPr>
            <a:spLocks noChangeArrowheads="1"/>
          </p:cNvSpPr>
          <p:nvPr/>
        </p:nvSpPr>
        <p:spPr bwMode="auto">
          <a:xfrm>
            <a:off x="3121025" y="5644033"/>
            <a:ext cx="2406650" cy="365125"/>
          </a:xfrm>
          <a:prstGeom prst="roundRect">
            <a:avLst>
              <a:gd name="adj" fmla="val 431"/>
            </a:avLst>
          </a:prstGeom>
          <a:ln>
            <a:headEnd/>
            <a:tailEnd/>
          </a:ln>
        </p:spPr>
        <p:style>
          <a:lnRef idx="3">
            <a:schemeClr val="lt1"/>
          </a:lnRef>
          <a:fillRef idx="1">
            <a:schemeClr val="accent5"/>
          </a:fillRef>
          <a:effectRef idx="1">
            <a:schemeClr val="accent5"/>
          </a:effectRef>
          <a:fontRef idx="minor">
            <a:schemeClr val="lt1"/>
          </a:fontRef>
        </p:style>
        <p:txBody>
          <a:bodyPr wrap="none" anchor="ctr"/>
          <a:lstStyle/>
          <a:p>
            <a:pPr algn="ctr"/>
            <a:r>
              <a:rPr lang="en-GB" altLang="zh-TW" dirty="0" smtClean="0">
                <a:solidFill>
                  <a:schemeClr val="bg1">
                    <a:lumMod val="95000"/>
                  </a:schemeClr>
                </a:solidFill>
                <a:ea typeface="新細明體" charset="-120"/>
              </a:rPr>
              <a:t>Linux</a:t>
            </a:r>
          </a:p>
        </p:txBody>
      </p:sp>
      <p:sp>
        <p:nvSpPr>
          <p:cNvPr id="53" name="AutoShape 58"/>
          <p:cNvSpPr>
            <a:spLocks noChangeArrowheads="1"/>
          </p:cNvSpPr>
          <p:nvPr/>
        </p:nvSpPr>
        <p:spPr bwMode="auto">
          <a:xfrm>
            <a:off x="3722688" y="3148483"/>
            <a:ext cx="1238250" cy="366713"/>
          </a:xfrm>
          <a:prstGeom prst="roundRect">
            <a:avLst>
              <a:gd name="adj" fmla="val 431"/>
            </a:avLst>
          </a:prstGeom>
          <a:noFill/>
          <a:ln w="9525">
            <a:noFill/>
            <a:round/>
            <a:headEnd/>
            <a:tailEnd/>
          </a:ln>
        </p:spPr>
        <p:txBody>
          <a:bodyPr wrap="none" lIns="90000" tIns="46800" rIns="90000" bIns="46800">
            <a:spAutoFit/>
          </a:bodyPr>
          <a:lstStyle/>
          <a:p>
            <a:pPr algn="ctr">
              <a:lnSpc>
                <a:spcPct val="93000"/>
              </a:lnSpc>
              <a:buClr>
                <a:srgbClr val="009999"/>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a:solidFill>
                  <a:srgbClr val="009999"/>
                </a:solidFill>
                <a:ea typeface="新細明體" charset="-120"/>
              </a:rPr>
              <a:t>Machine 2</a:t>
            </a:r>
          </a:p>
        </p:txBody>
      </p:sp>
      <p:sp>
        <p:nvSpPr>
          <p:cNvPr id="54" name="Line 59"/>
          <p:cNvSpPr>
            <a:spLocks noChangeShapeType="1"/>
          </p:cNvSpPr>
          <p:nvPr/>
        </p:nvSpPr>
        <p:spPr bwMode="auto">
          <a:xfrm>
            <a:off x="3032125" y="4820121"/>
            <a:ext cx="2547987" cy="0"/>
          </a:xfrm>
          <a:prstGeom prst="line">
            <a:avLst/>
          </a:prstGeom>
          <a:noFill/>
          <a:ln w="28440">
            <a:solidFill>
              <a:srgbClr val="009999"/>
            </a:solidFill>
            <a:prstDash val="dash"/>
            <a:round/>
            <a:headEnd/>
            <a:tailEnd/>
          </a:ln>
        </p:spPr>
        <p:txBody>
          <a:bodyPr/>
          <a:lstStyle/>
          <a:p>
            <a:endParaRPr lang="zh-TW" altLang="en-US"/>
          </a:p>
        </p:txBody>
      </p:sp>
      <p:sp>
        <p:nvSpPr>
          <p:cNvPr id="72" name="AutoShape 62"/>
          <p:cNvSpPr>
            <a:spLocks noChangeArrowheads="1"/>
          </p:cNvSpPr>
          <p:nvPr/>
        </p:nvSpPr>
        <p:spPr bwMode="auto">
          <a:xfrm>
            <a:off x="7548563" y="4959821"/>
            <a:ext cx="1236663" cy="609600"/>
          </a:xfrm>
          <a:prstGeom prst="roundRect">
            <a:avLst>
              <a:gd name="adj" fmla="val 259"/>
            </a:avLst>
          </a:prstGeom>
          <a:ln>
            <a:headEnd/>
            <a:tailEnd/>
          </a:ln>
        </p:spPr>
        <p:style>
          <a:lnRef idx="3">
            <a:schemeClr val="lt1"/>
          </a:lnRef>
          <a:fillRef idx="1">
            <a:schemeClr val="accent5"/>
          </a:fillRef>
          <a:effectRef idx="1">
            <a:schemeClr val="accent5"/>
          </a:effectRef>
          <a:fontRef idx="minor">
            <a:schemeClr val="lt1"/>
          </a:fontRef>
        </p:style>
        <p:txBody>
          <a:bodyPr wrap="none" anchor="ctr"/>
          <a:lstStyle/>
          <a:p>
            <a:pPr algn="ctr">
              <a:lnSpc>
                <a:spcPct val="93000"/>
              </a:lnSpc>
              <a:buClr>
                <a:srgbClr val="FF000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smtClean="0">
                <a:solidFill>
                  <a:schemeClr val="bg1">
                    <a:lumMod val="95000"/>
                  </a:schemeClr>
                </a:solidFill>
                <a:ea typeface="新細明體" charset="-120"/>
              </a:rPr>
              <a:t>GFS</a:t>
            </a:r>
          </a:p>
          <a:p>
            <a:pPr algn="ctr">
              <a:buClr>
                <a:srgbClr val="FF000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err="1" smtClean="0">
                <a:solidFill>
                  <a:schemeClr val="bg1">
                    <a:lumMod val="95000"/>
                  </a:schemeClr>
                </a:solidFill>
                <a:ea typeface="新細明體" charset="-120"/>
              </a:rPr>
              <a:t>chunkserver</a:t>
            </a:r>
            <a:endParaRPr lang="en-GB" altLang="zh-TW" dirty="0" smtClean="0">
              <a:solidFill>
                <a:schemeClr val="bg1">
                  <a:lumMod val="95000"/>
                </a:schemeClr>
              </a:solidFill>
              <a:ea typeface="新細明體" charset="-120"/>
            </a:endParaRPr>
          </a:p>
        </p:txBody>
      </p:sp>
      <p:sp>
        <p:nvSpPr>
          <p:cNvPr id="63" name="AutoShape 64"/>
          <p:cNvSpPr>
            <a:spLocks noChangeArrowheads="1"/>
          </p:cNvSpPr>
          <p:nvPr/>
        </p:nvSpPr>
        <p:spPr bwMode="auto">
          <a:xfrm>
            <a:off x="6267450" y="3491383"/>
            <a:ext cx="2593975" cy="2592388"/>
          </a:xfrm>
          <a:prstGeom prst="roundRect">
            <a:avLst>
              <a:gd name="adj" fmla="val 60"/>
            </a:avLst>
          </a:prstGeom>
          <a:noFill/>
          <a:ln w="28440">
            <a:solidFill>
              <a:srgbClr val="009999"/>
            </a:solidFill>
            <a:prstDash val="dash"/>
            <a:round/>
            <a:headEnd/>
            <a:tailEnd/>
          </a:ln>
        </p:spPr>
        <p:txBody>
          <a:bodyPr wrap="none" anchor="ctr"/>
          <a:lstStyle/>
          <a:p>
            <a:endParaRPr lang="zh-TW" altLang="en-US"/>
          </a:p>
        </p:txBody>
      </p:sp>
      <p:sp>
        <p:nvSpPr>
          <p:cNvPr id="70" name="AutoShape 66"/>
          <p:cNvSpPr>
            <a:spLocks noChangeArrowheads="1"/>
          </p:cNvSpPr>
          <p:nvPr/>
        </p:nvSpPr>
        <p:spPr bwMode="auto">
          <a:xfrm>
            <a:off x="6367463" y="4950296"/>
            <a:ext cx="1063625" cy="609600"/>
          </a:xfrm>
          <a:prstGeom prst="roundRect">
            <a:avLst>
              <a:gd name="adj" fmla="val 259"/>
            </a:avLst>
          </a:prstGeom>
          <a:ln>
            <a:headEnd/>
            <a:tailEnd/>
          </a:ln>
        </p:spPr>
        <p:style>
          <a:lnRef idx="3">
            <a:schemeClr val="lt1"/>
          </a:lnRef>
          <a:fillRef idx="1">
            <a:schemeClr val="accent5"/>
          </a:fillRef>
          <a:effectRef idx="1">
            <a:schemeClr val="accent5"/>
          </a:effectRef>
          <a:fontRef idx="minor">
            <a:schemeClr val="lt1"/>
          </a:fontRef>
        </p:style>
        <p:txBody>
          <a:bodyPr wrap="none" anchor="ctr"/>
          <a:lstStyle/>
          <a:p>
            <a:pPr algn="ctr">
              <a:lnSpc>
                <a:spcPct val="93000"/>
              </a:lnSpc>
              <a:buClr>
                <a:srgbClr val="FF000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smtClean="0">
                <a:solidFill>
                  <a:schemeClr val="bg1">
                    <a:lumMod val="95000"/>
                  </a:schemeClr>
                </a:solidFill>
                <a:ea typeface="新細明體" charset="-120"/>
              </a:rPr>
              <a:t>Scheduler</a:t>
            </a:r>
          </a:p>
          <a:p>
            <a:pPr algn="ctr">
              <a:buClr>
                <a:srgbClr val="FF000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smtClean="0">
                <a:solidFill>
                  <a:schemeClr val="bg1">
                    <a:lumMod val="95000"/>
                  </a:schemeClr>
                </a:solidFill>
                <a:ea typeface="新細明體" charset="-120"/>
              </a:rPr>
              <a:t>slave</a:t>
            </a:r>
          </a:p>
        </p:txBody>
      </p:sp>
      <p:sp>
        <p:nvSpPr>
          <p:cNvPr id="68" name="AutoShape 69"/>
          <p:cNvSpPr>
            <a:spLocks noChangeArrowheads="1"/>
          </p:cNvSpPr>
          <p:nvPr/>
        </p:nvSpPr>
        <p:spPr bwMode="auto">
          <a:xfrm>
            <a:off x="6378575" y="5631333"/>
            <a:ext cx="2406650" cy="365125"/>
          </a:xfrm>
          <a:prstGeom prst="roundRect">
            <a:avLst>
              <a:gd name="adj" fmla="val 431"/>
            </a:avLst>
          </a:prstGeom>
          <a:ln>
            <a:headEnd/>
            <a:tailEnd/>
          </a:ln>
        </p:spPr>
        <p:style>
          <a:lnRef idx="3">
            <a:schemeClr val="lt1"/>
          </a:lnRef>
          <a:fillRef idx="1">
            <a:schemeClr val="accent5"/>
          </a:fillRef>
          <a:effectRef idx="1">
            <a:schemeClr val="accent5"/>
          </a:effectRef>
          <a:fontRef idx="minor">
            <a:schemeClr val="lt1"/>
          </a:fontRef>
        </p:style>
        <p:txBody>
          <a:bodyPr wrap="none" anchor="ctr"/>
          <a:lstStyle/>
          <a:p>
            <a:pPr algn="ctr"/>
            <a:r>
              <a:rPr lang="en-GB" altLang="zh-TW" dirty="0" smtClean="0">
                <a:solidFill>
                  <a:schemeClr val="bg1">
                    <a:lumMod val="95000"/>
                  </a:schemeClr>
                </a:solidFill>
                <a:ea typeface="新細明體" charset="-120"/>
              </a:rPr>
              <a:t>Linux</a:t>
            </a:r>
          </a:p>
        </p:txBody>
      </p:sp>
      <p:sp>
        <p:nvSpPr>
          <p:cNvPr id="66" name="AutoShape 71"/>
          <p:cNvSpPr>
            <a:spLocks noChangeArrowheads="1"/>
          </p:cNvSpPr>
          <p:nvPr/>
        </p:nvSpPr>
        <p:spPr bwMode="auto">
          <a:xfrm>
            <a:off x="6961188" y="3135783"/>
            <a:ext cx="1276350" cy="366713"/>
          </a:xfrm>
          <a:prstGeom prst="roundRect">
            <a:avLst>
              <a:gd name="adj" fmla="val 431"/>
            </a:avLst>
          </a:prstGeom>
          <a:noFill/>
          <a:ln w="9525">
            <a:noFill/>
            <a:round/>
            <a:headEnd/>
            <a:tailEnd/>
          </a:ln>
        </p:spPr>
        <p:txBody>
          <a:bodyPr wrap="none" lIns="90000" tIns="46800" rIns="90000" bIns="46800">
            <a:spAutoFit/>
          </a:bodyPr>
          <a:lstStyle/>
          <a:p>
            <a:pPr algn="ctr">
              <a:lnSpc>
                <a:spcPct val="93000"/>
              </a:lnSpc>
              <a:buClr>
                <a:srgbClr val="009999"/>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a:solidFill>
                  <a:srgbClr val="009999"/>
                </a:solidFill>
                <a:ea typeface="新細明體" charset="-120"/>
              </a:rPr>
              <a:t>Machine N</a:t>
            </a:r>
          </a:p>
        </p:txBody>
      </p:sp>
      <p:sp>
        <p:nvSpPr>
          <p:cNvPr id="67" name="Line 72"/>
          <p:cNvSpPr>
            <a:spLocks noChangeShapeType="1"/>
          </p:cNvSpPr>
          <p:nvPr/>
        </p:nvSpPr>
        <p:spPr bwMode="auto">
          <a:xfrm>
            <a:off x="6289675" y="4807421"/>
            <a:ext cx="2530797" cy="0"/>
          </a:xfrm>
          <a:prstGeom prst="line">
            <a:avLst/>
          </a:prstGeom>
          <a:noFill/>
          <a:ln w="28440">
            <a:solidFill>
              <a:srgbClr val="009999"/>
            </a:solidFill>
            <a:prstDash val="dash"/>
            <a:round/>
            <a:headEnd/>
            <a:tailEnd/>
          </a:ln>
        </p:spPr>
        <p:txBody>
          <a:bodyPr/>
          <a:lstStyle/>
          <a:p>
            <a:endParaRPr lang="zh-TW" alt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System Structure</a:t>
            </a:r>
            <a:endParaRPr lang="zh-TW" altLang="en-US" dirty="0"/>
          </a:p>
        </p:txBody>
      </p:sp>
      <p:grpSp>
        <p:nvGrpSpPr>
          <p:cNvPr id="3" name="群組 31"/>
          <p:cNvGrpSpPr/>
          <p:nvPr/>
        </p:nvGrpSpPr>
        <p:grpSpPr>
          <a:xfrm>
            <a:off x="107504" y="1196752"/>
            <a:ext cx="8856984" cy="5574278"/>
            <a:chOff x="-282264" y="319215"/>
            <a:chExt cx="9433915" cy="6614809"/>
          </a:xfrm>
        </p:grpSpPr>
        <p:cxnSp>
          <p:nvCxnSpPr>
            <p:cNvPr id="4" name="直線接點 3"/>
            <p:cNvCxnSpPr/>
            <p:nvPr/>
          </p:nvCxnSpPr>
          <p:spPr>
            <a:xfrm>
              <a:off x="-282264" y="5229200"/>
              <a:ext cx="9433915" cy="0"/>
            </a:xfrm>
            <a:prstGeom prst="line">
              <a:avLst/>
            </a:prstGeom>
            <a:ln>
              <a:prstDash val="dash"/>
            </a:ln>
          </p:spPr>
          <p:style>
            <a:lnRef idx="2">
              <a:schemeClr val="accent5"/>
            </a:lnRef>
            <a:fillRef idx="0">
              <a:schemeClr val="accent5"/>
            </a:fillRef>
            <a:effectRef idx="1">
              <a:schemeClr val="accent5"/>
            </a:effectRef>
            <a:fontRef idx="minor">
              <a:schemeClr val="tx1"/>
            </a:fontRef>
          </p:style>
        </p:cxnSp>
        <p:sp>
          <p:nvSpPr>
            <p:cNvPr id="5" name="矩形 4"/>
            <p:cNvSpPr/>
            <p:nvPr/>
          </p:nvSpPr>
          <p:spPr>
            <a:xfrm>
              <a:off x="2098551" y="910461"/>
              <a:ext cx="2232248" cy="504056"/>
            </a:xfrm>
            <a:prstGeom prst="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TW" dirty="0" err="1" smtClean="0"/>
                <a:t>Bigtable</a:t>
              </a:r>
              <a:r>
                <a:rPr lang="en-US" altLang="zh-TW" dirty="0" smtClean="0"/>
                <a:t> Master</a:t>
              </a:r>
              <a:endParaRPr lang="zh-TW" altLang="en-US" dirty="0"/>
            </a:p>
          </p:txBody>
        </p:sp>
        <p:sp>
          <p:nvSpPr>
            <p:cNvPr id="6" name="矩形 5"/>
            <p:cNvSpPr/>
            <p:nvPr/>
          </p:nvSpPr>
          <p:spPr>
            <a:xfrm>
              <a:off x="755576" y="3861048"/>
              <a:ext cx="1800200" cy="792088"/>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TW" dirty="0" err="1" smtClean="0"/>
                <a:t>Bigtable</a:t>
              </a:r>
              <a:r>
                <a:rPr lang="en-US" altLang="zh-TW" dirty="0" smtClean="0"/>
                <a:t> tablet server</a:t>
              </a:r>
              <a:endParaRPr lang="zh-TW" altLang="en-US" dirty="0"/>
            </a:p>
          </p:txBody>
        </p:sp>
        <p:sp>
          <p:nvSpPr>
            <p:cNvPr id="7" name="矩形 6"/>
            <p:cNvSpPr/>
            <p:nvPr/>
          </p:nvSpPr>
          <p:spPr>
            <a:xfrm>
              <a:off x="5580112" y="3861048"/>
              <a:ext cx="1800200" cy="792088"/>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TW" dirty="0" err="1" smtClean="0"/>
                <a:t>Bigtable</a:t>
              </a:r>
              <a:r>
                <a:rPr lang="en-US" altLang="zh-TW" dirty="0" smtClean="0"/>
                <a:t> tablet server</a:t>
              </a:r>
              <a:endParaRPr lang="zh-TW" altLang="en-US" dirty="0"/>
            </a:p>
          </p:txBody>
        </p:sp>
        <p:sp>
          <p:nvSpPr>
            <p:cNvPr id="8" name="矩形 7"/>
            <p:cNvSpPr/>
            <p:nvPr/>
          </p:nvSpPr>
          <p:spPr>
            <a:xfrm>
              <a:off x="3347864" y="3861048"/>
              <a:ext cx="1800200" cy="792088"/>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TW" dirty="0" err="1" smtClean="0"/>
                <a:t>Bigtable</a:t>
              </a:r>
              <a:r>
                <a:rPr lang="en-US" altLang="zh-TW" dirty="0" smtClean="0"/>
                <a:t> tablet server</a:t>
              </a:r>
              <a:endParaRPr lang="zh-TW" altLang="en-US" dirty="0"/>
            </a:p>
          </p:txBody>
        </p:sp>
        <p:sp>
          <p:nvSpPr>
            <p:cNvPr id="9" name="矩形 8"/>
            <p:cNvSpPr/>
            <p:nvPr/>
          </p:nvSpPr>
          <p:spPr>
            <a:xfrm>
              <a:off x="6660232" y="404664"/>
              <a:ext cx="1800200" cy="576064"/>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TW" b="1" dirty="0" err="1" smtClean="0"/>
                <a:t>Bigtable</a:t>
              </a:r>
              <a:r>
                <a:rPr lang="en-US" altLang="zh-TW" b="1" dirty="0" smtClean="0"/>
                <a:t> client</a:t>
              </a:r>
              <a:endParaRPr lang="zh-TW" altLang="en-US" dirty="0"/>
            </a:p>
          </p:txBody>
        </p:sp>
        <p:sp>
          <p:nvSpPr>
            <p:cNvPr id="10" name="矩形 9"/>
            <p:cNvSpPr/>
            <p:nvPr/>
          </p:nvSpPr>
          <p:spPr>
            <a:xfrm>
              <a:off x="6660232" y="980728"/>
              <a:ext cx="1800200" cy="576064"/>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TW" b="1" dirty="0" smtClean="0"/>
                <a:t>Client library</a:t>
              </a:r>
              <a:endParaRPr lang="zh-TW" altLang="en-US" dirty="0"/>
            </a:p>
          </p:txBody>
        </p:sp>
        <p:sp>
          <p:nvSpPr>
            <p:cNvPr id="11" name="矩形 10"/>
            <p:cNvSpPr/>
            <p:nvPr/>
          </p:nvSpPr>
          <p:spPr>
            <a:xfrm>
              <a:off x="6287448" y="5611323"/>
              <a:ext cx="2864202" cy="603906"/>
            </a:xfrm>
            <a:prstGeom prst="rect">
              <a:avLst/>
            </a:prstGeom>
            <a:solidFill>
              <a:schemeClr val="bg1">
                <a:lumMod val="65000"/>
              </a:schemeClr>
            </a:solidFill>
            <a:ln>
              <a:solidFill>
                <a:schemeClr val="bg1">
                  <a:lumMod val="75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TW" b="1" dirty="0" smtClean="0"/>
                <a:t>Lock service(Chubby)</a:t>
              </a:r>
              <a:endParaRPr lang="zh-TW" altLang="en-US" dirty="0"/>
            </a:p>
          </p:txBody>
        </p:sp>
        <p:sp>
          <p:nvSpPr>
            <p:cNvPr id="12" name="矩形 11"/>
            <p:cNvSpPr/>
            <p:nvPr/>
          </p:nvSpPr>
          <p:spPr>
            <a:xfrm>
              <a:off x="3103895" y="5611323"/>
              <a:ext cx="2864203" cy="603906"/>
            </a:xfrm>
            <a:prstGeom prst="rect">
              <a:avLst/>
            </a:prstGeom>
            <a:solidFill>
              <a:schemeClr val="bg1">
                <a:lumMod val="65000"/>
              </a:schemeClr>
            </a:solidFill>
            <a:ln>
              <a:solidFill>
                <a:schemeClr val="bg1">
                  <a:lumMod val="75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TW" b="1" dirty="0" smtClean="0"/>
                <a:t>Google File system (GFS)</a:t>
              </a:r>
              <a:endParaRPr lang="zh-TW" altLang="en-US" dirty="0"/>
            </a:p>
          </p:txBody>
        </p:sp>
        <p:sp>
          <p:nvSpPr>
            <p:cNvPr id="13" name="矩形 12"/>
            <p:cNvSpPr/>
            <p:nvPr/>
          </p:nvSpPr>
          <p:spPr>
            <a:xfrm>
              <a:off x="-128867" y="5611323"/>
              <a:ext cx="2864202" cy="603906"/>
            </a:xfrm>
            <a:prstGeom prst="rect">
              <a:avLst/>
            </a:prstGeom>
            <a:solidFill>
              <a:schemeClr val="bg1">
                <a:lumMod val="65000"/>
              </a:schemeClr>
            </a:solidFill>
            <a:ln>
              <a:solidFill>
                <a:schemeClr val="bg1">
                  <a:lumMod val="75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TW" b="1" dirty="0" smtClean="0"/>
                <a:t>Cluster scheduling system</a:t>
              </a:r>
              <a:endParaRPr lang="zh-TW" altLang="en-US" dirty="0"/>
            </a:p>
          </p:txBody>
        </p:sp>
        <p:sp>
          <p:nvSpPr>
            <p:cNvPr id="14" name="矩形 13"/>
            <p:cNvSpPr/>
            <p:nvPr/>
          </p:nvSpPr>
          <p:spPr>
            <a:xfrm>
              <a:off x="385077" y="6167045"/>
              <a:ext cx="1890067" cy="766979"/>
            </a:xfrm>
            <a:prstGeom prst="rect">
              <a:avLst/>
            </a:prstGeom>
          </p:spPr>
          <p:txBody>
            <a:bodyPr wrap="square">
              <a:spAutoFit/>
            </a:bodyPr>
            <a:lstStyle/>
            <a:p>
              <a:pPr algn="ctr"/>
              <a:r>
                <a:rPr lang="en-US" altLang="zh-TW" dirty="0" smtClean="0"/>
                <a:t>Handles failover, monitoring</a:t>
              </a:r>
              <a:endParaRPr lang="zh-TW" altLang="en-US" dirty="0"/>
            </a:p>
          </p:txBody>
        </p:sp>
        <p:sp>
          <p:nvSpPr>
            <p:cNvPr id="15" name="矩形 14"/>
            <p:cNvSpPr/>
            <p:nvPr/>
          </p:nvSpPr>
          <p:spPr>
            <a:xfrm>
              <a:off x="3348830" y="6167045"/>
              <a:ext cx="2428086" cy="438274"/>
            </a:xfrm>
            <a:prstGeom prst="rect">
              <a:avLst/>
            </a:prstGeom>
          </p:spPr>
          <p:txBody>
            <a:bodyPr wrap="square">
              <a:spAutoFit/>
            </a:bodyPr>
            <a:lstStyle/>
            <a:p>
              <a:pPr algn="ctr"/>
              <a:r>
                <a:rPr lang="en-US" altLang="zh-TW" dirty="0" smtClean="0"/>
                <a:t>Holds tablet data, logs</a:t>
              </a:r>
              <a:endParaRPr lang="zh-TW" altLang="en-US" dirty="0"/>
            </a:p>
          </p:txBody>
        </p:sp>
        <p:sp>
          <p:nvSpPr>
            <p:cNvPr id="16" name="矩形 15"/>
            <p:cNvSpPr/>
            <p:nvPr/>
          </p:nvSpPr>
          <p:spPr>
            <a:xfrm>
              <a:off x="6329903" y="6167045"/>
              <a:ext cx="2746176" cy="766979"/>
            </a:xfrm>
            <a:prstGeom prst="rect">
              <a:avLst/>
            </a:prstGeom>
          </p:spPr>
          <p:txBody>
            <a:bodyPr wrap="square">
              <a:spAutoFit/>
            </a:bodyPr>
            <a:lstStyle/>
            <a:p>
              <a:pPr algn="ctr"/>
              <a:r>
                <a:rPr lang="en-US" altLang="zh-TW" dirty="0" smtClean="0"/>
                <a:t>Holds metadata, handles master election</a:t>
              </a:r>
              <a:endParaRPr lang="zh-TW" altLang="en-US" dirty="0"/>
            </a:p>
          </p:txBody>
        </p:sp>
        <p:sp>
          <p:nvSpPr>
            <p:cNvPr id="17" name="矩形 16"/>
            <p:cNvSpPr/>
            <p:nvPr/>
          </p:nvSpPr>
          <p:spPr>
            <a:xfrm>
              <a:off x="971600" y="4653136"/>
              <a:ext cx="1349896" cy="369332"/>
            </a:xfrm>
            <a:prstGeom prst="rect">
              <a:avLst/>
            </a:prstGeom>
          </p:spPr>
          <p:txBody>
            <a:bodyPr wrap="square">
              <a:spAutoFit/>
            </a:bodyPr>
            <a:lstStyle/>
            <a:p>
              <a:pPr algn="ctr"/>
              <a:r>
                <a:rPr lang="en-US" altLang="zh-TW" dirty="0" smtClean="0"/>
                <a:t>Serves data</a:t>
              </a:r>
              <a:endParaRPr lang="zh-TW" altLang="en-US" dirty="0"/>
            </a:p>
          </p:txBody>
        </p:sp>
        <p:sp>
          <p:nvSpPr>
            <p:cNvPr id="18" name="矩形 17"/>
            <p:cNvSpPr/>
            <p:nvPr/>
          </p:nvSpPr>
          <p:spPr>
            <a:xfrm>
              <a:off x="3563888" y="4653136"/>
              <a:ext cx="1349896" cy="369332"/>
            </a:xfrm>
            <a:prstGeom prst="rect">
              <a:avLst/>
            </a:prstGeom>
          </p:spPr>
          <p:txBody>
            <a:bodyPr wrap="square">
              <a:spAutoFit/>
            </a:bodyPr>
            <a:lstStyle/>
            <a:p>
              <a:pPr algn="ctr"/>
              <a:r>
                <a:rPr lang="en-US" altLang="zh-TW" dirty="0" smtClean="0"/>
                <a:t>Serves data</a:t>
              </a:r>
              <a:endParaRPr lang="zh-TW" altLang="en-US" dirty="0"/>
            </a:p>
          </p:txBody>
        </p:sp>
        <p:sp>
          <p:nvSpPr>
            <p:cNvPr id="19" name="矩形 18"/>
            <p:cNvSpPr/>
            <p:nvPr/>
          </p:nvSpPr>
          <p:spPr>
            <a:xfrm>
              <a:off x="5796136" y="4653136"/>
              <a:ext cx="1349896" cy="369332"/>
            </a:xfrm>
            <a:prstGeom prst="rect">
              <a:avLst/>
            </a:prstGeom>
          </p:spPr>
          <p:txBody>
            <a:bodyPr wrap="square">
              <a:spAutoFit/>
            </a:bodyPr>
            <a:lstStyle/>
            <a:p>
              <a:pPr algn="ctr"/>
              <a:r>
                <a:rPr lang="en-US" altLang="zh-TW" dirty="0" smtClean="0"/>
                <a:t>Serves data</a:t>
              </a:r>
              <a:endParaRPr lang="zh-TW" altLang="en-US" dirty="0"/>
            </a:p>
          </p:txBody>
        </p:sp>
        <p:sp>
          <p:nvSpPr>
            <p:cNvPr id="20" name="矩形 19"/>
            <p:cNvSpPr/>
            <p:nvPr/>
          </p:nvSpPr>
          <p:spPr>
            <a:xfrm>
              <a:off x="1876215" y="1342175"/>
              <a:ext cx="2673525" cy="766979"/>
            </a:xfrm>
            <a:prstGeom prst="rect">
              <a:avLst/>
            </a:prstGeom>
          </p:spPr>
          <p:txBody>
            <a:bodyPr wrap="square">
              <a:spAutoFit/>
            </a:bodyPr>
            <a:lstStyle/>
            <a:p>
              <a:pPr algn="ctr"/>
              <a:r>
                <a:rPr lang="en-US" altLang="zh-TW" dirty="0" smtClean="0"/>
                <a:t>Performs metadata ops, load-balancing</a:t>
              </a:r>
              <a:endParaRPr lang="zh-TW" altLang="en-US" dirty="0"/>
            </a:p>
          </p:txBody>
        </p:sp>
        <p:cxnSp>
          <p:nvCxnSpPr>
            <p:cNvPr id="21" name="直線單箭頭接點 20"/>
            <p:cNvCxnSpPr>
              <a:endCxn id="6" idx="0"/>
            </p:cNvCxnSpPr>
            <p:nvPr/>
          </p:nvCxnSpPr>
          <p:spPr>
            <a:xfrm rot="10800000" flipV="1">
              <a:off x="1655676" y="1556792"/>
              <a:ext cx="5004556" cy="2304256"/>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22" name="直線單箭頭接點 21"/>
            <p:cNvCxnSpPr>
              <a:endCxn id="8" idx="0"/>
            </p:cNvCxnSpPr>
            <p:nvPr/>
          </p:nvCxnSpPr>
          <p:spPr>
            <a:xfrm rot="10800000" flipV="1">
              <a:off x="4247964" y="1556792"/>
              <a:ext cx="2916324" cy="2304256"/>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23" name="直線單箭頭接點 22"/>
            <p:cNvCxnSpPr>
              <a:stCxn id="10" idx="2"/>
              <a:endCxn id="7" idx="0"/>
            </p:cNvCxnSpPr>
            <p:nvPr/>
          </p:nvCxnSpPr>
          <p:spPr>
            <a:xfrm rot="5400000">
              <a:off x="5868144" y="2168860"/>
              <a:ext cx="2304256" cy="108012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24" name="直線單箭頭接點 23"/>
            <p:cNvCxnSpPr/>
            <p:nvPr/>
          </p:nvCxnSpPr>
          <p:spPr>
            <a:xfrm rot="5400000">
              <a:off x="5976156" y="3609020"/>
              <a:ext cx="4104456" cy="1588"/>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25" name="矩形 24"/>
            <p:cNvSpPr/>
            <p:nvPr/>
          </p:nvSpPr>
          <p:spPr>
            <a:xfrm>
              <a:off x="6444208" y="2492896"/>
              <a:ext cx="1421904" cy="369332"/>
            </a:xfrm>
            <a:prstGeom prst="rect">
              <a:avLst/>
            </a:prstGeom>
          </p:spPr>
          <p:txBody>
            <a:bodyPr wrap="square">
              <a:spAutoFit/>
            </a:bodyPr>
            <a:lstStyle/>
            <a:p>
              <a:pPr algn="ctr"/>
              <a:r>
                <a:rPr lang="en-US" altLang="zh-TW" dirty="0" smtClean="0"/>
                <a:t>Read, write</a:t>
              </a:r>
              <a:endParaRPr lang="zh-TW" altLang="en-US" dirty="0"/>
            </a:p>
          </p:txBody>
        </p:sp>
        <p:sp>
          <p:nvSpPr>
            <p:cNvPr id="26" name="矩形 25"/>
            <p:cNvSpPr/>
            <p:nvPr/>
          </p:nvSpPr>
          <p:spPr>
            <a:xfrm>
              <a:off x="5076056" y="2492896"/>
              <a:ext cx="1421904" cy="369332"/>
            </a:xfrm>
            <a:prstGeom prst="rect">
              <a:avLst/>
            </a:prstGeom>
          </p:spPr>
          <p:txBody>
            <a:bodyPr wrap="square">
              <a:spAutoFit/>
            </a:bodyPr>
            <a:lstStyle/>
            <a:p>
              <a:pPr algn="ctr"/>
              <a:r>
                <a:rPr lang="en-US" altLang="zh-TW" dirty="0" smtClean="0"/>
                <a:t>Read, write</a:t>
              </a:r>
              <a:endParaRPr lang="zh-TW" altLang="en-US" dirty="0"/>
            </a:p>
          </p:txBody>
        </p:sp>
        <p:sp>
          <p:nvSpPr>
            <p:cNvPr id="27" name="矩形 26"/>
            <p:cNvSpPr/>
            <p:nvPr/>
          </p:nvSpPr>
          <p:spPr>
            <a:xfrm>
              <a:off x="3475960" y="2492896"/>
              <a:ext cx="1421904" cy="369332"/>
            </a:xfrm>
            <a:prstGeom prst="rect">
              <a:avLst/>
            </a:prstGeom>
          </p:spPr>
          <p:txBody>
            <a:bodyPr wrap="square">
              <a:spAutoFit/>
            </a:bodyPr>
            <a:lstStyle/>
            <a:p>
              <a:pPr algn="ctr"/>
              <a:r>
                <a:rPr lang="en-US" altLang="zh-TW" dirty="0" smtClean="0"/>
                <a:t>Read, write</a:t>
              </a:r>
              <a:endParaRPr lang="zh-TW" altLang="en-US" dirty="0"/>
            </a:p>
          </p:txBody>
        </p:sp>
        <p:sp>
          <p:nvSpPr>
            <p:cNvPr id="28" name="矩形 27"/>
            <p:cNvSpPr/>
            <p:nvPr/>
          </p:nvSpPr>
          <p:spPr>
            <a:xfrm>
              <a:off x="7567770" y="4581128"/>
              <a:ext cx="1046991" cy="438274"/>
            </a:xfrm>
            <a:prstGeom prst="rect">
              <a:avLst/>
            </a:prstGeom>
          </p:spPr>
          <p:txBody>
            <a:bodyPr wrap="square">
              <a:spAutoFit/>
            </a:bodyPr>
            <a:lstStyle/>
            <a:p>
              <a:pPr algn="ctr"/>
              <a:r>
                <a:rPr lang="en-US" altLang="zh-TW" dirty="0" smtClean="0"/>
                <a:t>Open ()</a:t>
              </a:r>
              <a:endParaRPr lang="zh-TW" altLang="en-US" dirty="0"/>
            </a:p>
          </p:txBody>
        </p:sp>
        <p:cxnSp>
          <p:nvCxnSpPr>
            <p:cNvPr id="29" name="直線單箭頭接點 28"/>
            <p:cNvCxnSpPr>
              <a:stCxn id="10" idx="1"/>
              <a:endCxn id="5" idx="3"/>
            </p:cNvCxnSpPr>
            <p:nvPr/>
          </p:nvCxnSpPr>
          <p:spPr>
            <a:xfrm rot="10800000">
              <a:off x="4330800" y="1162490"/>
              <a:ext cx="2329433" cy="106271"/>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sp>
          <p:nvSpPr>
            <p:cNvPr id="30" name="矩形 29"/>
            <p:cNvSpPr/>
            <p:nvPr/>
          </p:nvSpPr>
          <p:spPr>
            <a:xfrm>
              <a:off x="4856533" y="831911"/>
              <a:ext cx="1468160" cy="369332"/>
            </a:xfrm>
            <a:prstGeom prst="rect">
              <a:avLst/>
            </a:prstGeom>
          </p:spPr>
          <p:txBody>
            <a:bodyPr wrap="none">
              <a:spAutoFit/>
            </a:bodyPr>
            <a:lstStyle/>
            <a:p>
              <a:pPr algn="ctr"/>
              <a:r>
                <a:rPr lang="en-US" altLang="zh-TW" dirty="0" smtClean="0"/>
                <a:t>metadata ops</a:t>
              </a:r>
              <a:endParaRPr lang="zh-TW" altLang="en-US" dirty="0"/>
            </a:p>
          </p:txBody>
        </p:sp>
        <p:sp>
          <p:nvSpPr>
            <p:cNvPr id="31" name="矩形 30"/>
            <p:cNvSpPr/>
            <p:nvPr/>
          </p:nvSpPr>
          <p:spPr>
            <a:xfrm>
              <a:off x="-98419" y="319215"/>
              <a:ext cx="2385608" cy="474797"/>
            </a:xfrm>
            <a:prstGeom prst="rect">
              <a:avLst/>
            </a:prstGeom>
          </p:spPr>
          <p:txBody>
            <a:bodyPr wrap="none">
              <a:spAutoFit/>
            </a:bodyPr>
            <a:lstStyle/>
            <a:p>
              <a:pPr algn="ctr"/>
              <a:r>
                <a:rPr lang="en-US" altLang="zh-TW" sz="2000" dirty="0" smtClean="0">
                  <a:solidFill>
                    <a:srgbClr val="FF0000"/>
                  </a:solidFill>
                </a:rPr>
                <a:t>Typical </a:t>
              </a:r>
              <a:r>
                <a:rPr lang="en-US" altLang="zh-TW" sz="2000" dirty="0" err="1" smtClean="0">
                  <a:solidFill>
                    <a:srgbClr val="FF0000"/>
                  </a:solidFill>
                </a:rPr>
                <a:t>Bigtable</a:t>
              </a:r>
              <a:r>
                <a:rPr lang="en-US" altLang="zh-TW" sz="2000" dirty="0" smtClean="0">
                  <a:solidFill>
                    <a:srgbClr val="FF0000"/>
                  </a:solidFill>
                </a:rPr>
                <a:t> Cell</a:t>
              </a:r>
              <a:endParaRPr lang="zh-TW" altLang="en-US" sz="2000" dirty="0">
                <a:solidFill>
                  <a:srgbClr val="FF0000"/>
                </a:solidFill>
              </a:endParaRPr>
            </a:p>
          </p:txBody>
        </p:sp>
      </p:grpSp>
      <p:sp>
        <p:nvSpPr>
          <p:cNvPr id="33" name="文字方塊 32"/>
          <p:cNvSpPr txBox="1"/>
          <p:nvPr/>
        </p:nvSpPr>
        <p:spPr>
          <a:xfrm>
            <a:off x="2915816" y="4365104"/>
            <a:ext cx="432048" cy="369332"/>
          </a:xfrm>
          <a:prstGeom prst="rect">
            <a:avLst/>
          </a:prstGeom>
          <a:noFill/>
        </p:spPr>
        <p:txBody>
          <a:bodyPr wrap="square" rtlCol="0">
            <a:spAutoFit/>
          </a:bodyPr>
          <a:lstStyle/>
          <a:p>
            <a:pPr algn="ctr"/>
            <a:r>
              <a:rPr lang="en-US" altLang="zh-TW" dirty="0" smtClean="0"/>
              <a:t>…</a:t>
            </a:r>
            <a:endParaRPr lang="zh-TW" alt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Building Blocks</a:t>
            </a:r>
            <a:endParaRPr lang="zh-TW" altLang="en-US" dirty="0"/>
          </a:p>
        </p:txBody>
      </p:sp>
      <p:sp>
        <p:nvSpPr>
          <p:cNvPr id="3" name="內容版面配置區 2"/>
          <p:cNvSpPr>
            <a:spLocks noGrp="1"/>
          </p:cNvSpPr>
          <p:nvPr>
            <p:ph idx="1"/>
          </p:nvPr>
        </p:nvSpPr>
        <p:spPr/>
        <p:txBody>
          <a:bodyPr>
            <a:normAutofit lnSpcReduction="10000"/>
          </a:bodyPr>
          <a:lstStyle/>
          <a:p>
            <a:r>
              <a:rPr lang="en-US" altLang="zh-TW" dirty="0" smtClean="0">
                <a:latin typeface="+mj-lt"/>
              </a:rPr>
              <a:t>Google </a:t>
            </a:r>
            <a:r>
              <a:rPr lang="en-US" altLang="zh-TW" dirty="0" err="1" smtClean="0">
                <a:latin typeface="+mj-lt"/>
              </a:rPr>
              <a:t>WorkQueue</a:t>
            </a:r>
            <a:r>
              <a:rPr lang="en-US" altLang="zh-TW" dirty="0" smtClean="0">
                <a:latin typeface="+mj-lt"/>
              </a:rPr>
              <a:t> (</a:t>
            </a:r>
            <a:r>
              <a:rPr lang="en-US" altLang="zh-TW" dirty="0" smtClean="0">
                <a:solidFill>
                  <a:srgbClr val="0000FF"/>
                </a:solidFill>
                <a:latin typeface="+mj-lt"/>
              </a:rPr>
              <a:t>scheduler</a:t>
            </a:r>
            <a:r>
              <a:rPr lang="en-US" altLang="zh-TW" dirty="0" smtClean="0">
                <a:latin typeface="+mj-lt"/>
              </a:rPr>
              <a:t>)</a:t>
            </a:r>
          </a:p>
          <a:p>
            <a:r>
              <a:rPr lang="en-US" altLang="zh-TW" dirty="0" smtClean="0">
                <a:latin typeface="+mj-lt"/>
              </a:rPr>
              <a:t>Distributed File System (</a:t>
            </a:r>
            <a:r>
              <a:rPr lang="en-US" altLang="zh-TW" dirty="0" smtClean="0">
                <a:solidFill>
                  <a:srgbClr val="0000FF"/>
                </a:solidFill>
                <a:latin typeface="+mj-lt"/>
              </a:rPr>
              <a:t>GFS</a:t>
            </a:r>
            <a:r>
              <a:rPr lang="en-US" altLang="zh-TW" dirty="0" smtClean="0">
                <a:latin typeface="+mj-lt"/>
              </a:rPr>
              <a:t>): large-scale distributed file system</a:t>
            </a:r>
          </a:p>
          <a:p>
            <a:pPr lvl="1"/>
            <a:r>
              <a:rPr lang="en-US" altLang="zh-TW" dirty="0" smtClean="0">
                <a:latin typeface="+mj-lt"/>
              </a:rPr>
              <a:t>Master: responsible for metadata</a:t>
            </a:r>
          </a:p>
          <a:p>
            <a:pPr lvl="1"/>
            <a:r>
              <a:rPr lang="en-US" altLang="zh-TW" dirty="0" smtClean="0">
                <a:latin typeface="+mj-lt"/>
              </a:rPr>
              <a:t>Chunk servers: responsible for r/w large chunks of data</a:t>
            </a:r>
          </a:p>
          <a:p>
            <a:pPr lvl="1"/>
            <a:r>
              <a:rPr lang="en-US" altLang="zh-TW" dirty="0" smtClean="0">
                <a:latin typeface="+mj-lt"/>
              </a:rPr>
              <a:t>Chunks replicated on 3 machines; master responsible</a:t>
            </a:r>
          </a:p>
          <a:p>
            <a:r>
              <a:rPr lang="en-US" altLang="zh-TW" dirty="0" smtClean="0">
                <a:latin typeface="+mj-lt"/>
              </a:rPr>
              <a:t>Lock service (</a:t>
            </a:r>
            <a:r>
              <a:rPr lang="en-US" altLang="zh-TW" dirty="0" smtClean="0">
                <a:solidFill>
                  <a:srgbClr val="0000FF"/>
                </a:solidFill>
                <a:latin typeface="+mj-lt"/>
              </a:rPr>
              <a:t>Chubby</a:t>
            </a:r>
            <a:r>
              <a:rPr lang="en-US" altLang="zh-TW" dirty="0" smtClean="0">
                <a:latin typeface="+mj-lt"/>
              </a:rPr>
              <a:t>): lock/file/name service</a:t>
            </a:r>
          </a:p>
          <a:p>
            <a:pPr lvl="1"/>
            <a:r>
              <a:rPr lang="en-US" altLang="zh-TW" dirty="0" smtClean="0">
                <a:latin typeface="+mj-lt"/>
              </a:rPr>
              <a:t>Coarse-grained locks; can store small amount of data in a lock</a:t>
            </a:r>
          </a:p>
          <a:p>
            <a:pPr lvl="1"/>
            <a:r>
              <a:rPr lang="en-US" altLang="zh-TW" dirty="0" smtClean="0">
                <a:latin typeface="+mj-lt"/>
              </a:rPr>
              <a:t>5 replicas; need a majority vote to be active (</a:t>
            </a:r>
            <a:r>
              <a:rPr lang="en-US" altLang="zh-TW" dirty="0" err="1" smtClean="0">
                <a:latin typeface="+mj-lt"/>
              </a:rPr>
              <a:t>Paxos</a:t>
            </a:r>
            <a:r>
              <a:rPr lang="en-US" altLang="zh-TW" dirty="0" smtClean="0">
                <a:latin typeface="+mj-lt"/>
              </a:rPr>
              <a:t>)</a:t>
            </a:r>
            <a:endParaRPr lang="zh-TW" altLang="en-US" dirty="0">
              <a:latin typeface="+mj-lt"/>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Key Jobs in a </a:t>
            </a:r>
            <a:r>
              <a:rPr lang="en-US" altLang="zh-TW" dirty="0" err="1" smtClean="0"/>
              <a:t>BigTable</a:t>
            </a:r>
            <a:r>
              <a:rPr lang="en-US" altLang="zh-TW" dirty="0" smtClean="0"/>
              <a:t> Cluster</a:t>
            </a:r>
            <a:endParaRPr lang="zh-TW" altLang="en-US" dirty="0"/>
          </a:p>
        </p:txBody>
      </p:sp>
      <p:sp>
        <p:nvSpPr>
          <p:cNvPr id="3" name="內容版面配置區 2"/>
          <p:cNvSpPr>
            <a:spLocks noGrp="1"/>
          </p:cNvSpPr>
          <p:nvPr>
            <p:ph idx="1"/>
          </p:nvPr>
        </p:nvSpPr>
        <p:spPr>
          <a:xfrm>
            <a:off x="457200" y="1600200"/>
            <a:ext cx="8229600" cy="4853136"/>
          </a:xfrm>
        </p:spPr>
        <p:txBody>
          <a:bodyPr>
            <a:normAutofit/>
          </a:bodyPr>
          <a:lstStyle/>
          <a:p>
            <a:r>
              <a:rPr lang="en-US" altLang="zh-TW" dirty="0" smtClean="0">
                <a:latin typeface="+mj-lt"/>
              </a:rPr>
              <a:t>Master</a:t>
            </a:r>
          </a:p>
          <a:p>
            <a:pPr lvl="1"/>
            <a:r>
              <a:rPr lang="en-US" altLang="zh-TW" dirty="0" smtClean="0">
                <a:latin typeface="+mj-lt"/>
              </a:rPr>
              <a:t>Schedules tablets assignments</a:t>
            </a:r>
          </a:p>
          <a:p>
            <a:pPr lvl="1"/>
            <a:r>
              <a:rPr lang="en-US" altLang="zh-TW" dirty="0" smtClean="0">
                <a:latin typeface="+mj-lt"/>
              </a:rPr>
              <a:t>Quota management</a:t>
            </a:r>
          </a:p>
          <a:p>
            <a:pPr lvl="1"/>
            <a:r>
              <a:rPr lang="en-US" altLang="zh-TW" dirty="0" smtClean="0">
                <a:latin typeface="+mj-lt"/>
              </a:rPr>
              <a:t>Health check of tablet servers</a:t>
            </a:r>
          </a:p>
          <a:p>
            <a:pPr lvl="1"/>
            <a:r>
              <a:rPr lang="en-US" altLang="zh-TW" dirty="0" smtClean="0">
                <a:latin typeface="+mj-lt"/>
              </a:rPr>
              <a:t>Garbage collection management</a:t>
            </a:r>
          </a:p>
          <a:p>
            <a:r>
              <a:rPr lang="en-US" altLang="zh-TW" dirty="0" smtClean="0">
                <a:latin typeface="+mj-lt"/>
              </a:rPr>
              <a:t>Tablet servers</a:t>
            </a:r>
          </a:p>
          <a:p>
            <a:pPr lvl="1"/>
            <a:r>
              <a:rPr lang="en-US" altLang="zh-TW" dirty="0" smtClean="0">
                <a:latin typeface="+mj-lt"/>
              </a:rPr>
              <a:t>Serve data for reads and writes (one tablet is assigned to exactly one tablet server)</a:t>
            </a:r>
          </a:p>
          <a:p>
            <a:pPr lvl="1"/>
            <a:r>
              <a:rPr lang="en-US" altLang="zh-TW" dirty="0" smtClean="0">
                <a:latin typeface="+mj-lt"/>
              </a:rPr>
              <a:t>Compaction</a:t>
            </a:r>
          </a:p>
          <a:p>
            <a:pPr lvl="1"/>
            <a:r>
              <a:rPr lang="en-US" altLang="zh-TW" dirty="0" smtClean="0">
                <a:latin typeface="+mj-lt"/>
              </a:rPr>
              <a:t>Replication</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Bigtable</a:t>
            </a:r>
            <a:r>
              <a:rPr lang="en-US" altLang="zh-TW" dirty="0" smtClean="0"/>
              <a:t> Introduction</a:t>
            </a:r>
            <a:endParaRPr lang="zh-TW" altLang="en-US" dirty="0"/>
          </a:p>
        </p:txBody>
      </p:sp>
      <p:sp>
        <p:nvSpPr>
          <p:cNvPr id="3" name="文字版面配置區 2"/>
          <p:cNvSpPr>
            <a:spLocks noGrp="1"/>
          </p:cNvSpPr>
          <p:nvPr>
            <p:ph type="body" idx="1"/>
          </p:nvPr>
        </p:nvSpPr>
        <p:spPr/>
        <p:txBody>
          <a:bodyPr/>
          <a:lstStyle/>
          <a:p>
            <a:r>
              <a:rPr lang="en-US" altLang="zh-TW" dirty="0" smtClean="0">
                <a:solidFill>
                  <a:schemeClr val="bg1">
                    <a:lumMod val="50000"/>
                  </a:schemeClr>
                </a:solidFill>
              </a:rPr>
              <a:t>Motivation</a:t>
            </a:r>
          </a:p>
          <a:p>
            <a:r>
              <a:rPr lang="en-US" altLang="zh-TW" dirty="0" smtClean="0">
                <a:solidFill>
                  <a:schemeClr val="bg1">
                    <a:lumMod val="50000"/>
                  </a:schemeClr>
                </a:solidFill>
              </a:rPr>
              <a:t>Building Model</a:t>
            </a:r>
          </a:p>
          <a:p>
            <a:r>
              <a:rPr lang="en-US" altLang="zh-TW" dirty="0" smtClean="0"/>
              <a:t>Data Model</a:t>
            </a:r>
            <a:endParaRPr lang="zh-TW" altLang="en-US" dirty="0" smtClean="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Data Model</a:t>
            </a:r>
            <a:endParaRPr lang="zh-TW" altLang="en-US" dirty="0"/>
          </a:p>
        </p:txBody>
      </p:sp>
      <p:sp>
        <p:nvSpPr>
          <p:cNvPr id="3" name="內容版面配置區 2"/>
          <p:cNvSpPr>
            <a:spLocks noGrp="1"/>
          </p:cNvSpPr>
          <p:nvPr>
            <p:ph idx="1"/>
          </p:nvPr>
        </p:nvSpPr>
        <p:spPr>
          <a:xfrm>
            <a:off x="457200" y="1600200"/>
            <a:ext cx="8229600" cy="4853136"/>
          </a:xfrm>
        </p:spPr>
        <p:txBody>
          <a:bodyPr>
            <a:normAutofit lnSpcReduction="10000"/>
          </a:bodyPr>
          <a:lstStyle/>
          <a:p>
            <a:r>
              <a:rPr lang="en-US" altLang="zh-TW" dirty="0" smtClean="0">
                <a:latin typeface="+mj-lt"/>
              </a:rPr>
              <a:t>Semi-structured: multi-dimensional sparse map</a:t>
            </a:r>
          </a:p>
          <a:p>
            <a:pPr lvl="1"/>
            <a:r>
              <a:rPr lang="en-US" altLang="zh-TW" dirty="0" smtClean="0">
                <a:latin typeface="+mj-lt"/>
              </a:rPr>
              <a:t>(row, column, timestamp) → cell contents</a:t>
            </a:r>
          </a:p>
          <a:p>
            <a:endParaRPr lang="en-US" altLang="zh-TW" dirty="0" smtClean="0">
              <a:latin typeface="+mj-lt"/>
            </a:endParaRPr>
          </a:p>
          <a:p>
            <a:endParaRPr lang="en-US" altLang="zh-TW" dirty="0" smtClean="0">
              <a:latin typeface="+mj-lt"/>
            </a:endParaRPr>
          </a:p>
          <a:p>
            <a:endParaRPr lang="en-US" altLang="zh-TW" dirty="0" smtClean="0">
              <a:latin typeface="+mj-lt"/>
            </a:endParaRPr>
          </a:p>
          <a:p>
            <a:endParaRPr lang="en-US" altLang="zh-TW" dirty="0" smtClean="0">
              <a:latin typeface="+mj-lt"/>
            </a:endParaRPr>
          </a:p>
          <a:p>
            <a:endParaRPr lang="en-US" altLang="zh-TW" dirty="0" smtClean="0">
              <a:latin typeface="+mj-lt"/>
            </a:endParaRPr>
          </a:p>
          <a:p>
            <a:endParaRPr lang="en-US" altLang="zh-TW" dirty="0" smtClean="0">
              <a:latin typeface="+mj-lt"/>
            </a:endParaRPr>
          </a:p>
          <a:p>
            <a:endParaRPr lang="en-US" altLang="zh-TW" dirty="0" smtClean="0">
              <a:latin typeface="+mj-lt"/>
            </a:endParaRPr>
          </a:p>
          <a:p>
            <a:r>
              <a:rPr lang="en-US" altLang="zh-TW" dirty="0" smtClean="0">
                <a:latin typeface="+mj-lt"/>
              </a:rPr>
              <a:t>Good match for most of Google's applications</a:t>
            </a:r>
          </a:p>
        </p:txBody>
      </p:sp>
      <p:pic>
        <p:nvPicPr>
          <p:cNvPr id="4" name="Picture 2"/>
          <p:cNvPicPr>
            <a:picLocks noChangeAspect="1" noChangeArrowheads="1"/>
          </p:cNvPicPr>
          <p:nvPr/>
        </p:nvPicPr>
        <p:blipFill>
          <a:blip r:embed="rId3" cstate="print"/>
          <a:srcRect/>
          <a:stretch>
            <a:fillRect/>
          </a:stretch>
        </p:blipFill>
        <p:spPr bwMode="auto">
          <a:xfrm>
            <a:off x="397470" y="3068960"/>
            <a:ext cx="8350994" cy="1955834"/>
          </a:xfrm>
          <a:prstGeom prst="rect">
            <a:avLst/>
          </a:prstGeom>
          <a:noFill/>
          <a:ln w="9525">
            <a:noFill/>
            <a:miter lim="800000"/>
            <a:headEnd/>
            <a:tailEnd/>
          </a:ln>
        </p:spPr>
      </p:pic>
      <p:cxnSp>
        <p:nvCxnSpPr>
          <p:cNvPr id="7" name="直線單箭頭接點 6"/>
          <p:cNvCxnSpPr>
            <a:stCxn id="9" idx="0"/>
          </p:cNvCxnSpPr>
          <p:nvPr/>
        </p:nvCxnSpPr>
        <p:spPr>
          <a:xfrm rot="5400000" flipH="1" flipV="1">
            <a:off x="381521" y="4207073"/>
            <a:ext cx="288032" cy="460078"/>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9" name="文字方塊 8"/>
          <p:cNvSpPr txBox="1"/>
          <p:nvPr/>
        </p:nvSpPr>
        <p:spPr>
          <a:xfrm>
            <a:off x="0" y="4581128"/>
            <a:ext cx="590996" cy="369332"/>
          </a:xfrm>
          <a:prstGeom prst="rect">
            <a:avLst/>
          </a:prstGeom>
          <a:noFill/>
        </p:spPr>
        <p:txBody>
          <a:bodyPr wrap="none" rtlCol="0">
            <a:spAutoFit/>
          </a:bodyPr>
          <a:lstStyle/>
          <a:p>
            <a:r>
              <a:rPr lang="en-US" altLang="zh-TW" dirty="0" smtClean="0">
                <a:solidFill>
                  <a:srgbClr val="FF0000"/>
                </a:solidFill>
              </a:rPr>
              <a:t>Row</a:t>
            </a:r>
            <a:endParaRPr lang="zh-TW" altLang="en-US" dirty="0">
              <a:solidFill>
                <a:srgbClr val="FF0000"/>
              </a:solidFill>
            </a:endParaRPr>
          </a:p>
        </p:txBody>
      </p:sp>
      <p:cxnSp>
        <p:nvCxnSpPr>
          <p:cNvPr id="11" name="直線單箭頭接點 10"/>
          <p:cNvCxnSpPr>
            <a:stCxn id="12" idx="0"/>
          </p:cNvCxnSpPr>
          <p:nvPr/>
        </p:nvCxnSpPr>
        <p:spPr>
          <a:xfrm rot="16200000" flipV="1">
            <a:off x="3869922" y="4635134"/>
            <a:ext cx="576064" cy="324036"/>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2" name="文字方塊 11"/>
          <p:cNvSpPr txBox="1"/>
          <p:nvPr/>
        </p:nvSpPr>
        <p:spPr>
          <a:xfrm>
            <a:off x="3635896" y="5085184"/>
            <a:ext cx="1368152" cy="369332"/>
          </a:xfrm>
          <a:prstGeom prst="rect">
            <a:avLst/>
          </a:prstGeom>
          <a:noFill/>
        </p:spPr>
        <p:txBody>
          <a:bodyPr wrap="square" rtlCol="0">
            <a:spAutoFit/>
          </a:bodyPr>
          <a:lstStyle/>
          <a:p>
            <a:r>
              <a:rPr lang="en-US" altLang="zh-TW" dirty="0" smtClean="0">
                <a:solidFill>
                  <a:srgbClr val="FF0000"/>
                </a:solidFill>
              </a:rPr>
              <a:t>Timestamps</a:t>
            </a:r>
            <a:endParaRPr lang="zh-TW" altLang="en-US" dirty="0">
              <a:solidFill>
                <a:srgbClr val="FF0000"/>
              </a:solidFill>
            </a:endParaRPr>
          </a:p>
        </p:txBody>
      </p:sp>
      <p:cxnSp>
        <p:nvCxnSpPr>
          <p:cNvPr id="21" name="直線單箭頭接點 20"/>
          <p:cNvCxnSpPr>
            <a:stCxn id="22" idx="2"/>
          </p:cNvCxnSpPr>
          <p:nvPr/>
        </p:nvCxnSpPr>
        <p:spPr>
          <a:xfrm rot="16200000" flipH="1">
            <a:off x="2020361" y="2677562"/>
            <a:ext cx="134726" cy="936104"/>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22" name="文字方塊 21"/>
          <p:cNvSpPr txBox="1"/>
          <p:nvPr/>
        </p:nvSpPr>
        <p:spPr>
          <a:xfrm>
            <a:off x="1115616" y="2708919"/>
            <a:ext cx="1008112" cy="369332"/>
          </a:xfrm>
          <a:prstGeom prst="rect">
            <a:avLst/>
          </a:prstGeom>
          <a:noFill/>
        </p:spPr>
        <p:txBody>
          <a:bodyPr wrap="square" rtlCol="0">
            <a:spAutoFit/>
          </a:bodyPr>
          <a:lstStyle/>
          <a:p>
            <a:r>
              <a:rPr lang="en-US" altLang="zh-TW" dirty="0" smtClean="0">
                <a:solidFill>
                  <a:srgbClr val="FF0000"/>
                </a:solidFill>
              </a:rPr>
              <a:t>Columns</a:t>
            </a:r>
            <a:endParaRPr lang="zh-TW" altLang="en-US" dirty="0">
              <a:solidFill>
                <a:srgbClr val="FF0000"/>
              </a:solidFill>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Rows</a:t>
            </a:r>
            <a:endParaRPr lang="zh-TW" altLang="en-US" dirty="0"/>
          </a:p>
        </p:txBody>
      </p:sp>
      <p:sp>
        <p:nvSpPr>
          <p:cNvPr id="3" name="內容版面配置區 2"/>
          <p:cNvSpPr>
            <a:spLocks noGrp="1"/>
          </p:cNvSpPr>
          <p:nvPr>
            <p:ph idx="1"/>
          </p:nvPr>
        </p:nvSpPr>
        <p:spPr>
          <a:xfrm>
            <a:off x="457200" y="1600200"/>
            <a:ext cx="8229600" cy="4997152"/>
          </a:xfrm>
        </p:spPr>
        <p:txBody>
          <a:bodyPr>
            <a:normAutofit/>
          </a:bodyPr>
          <a:lstStyle/>
          <a:p>
            <a:r>
              <a:rPr lang="en-US" altLang="zh-TW" dirty="0" smtClean="0">
                <a:latin typeface="+mj-lt"/>
              </a:rPr>
              <a:t>Everything is a string</a:t>
            </a:r>
          </a:p>
          <a:p>
            <a:r>
              <a:rPr lang="en-US" altLang="zh-TW" dirty="0" smtClean="0">
                <a:latin typeface="+mj-lt"/>
              </a:rPr>
              <a:t>Every row has a single key</a:t>
            </a:r>
          </a:p>
          <a:p>
            <a:pPr lvl="1"/>
            <a:r>
              <a:rPr lang="en-US" altLang="zh-TW" dirty="0" smtClean="0">
                <a:latin typeface="+mj-lt"/>
              </a:rPr>
              <a:t>An arbitrary string</a:t>
            </a:r>
          </a:p>
          <a:p>
            <a:pPr lvl="1"/>
            <a:r>
              <a:rPr lang="en-US" altLang="zh-TW" dirty="0" smtClean="0">
                <a:latin typeface="+mj-lt"/>
              </a:rPr>
              <a:t>Access to data in a row is atomic</a:t>
            </a:r>
          </a:p>
          <a:p>
            <a:pPr lvl="1"/>
            <a:r>
              <a:rPr lang="en-US" altLang="zh-TW" dirty="0" smtClean="0">
                <a:latin typeface="+mj-lt"/>
              </a:rPr>
              <a:t>Row creation is implicit upon storing data</a:t>
            </a:r>
          </a:p>
          <a:p>
            <a:r>
              <a:rPr lang="en-US" altLang="zh-TW" dirty="0" smtClean="0">
                <a:latin typeface="+mj-lt"/>
              </a:rPr>
              <a:t>Rows ordered lexicographically by key</a:t>
            </a:r>
          </a:p>
          <a:p>
            <a:pPr lvl="1"/>
            <a:r>
              <a:rPr lang="en-US" altLang="zh-TW" dirty="0" smtClean="0">
                <a:latin typeface="+mj-lt"/>
              </a:rPr>
              <a:t>Rows close together lexicographically usually on one or a small number of machines</a:t>
            </a:r>
          </a:p>
          <a:p>
            <a:r>
              <a:rPr lang="en-US" altLang="zh-TW" dirty="0" smtClean="0">
                <a:latin typeface="+mj-lt"/>
              </a:rPr>
              <a:t>No such things as empty row</a:t>
            </a:r>
            <a:endParaRPr lang="zh-TW" altLang="en-US" dirty="0">
              <a:latin typeface="+mj-lt"/>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Columns</a:t>
            </a:r>
            <a:endParaRPr lang="zh-TW" altLang="en-US" dirty="0"/>
          </a:p>
        </p:txBody>
      </p:sp>
      <p:sp>
        <p:nvSpPr>
          <p:cNvPr id="3" name="內容版面配置區 2"/>
          <p:cNvSpPr>
            <a:spLocks noGrp="1"/>
          </p:cNvSpPr>
          <p:nvPr>
            <p:ph idx="1"/>
          </p:nvPr>
        </p:nvSpPr>
        <p:spPr/>
        <p:txBody>
          <a:bodyPr>
            <a:normAutofit/>
          </a:bodyPr>
          <a:lstStyle/>
          <a:p>
            <a:r>
              <a:rPr lang="en-US" altLang="zh-TW" dirty="0" smtClean="0">
                <a:latin typeface="+mj-lt"/>
              </a:rPr>
              <a:t>Arbitrary number of columns</a:t>
            </a:r>
          </a:p>
          <a:p>
            <a:pPr lvl="1"/>
            <a:r>
              <a:rPr lang="en-US" altLang="zh-TW" dirty="0" smtClean="0">
                <a:latin typeface="+mj-lt"/>
              </a:rPr>
              <a:t>Organized into column families, then locality groups</a:t>
            </a:r>
          </a:p>
          <a:p>
            <a:pPr lvl="1"/>
            <a:r>
              <a:rPr lang="en-US" altLang="zh-TW" dirty="0" smtClean="0">
                <a:latin typeface="+mj-lt"/>
              </a:rPr>
              <a:t>Data in the same locality group are stored together</a:t>
            </a:r>
          </a:p>
          <a:p>
            <a:pPr lvl="1"/>
            <a:endParaRPr lang="en-US" altLang="zh-TW" dirty="0" smtClean="0">
              <a:latin typeface="+mj-lt"/>
            </a:endParaRPr>
          </a:p>
          <a:p>
            <a:r>
              <a:rPr lang="en-US" altLang="zh-TW" dirty="0" smtClean="0">
                <a:latin typeface="+mj-lt"/>
              </a:rPr>
              <a:t>Don't predefine columns (compare: schema)</a:t>
            </a:r>
          </a:p>
          <a:p>
            <a:pPr lvl="1"/>
            <a:r>
              <a:rPr lang="en-US" altLang="zh-TW" dirty="0" smtClean="0">
                <a:latin typeface="+mj-lt"/>
              </a:rPr>
              <a:t>“Multi-map,” not “table.” Column names are arbitrary strings</a:t>
            </a:r>
          </a:p>
          <a:p>
            <a:pPr lvl="1"/>
            <a:r>
              <a:rPr lang="en-US" altLang="zh-TW" dirty="0" smtClean="0">
                <a:latin typeface="+mj-lt"/>
              </a:rPr>
              <a:t>Sparse: a row contains only the columns that have data</a:t>
            </a:r>
            <a:endParaRPr lang="zh-TW" altLang="en-US" dirty="0">
              <a:latin typeface="+mj-lt"/>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Column Family</a:t>
            </a:r>
            <a:endParaRPr lang="zh-TW" altLang="en-US" dirty="0"/>
          </a:p>
        </p:txBody>
      </p:sp>
      <p:sp>
        <p:nvSpPr>
          <p:cNvPr id="3" name="內容版面配置區 2"/>
          <p:cNvSpPr>
            <a:spLocks noGrp="1"/>
          </p:cNvSpPr>
          <p:nvPr>
            <p:ph idx="1"/>
          </p:nvPr>
        </p:nvSpPr>
        <p:spPr>
          <a:xfrm>
            <a:off x="457200" y="1600200"/>
            <a:ext cx="8229600" cy="5141168"/>
          </a:xfrm>
        </p:spPr>
        <p:txBody>
          <a:bodyPr>
            <a:normAutofit fontScale="92500" lnSpcReduction="10000"/>
          </a:bodyPr>
          <a:lstStyle/>
          <a:p>
            <a:r>
              <a:rPr lang="en-US" altLang="zh-TW" dirty="0" smtClean="0">
                <a:latin typeface="+mj-lt"/>
              </a:rPr>
              <a:t>Must be created before any column in the family can be written</a:t>
            </a:r>
          </a:p>
          <a:p>
            <a:pPr lvl="1"/>
            <a:r>
              <a:rPr lang="en-US" altLang="zh-TW" dirty="0" smtClean="0">
                <a:latin typeface="+mj-lt"/>
              </a:rPr>
              <a:t>Has a type: string, protocol buffer</a:t>
            </a:r>
          </a:p>
          <a:p>
            <a:pPr lvl="1"/>
            <a:r>
              <a:rPr lang="en-US" altLang="zh-TW" dirty="0" smtClean="0">
                <a:latin typeface="+mj-lt"/>
              </a:rPr>
              <a:t>Basic unit of access control and usage accounting</a:t>
            </a:r>
          </a:p>
          <a:p>
            <a:pPr lvl="2"/>
            <a:r>
              <a:rPr lang="en-US" altLang="zh-TW" dirty="0" smtClean="0">
                <a:latin typeface="+mj-lt"/>
              </a:rPr>
              <a:t>different applications need access to different column families.</a:t>
            </a:r>
          </a:p>
          <a:p>
            <a:pPr lvl="2"/>
            <a:r>
              <a:rPr lang="en-US" altLang="zh-TW" dirty="0" smtClean="0">
                <a:latin typeface="+mj-lt"/>
              </a:rPr>
              <a:t>careful with sensitive data</a:t>
            </a:r>
          </a:p>
          <a:p>
            <a:r>
              <a:rPr lang="en-US" altLang="zh-TW" dirty="0" smtClean="0">
                <a:latin typeface="+mj-lt"/>
              </a:rPr>
              <a:t>A column key is named as </a:t>
            </a:r>
            <a:r>
              <a:rPr lang="en-US" altLang="zh-TW" i="1" dirty="0" err="1" smtClean="0">
                <a:latin typeface="+mj-lt"/>
              </a:rPr>
              <a:t>family:qualifier</a:t>
            </a:r>
            <a:endParaRPr lang="en-US" altLang="zh-TW" i="1" dirty="0" smtClean="0">
              <a:latin typeface="+mj-lt"/>
            </a:endParaRPr>
          </a:p>
          <a:p>
            <a:pPr lvl="1"/>
            <a:r>
              <a:rPr lang="en-US" altLang="zh-TW" dirty="0" smtClean="0">
                <a:latin typeface="+mj-lt"/>
              </a:rPr>
              <a:t>Family: printable; qualifier: any string.</a:t>
            </a:r>
          </a:p>
          <a:p>
            <a:pPr lvl="1"/>
            <a:r>
              <a:rPr lang="en-US" altLang="zh-TW" dirty="0" smtClean="0">
                <a:latin typeface="+mj-lt"/>
              </a:rPr>
              <a:t>Usually not a lot of column families in a </a:t>
            </a:r>
            <a:r>
              <a:rPr lang="en-US" altLang="zh-TW" dirty="0" err="1" smtClean="0">
                <a:latin typeface="+mj-lt"/>
              </a:rPr>
              <a:t>BigTable</a:t>
            </a:r>
            <a:r>
              <a:rPr lang="en-US" altLang="zh-TW" dirty="0" smtClean="0">
                <a:latin typeface="+mj-lt"/>
              </a:rPr>
              <a:t> cluster (hundreds)</a:t>
            </a:r>
          </a:p>
          <a:p>
            <a:pPr lvl="2"/>
            <a:r>
              <a:rPr lang="en-US" altLang="zh-TW" dirty="0" smtClean="0">
                <a:latin typeface="+mj-lt"/>
              </a:rPr>
              <a:t>one “anchor:” column family for all anchors of incoming links</a:t>
            </a:r>
          </a:p>
          <a:p>
            <a:pPr lvl="1"/>
            <a:r>
              <a:rPr lang="en-US" altLang="zh-TW" dirty="0" smtClean="0">
                <a:latin typeface="+mj-lt"/>
              </a:rPr>
              <a:t>But unlimited columns for each column family</a:t>
            </a:r>
          </a:p>
          <a:p>
            <a:pPr lvl="2"/>
            <a:r>
              <a:rPr lang="en-US" altLang="zh-TW" dirty="0" smtClean="0">
                <a:latin typeface="+mj-lt"/>
              </a:rPr>
              <a:t>columns: “</a:t>
            </a:r>
            <a:r>
              <a:rPr lang="en-US" altLang="zh-TW" dirty="0" err="1" smtClean="0">
                <a:latin typeface="+mj-lt"/>
              </a:rPr>
              <a:t>anchor:cnn.com</a:t>
            </a:r>
            <a:r>
              <a:rPr lang="en-US" altLang="zh-TW" dirty="0" smtClean="0">
                <a:latin typeface="+mj-lt"/>
              </a:rPr>
              <a:t>”, “</a:t>
            </a:r>
            <a:r>
              <a:rPr lang="en-US" altLang="zh-TW" dirty="0" err="1" smtClean="0">
                <a:latin typeface="+mj-lt"/>
              </a:rPr>
              <a:t>anchor:news.yahoo.com</a:t>
            </a:r>
            <a:r>
              <a:rPr lang="en-US" altLang="zh-TW" dirty="0" smtClean="0">
                <a:latin typeface="+mj-lt"/>
              </a:rPr>
              <a:t>”, “</a:t>
            </a:r>
            <a:r>
              <a:rPr lang="en-US" altLang="zh-TW" dirty="0" err="1" smtClean="0">
                <a:latin typeface="+mj-lt"/>
              </a:rPr>
              <a:t>anchor:someone.blogger.com</a:t>
            </a:r>
            <a:r>
              <a:rPr lang="en-US" altLang="zh-TW" dirty="0" smtClean="0">
                <a:latin typeface="+mj-lt"/>
              </a:rPr>
              <a:t>”, …</a:t>
            </a:r>
            <a:endParaRPr lang="zh-TW" altLang="en-US" dirty="0">
              <a:latin typeface="+mj-lt"/>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Timestamps</a:t>
            </a:r>
            <a:endParaRPr lang="zh-TW" altLang="en-US" dirty="0"/>
          </a:p>
        </p:txBody>
      </p:sp>
      <p:sp>
        <p:nvSpPr>
          <p:cNvPr id="3" name="內容版面配置區 2"/>
          <p:cNvSpPr>
            <a:spLocks noGrp="1"/>
          </p:cNvSpPr>
          <p:nvPr>
            <p:ph idx="1"/>
          </p:nvPr>
        </p:nvSpPr>
        <p:spPr>
          <a:xfrm>
            <a:off x="457200" y="1600200"/>
            <a:ext cx="8229600" cy="4565104"/>
          </a:xfrm>
        </p:spPr>
        <p:txBody>
          <a:bodyPr>
            <a:normAutofit/>
          </a:bodyPr>
          <a:lstStyle/>
          <a:p>
            <a:r>
              <a:rPr lang="en-US" altLang="zh-TW" dirty="0" smtClean="0">
                <a:latin typeface="+mj-lt"/>
              </a:rPr>
              <a:t>Used to store different versions of data in a cell</a:t>
            </a:r>
          </a:p>
          <a:p>
            <a:pPr lvl="1"/>
            <a:r>
              <a:rPr lang="en-US" altLang="zh-TW" dirty="0" smtClean="0">
                <a:latin typeface="+mj-lt"/>
              </a:rPr>
              <a:t>New writes default to current time, but timestamps for writes can also be set explicitly by clients</a:t>
            </a:r>
          </a:p>
          <a:p>
            <a:r>
              <a:rPr lang="en-US" altLang="zh-TW" dirty="0" smtClean="0">
                <a:latin typeface="+mj-lt"/>
              </a:rPr>
              <a:t>Lookup options</a:t>
            </a:r>
          </a:p>
          <a:p>
            <a:pPr lvl="1"/>
            <a:r>
              <a:rPr lang="en-US" altLang="zh-TW" dirty="0" smtClean="0">
                <a:latin typeface="+mj-lt"/>
              </a:rPr>
              <a:t>“Return most recent K values”</a:t>
            </a:r>
          </a:p>
          <a:p>
            <a:pPr lvl="1"/>
            <a:r>
              <a:rPr lang="en-US" altLang="zh-TW" dirty="0" smtClean="0">
                <a:latin typeface="+mj-lt"/>
              </a:rPr>
              <a:t>“Return all values in timestamp range (or all values)”</a:t>
            </a:r>
          </a:p>
          <a:p>
            <a:r>
              <a:rPr lang="en-US" altLang="zh-TW" dirty="0" smtClean="0">
                <a:latin typeface="+mj-lt"/>
              </a:rPr>
              <a:t>Column families can be marked w/ attributes</a:t>
            </a:r>
          </a:p>
          <a:p>
            <a:pPr lvl="1"/>
            <a:r>
              <a:rPr lang="en-US" altLang="zh-TW" dirty="0" smtClean="0">
                <a:latin typeface="+mj-lt"/>
              </a:rPr>
              <a:t>“Only retain most recent K values in a cell”</a:t>
            </a:r>
          </a:p>
          <a:p>
            <a:pPr lvl="1"/>
            <a:r>
              <a:rPr lang="en-US" altLang="zh-TW" dirty="0" smtClean="0">
                <a:latin typeface="+mj-lt"/>
              </a:rPr>
              <a:t>“Keep values until they are older than K seconds”</a:t>
            </a:r>
            <a:endParaRPr lang="zh-TW" altLang="en-US" dirty="0">
              <a:latin typeface="+mj-lt"/>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ImplementatioN</a:t>
            </a:r>
            <a:endParaRPr lang="en-US" altLang="zh-TW" dirty="0" smtClean="0"/>
          </a:p>
        </p:txBody>
      </p:sp>
      <p:sp>
        <p:nvSpPr>
          <p:cNvPr id="3" name="文字版面配置區 2"/>
          <p:cNvSpPr>
            <a:spLocks noGrp="1"/>
          </p:cNvSpPr>
          <p:nvPr>
            <p:ph type="body" idx="1"/>
          </p:nvPr>
        </p:nvSpPr>
        <p:spPr/>
        <p:txBody>
          <a:bodyPr/>
          <a:lstStyle/>
          <a:p>
            <a:r>
              <a:rPr lang="en-US" altLang="zh-TW" dirty="0" smtClean="0"/>
              <a:t>Tablet</a:t>
            </a:r>
          </a:p>
          <a:p>
            <a:r>
              <a:rPr lang="en-US" altLang="zh-TW" dirty="0" smtClean="0">
                <a:solidFill>
                  <a:schemeClr val="bg1">
                    <a:lumMod val="50000"/>
                  </a:schemeClr>
                </a:solidFill>
              </a:rPr>
              <a:t>Tablet</a:t>
            </a:r>
            <a:r>
              <a:rPr lang="zh-TW" altLang="en-US" dirty="0" smtClean="0">
                <a:solidFill>
                  <a:schemeClr val="bg1">
                    <a:lumMod val="50000"/>
                  </a:schemeClr>
                </a:solidFill>
              </a:rPr>
              <a:t> </a:t>
            </a:r>
            <a:r>
              <a:rPr lang="en-US" altLang="zh-TW" dirty="0" smtClean="0">
                <a:solidFill>
                  <a:schemeClr val="bg1">
                    <a:lumMod val="50000"/>
                  </a:schemeClr>
                </a:solidFill>
              </a:rPr>
              <a:t>Location</a:t>
            </a:r>
          </a:p>
          <a:p>
            <a:r>
              <a:rPr lang="en-US" altLang="zh-TW" dirty="0" smtClean="0">
                <a:solidFill>
                  <a:schemeClr val="bg1">
                    <a:lumMod val="50000"/>
                  </a:schemeClr>
                </a:solidFill>
              </a:rPr>
              <a:t>Compaction</a:t>
            </a:r>
            <a:endParaRPr lang="zh-TW" altLang="en-US" dirty="0" smtClean="0">
              <a:solidFill>
                <a:schemeClr val="bg1">
                  <a:lumMod val="50000"/>
                </a:schemeClr>
              </a:solidFill>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SSTable</a:t>
            </a:r>
            <a:endParaRPr lang="zh-TW" altLang="en-US" dirty="0"/>
          </a:p>
        </p:txBody>
      </p:sp>
      <p:sp>
        <p:nvSpPr>
          <p:cNvPr id="3" name="內容版面配置區 2"/>
          <p:cNvSpPr>
            <a:spLocks noGrp="1"/>
          </p:cNvSpPr>
          <p:nvPr>
            <p:ph idx="1"/>
          </p:nvPr>
        </p:nvSpPr>
        <p:spPr>
          <a:xfrm>
            <a:off x="457200" y="1600200"/>
            <a:ext cx="8229600" cy="4781128"/>
          </a:xfrm>
        </p:spPr>
        <p:txBody>
          <a:bodyPr>
            <a:normAutofit/>
          </a:bodyPr>
          <a:lstStyle/>
          <a:p>
            <a:r>
              <a:rPr lang="en-US" altLang="zh-TW" dirty="0" err="1" smtClean="0">
                <a:latin typeface="+mj-lt"/>
              </a:rPr>
              <a:t>SSTable</a:t>
            </a:r>
            <a:r>
              <a:rPr lang="en-US" altLang="zh-TW" dirty="0" smtClean="0">
                <a:latin typeface="+mj-lt"/>
              </a:rPr>
              <a:t>: sorted string table</a:t>
            </a:r>
          </a:p>
          <a:p>
            <a:pPr lvl="1"/>
            <a:r>
              <a:rPr lang="en-US" altLang="zh-TW" dirty="0" smtClean="0">
                <a:latin typeface="+mj-lt"/>
              </a:rPr>
              <a:t>Persistent, ordered, immutable map from keys to values</a:t>
            </a:r>
          </a:p>
          <a:p>
            <a:pPr lvl="2"/>
            <a:r>
              <a:rPr lang="en-US" altLang="zh-TW" dirty="0" smtClean="0">
                <a:latin typeface="+mj-lt"/>
              </a:rPr>
              <a:t>keys and values are arbitrary byte strings</a:t>
            </a:r>
          </a:p>
          <a:p>
            <a:pPr lvl="1"/>
            <a:r>
              <a:rPr lang="en-US" altLang="zh-TW" dirty="0" smtClean="0">
                <a:latin typeface="+mj-lt"/>
              </a:rPr>
              <a:t>Contains a sequence of blocks (typical size = 64KB), with a block index at the end of </a:t>
            </a:r>
            <a:r>
              <a:rPr lang="en-US" altLang="zh-TW" dirty="0" err="1" smtClean="0">
                <a:latin typeface="+mj-lt"/>
              </a:rPr>
              <a:t>SSTable</a:t>
            </a:r>
            <a:r>
              <a:rPr lang="en-US" altLang="zh-TW" dirty="0" smtClean="0">
                <a:latin typeface="+mj-lt"/>
              </a:rPr>
              <a:t> loaded at open time</a:t>
            </a:r>
          </a:p>
          <a:p>
            <a:pPr lvl="1"/>
            <a:r>
              <a:rPr lang="en-US" altLang="zh-TW" dirty="0" smtClean="0">
                <a:latin typeface="+mj-lt"/>
              </a:rPr>
              <a:t>One disk seek per block read</a:t>
            </a:r>
          </a:p>
          <a:p>
            <a:pPr lvl="1"/>
            <a:r>
              <a:rPr lang="en-US" altLang="zh-TW" dirty="0" smtClean="0">
                <a:latin typeface="+mj-lt"/>
              </a:rPr>
              <a:t>Operations: lookup(key), </a:t>
            </a:r>
          </a:p>
          <a:p>
            <a:pPr lvl="1">
              <a:buNone/>
            </a:pPr>
            <a:r>
              <a:rPr lang="en-US" altLang="zh-TW" dirty="0" smtClean="0">
                <a:latin typeface="+mj-lt"/>
              </a:rPr>
              <a:t>	iterate(</a:t>
            </a:r>
            <a:r>
              <a:rPr lang="en-US" altLang="zh-TW" dirty="0" err="1" smtClean="0">
                <a:latin typeface="+mj-lt"/>
              </a:rPr>
              <a:t>key_range</a:t>
            </a:r>
            <a:r>
              <a:rPr lang="en-US" altLang="zh-TW" dirty="0" smtClean="0">
                <a:latin typeface="+mj-lt"/>
              </a:rPr>
              <a:t>)</a:t>
            </a:r>
          </a:p>
          <a:p>
            <a:pPr lvl="1"/>
            <a:r>
              <a:rPr lang="en-US" altLang="zh-TW" dirty="0" smtClean="0">
                <a:latin typeface="+mj-lt"/>
              </a:rPr>
              <a:t>An </a:t>
            </a:r>
            <a:r>
              <a:rPr lang="en-US" altLang="zh-TW" dirty="0" err="1" smtClean="0">
                <a:latin typeface="+mj-lt"/>
              </a:rPr>
              <a:t>SSTable</a:t>
            </a:r>
            <a:r>
              <a:rPr lang="en-US" altLang="zh-TW" dirty="0" smtClean="0">
                <a:latin typeface="+mj-lt"/>
              </a:rPr>
              <a:t> can be </a:t>
            </a:r>
          </a:p>
          <a:p>
            <a:pPr lvl="1">
              <a:buNone/>
            </a:pPr>
            <a:r>
              <a:rPr lang="en-US" altLang="zh-TW" dirty="0" smtClean="0">
                <a:latin typeface="+mj-lt"/>
              </a:rPr>
              <a:t>	mapped into memory</a:t>
            </a:r>
            <a:endParaRPr lang="zh-TW" altLang="en-US" dirty="0">
              <a:latin typeface="+mj-lt"/>
            </a:endParaRPr>
          </a:p>
        </p:txBody>
      </p:sp>
      <p:grpSp>
        <p:nvGrpSpPr>
          <p:cNvPr id="14" name="群組 13"/>
          <p:cNvGrpSpPr/>
          <p:nvPr/>
        </p:nvGrpSpPr>
        <p:grpSpPr>
          <a:xfrm>
            <a:off x="4572000" y="4581128"/>
            <a:ext cx="4320478" cy="1872208"/>
            <a:chOff x="2051720" y="5365576"/>
            <a:chExt cx="4092575" cy="1447800"/>
          </a:xfrm>
        </p:grpSpPr>
        <p:sp>
          <p:nvSpPr>
            <p:cNvPr id="4" name="Rectangle 4"/>
            <p:cNvSpPr>
              <a:spLocks noChangeArrowheads="1"/>
            </p:cNvSpPr>
            <p:nvPr/>
          </p:nvSpPr>
          <p:spPr bwMode="auto">
            <a:xfrm>
              <a:off x="2127920" y="5441776"/>
              <a:ext cx="914400" cy="1295400"/>
            </a:xfrm>
            <a:prstGeom prst="rect">
              <a:avLst/>
            </a:prstGeom>
            <a:no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5" name="Rectangle 5"/>
            <p:cNvSpPr>
              <a:spLocks noChangeArrowheads="1"/>
            </p:cNvSpPr>
            <p:nvPr/>
          </p:nvSpPr>
          <p:spPr bwMode="auto">
            <a:xfrm>
              <a:off x="3118520" y="5441776"/>
              <a:ext cx="914400" cy="1295400"/>
            </a:xfrm>
            <a:prstGeom prst="rect">
              <a:avLst/>
            </a:prstGeom>
            <a:no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6" name="Rectangle 6"/>
            <p:cNvSpPr>
              <a:spLocks noChangeArrowheads="1"/>
            </p:cNvSpPr>
            <p:nvPr/>
          </p:nvSpPr>
          <p:spPr bwMode="auto">
            <a:xfrm>
              <a:off x="4109120" y="5441776"/>
              <a:ext cx="914400" cy="1295400"/>
            </a:xfrm>
            <a:prstGeom prst="rect">
              <a:avLst/>
            </a:prstGeom>
            <a:no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7" name="Rectangle 7"/>
            <p:cNvSpPr>
              <a:spLocks noChangeArrowheads="1"/>
            </p:cNvSpPr>
            <p:nvPr/>
          </p:nvSpPr>
          <p:spPr bwMode="auto">
            <a:xfrm>
              <a:off x="5099720" y="6279976"/>
              <a:ext cx="762000" cy="457200"/>
            </a:xfrm>
            <a:prstGeom prst="rect">
              <a:avLst/>
            </a:prstGeom>
            <a:no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8" name="Text Box 8"/>
            <p:cNvSpPr txBox="1">
              <a:spLocks noChangeArrowheads="1"/>
            </p:cNvSpPr>
            <p:nvPr/>
          </p:nvSpPr>
          <p:spPr bwMode="auto">
            <a:xfrm>
              <a:off x="5099720" y="6356176"/>
              <a:ext cx="742950" cy="366713"/>
            </a:xfrm>
            <a:prstGeom prst="rect">
              <a:avLst/>
            </a:prstGeom>
            <a:noFill/>
            <a:ln w="9525">
              <a:noFill/>
              <a:miter lim="800000"/>
              <a:headEnd/>
              <a:tailEnd/>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ysClr val="windowText" lastClr="000000"/>
                  </a:solidFill>
                  <a:effectLst/>
                  <a:uLnTx/>
                  <a:uFillTx/>
                </a:rPr>
                <a:t>Index</a:t>
              </a:r>
            </a:p>
          </p:txBody>
        </p:sp>
        <p:sp>
          <p:nvSpPr>
            <p:cNvPr id="9" name="Rectangle 9"/>
            <p:cNvSpPr>
              <a:spLocks noChangeArrowheads="1"/>
            </p:cNvSpPr>
            <p:nvPr/>
          </p:nvSpPr>
          <p:spPr bwMode="auto">
            <a:xfrm>
              <a:off x="2051720" y="5365576"/>
              <a:ext cx="4038600" cy="1447800"/>
            </a:xfrm>
            <a:prstGeom prst="rect">
              <a:avLst/>
            </a:prstGeom>
            <a:no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0" name="Text Box 16"/>
            <p:cNvSpPr txBox="1">
              <a:spLocks noChangeArrowheads="1"/>
            </p:cNvSpPr>
            <p:nvPr/>
          </p:nvSpPr>
          <p:spPr bwMode="auto">
            <a:xfrm>
              <a:off x="2127920" y="5517976"/>
              <a:ext cx="838200" cy="641350"/>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ysClr val="windowText" lastClr="000000"/>
                  </a:solidFill>
                  <a:effectLst/>
                  <a:uLnTx/>
                  <a:uFillTx/>
                </a:rPr>
                <a:t>64K block</a:t>
              </a:r>
            </a:p>
          </p:txBody>
        </p:sp>
        <p:sp>
          <p:nvSpPr>
            <p:cNvPr id="11" name="Text Box 17"/>
            <p:cNvSpPr txBox="1">
              <a:spLocks noChangeArrowheads="1"/>
            </p:cNvSpPr>
            <p:nvPr/>
          </p:nvSpPr>
          <p:spPr bwMode="auto">
            <a:xfrm>
              <a:off x="3118520" y="5517976"/>
              <a:ext cx="838200" cy="641350"/>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ysClr val="windowText" lastClr="000000"/>
                  </a:solidFill>
                  <a:effectLst/>
                  <a:uLnTx/>
                  <a:uFillTx/>
                </a:rPr>
                <a:t>64K block</a:t>
              </a:r>
            </a:p>
          </p:txBody>
        </p:sp>
        <p:sp>
          <p:nvSpPr>
            <p:cNvPr id="12" name="Text Box 18"/>
            <p:cNvSpPr txBox="1">
              <a:spLocks noChangeArrowheads="1"/>
            </p:cNvSpPr>
            <p:nvPr/>
          </p:nvSpPr>
          <p:spPr bwMode="auto">
            <a:xfrm>
              <a:off x="4109120" y="5517976"/>
              <a:ext cx="838200" cy="641350"/>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ysClr val="windowText" lastClr="000000"/>
                  </a:solidFill>
                  <a:effectLst/>
                  <a:uLnTx/>
                  <a:uFillTx/>
                </a:rPr>
                <a:t>64K block</a:t>
              </a:r>
            </a:p>
          </p:txBody>
        </p:sp>
        <p:sp>
          <p:nvSpPr>
            <p:cNvPr id="13" name="Text Box 19"/>
            <p:cNvSpPr txBox="1">
              <a:spLocks noChangeArrowheads="1"/>
            </p:cNvSpPr>
            <p:nvPr/>
          </p:nvSpPr>
          <p:spPr bwMode="auto">
            <a:xfrm>
              <a:off x="5083845" y="5402089"/>
              <a:ext cx="1060450" cy="366712"/>
            </a:xfrm>
            <a:prstGeom prst="rect">
              <a:avLst/>
            </a:prstGeom>
            <a:noFill/>
            <a:ln w="9525">
              <a:noFill/>
              <a:miter lim="800000"/>
              <a:headEnd/>
              <a:tailEnd/>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ysClr val="windowText" lastClr="000000"/>
                  </a:solidFill>
                  <a:effectLst/>
                  <a:uLnTx/>
                  <a:uFillTx/>
                </a:rPr>
                <a:t>SSTable</a:t>
              </a:r>
            </a:p>
          </p:txBody>
        </p:sp>
      </p:gr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Tablets &amp; Splitting</a:t>
            </a:r>
            <a:endParaRPr lang="zh-TW" altLang="en-US" dirty="0"/>
          </a:p>
        </p:txBody>
      </p:sp>
      <p:sp>
        <p:nvSpPr>
          <p:cNvPr id="4" name="矩形 3"/>
          <p:cNvSpPr/>
          <p:nvPr/>
        </p:nvSpPr>
        <p:spPr>
          <a:xfrm>
            <a:off x="2780631" y="1775899"/>
            <a:ext cx="5782491" cy="149787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dirty="0"/>
          </a:p>
        </p:txBody>
      </p:sp>
      <p:cxnSp>
        <p:nvCxnSpPr>
          <p:cNvPr id="6" name="直線接點 5"/>
          <p:cNvCxnSpPr/>
          <p:nvPr/>
        </p:nvCxnSpPr>
        <p:spPr>
          <a:xfrm>
            <a:off x="2771800" y="2418552"/>
            <a:ext cx="5760640"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9" name="直線接點 8"/>
          <p:cNvCxnSpPr/>
          <p:nvPr/>
        </p:nvCxnSpPr>
        <p:spPr>
          <a:xfrm>
            <a:off x="2771800" y="2665375"/>
            <a:ext cx="5760640"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11" name="直線接點 10"/>
          <p:cNvCxnSpPr/>
          <p:nvPr/>
        </p:nvCxnSpPr>
        <p:spPr>
          <a:xfrm rot="5400000">
            <a:off x="2663788" y="2528900"/>
            <a:ext cx="1512168"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rot="5400000">
            <a:off x="3061000" y="2528900"/>
            <a:ext cx="1512168"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14" name="直線接點 13"/>
          <p:cNvCxnSpPr/>
          <p:nvPr/>
        </p:nvCxnSpPr>
        <p:spPr>
          <a:xfrm rot="5400000">
            <a:off x="4824028" y="2528900"/>
            <a:ext cx="1512168"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15" name="直線接點 14"/>
          <p:cNvCxnSpPr/>
          <p:nvPr/>
        </p:nvCxnSpPr>
        <p:spPr>
          <a:xfrm rot="5400000">
            <a:off x="5976156" y="2528900"/>
            <a:ext cx="1512168"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sp>
        <p:nvSpPr>
          <p:cNvPr id="16" name="文字方塊 15"/>
          <p:cNvSpPr txBox="1"/>
          <p:nvPr/>
        </p:nvSpPr>
        <p:spPr>
          <a:xfrm>
            <a:off x="3408827" y="2359925"/>
            <a:ext cx="504056" cy="369332"/>
          </a:xfrm>
          <a:prstGeom prst="rect">
            <a:avLst/>
          </a:prstGeom>
          <a:noFill/>
        </p:spPr>
        <p:txBody>
          <a:bodyPr wrap="square" rtlCol="0">
            <a:spAutoFit/>
          </a:bodyPr>
          <a:lstStyle/>
          <a:p>
            <a:r>
              <a:rPr lang="en-US" altLang="zh-TW" dirty="0" smtClean="0"/>
              <a:t>EN</a:t>
            </a:r>
            <a:endParaRPr lang="zh-TW" altLang="en-US" dirty="0"/>
          </a:p>
        </p:txBody>
      </p:sp>
      <p:sp>
        <p:nvSpPr>
          <p:cNvPr id="17" name="矩形 16"/>
          <p:cNvSpPr/>
          <p:nvPr/>
        </p:nvSpPr>
        <p:spPr>
          <a:xfrm>
            <a:off x="3411163" y="2403470"/>
            <a:ext cx="432048" cy="2880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17"/>
          <p:cNvSpPr/>
          <p:nvPr/>
        </p:nvSpPr>
        <p:spPr>
          <a:xfrm>
            <a:off x="5580112" y="2403470"/>
            <a:ext cx="1152128" cy="2880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“&lt;html&gt;…”</a:t>
            </a:r>
            <a:endParaRPr lang="zh-TW" altLang="en-US" dirty="0">
              <a:solidFill>
                <a:schemeClr val="tx1"/>
              </a:solidFill>
            </a:endParaRPr>
          </a:p>
        </p:txBody>
      </p:sp>
      <p:sp>
        <p:nvSpPr>
          <p:cNvPr id="19" name="文字方塊 18"/>
          <p:cNvSpPr txBox="1"/>
          <p:nvPr/>
        </p:nvSpPr>
        <p:spPr>
          <a:xfrm>
            <a:off x="4355976" y="3573016"/>
            <a:ext cx="864096" cy="369332"/>
          </a:xfrm>
          <a:prstGeom prst="rect">
            <a:avLst/>
          </a:prstGeom>
          <a:noFill/>
        </p:spPr>
        <p:txBody>
          <a:bodyPr wrap="square" rtlCol="0">
            <a:spAutoFit/>
          </a:bodyPr>
          <a:lstStyle/>
          <a:p>
            <a:r>
              <a:rPr lang="en-US" altLang="zh-TW" dirty="0" smtClean="0"/>
              <a:t>…</a:t>
            </a:r>
            <a:endParaRPr lang="zh-TW" altLang="en-US" dirty="0"/>
          </a:p>
        </p:txBody>
      </p:sp>
      <p:grpSp>
        <p:nvGrpSpPr>
          <p:cNvPr id="3" name="群組 80"/>
          <p:cNvGrpSpPr/>
          <p:nvPr/>
        </p:nvGrpSpPr>
        <p:grpSpPr>
          <a:xfrm>
            <a:off x="2771800" y="4293096"/>
            <a:ext cx="5782491" cy="2016224"/>
            <a:chOff x="2771800" y="4293096"/>
            <a:chExt cx="5782491" cy="2016224"/>
          </a:xfrm>
        </p:grpSpPr>
        <p:sp>
          <p:nvSpPr>
            <p:cNvPr id="20" name="矩形 19"/>
            <p:cNvSpPr/>
            <p:nvPr/>
          </p:nvSpPr>
          <p:spPr>
            <a:xfrm>
              <a:off x="2771800" y="4293096"/>
              <a:ext cx="5782491" cy="201622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dirty="0"/>
            </a:p>
          </p:txBody>
        </p:sp>
        <p:cxnSp>
          <p:nvCxnSpPr>
            <p:cNvPr id="29" name="直線接點 28"/>
            <p:cNvCxnSpPr/>
            <p:nvPr/>
          </p:nvCxnSpPr>
          <p:spPr>
            <a:xfrm rot="5400000">
              <a:off x="2411760" y="5301208"/>
              <a:ext cx="2016224"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30" name="直線接點 29"/>
            <p:cNvCxnSpPr/>
            <p:nvPr/>
          </p:nvCxnSpPr>
          <p:spPr>
            <a:xfrm rot="5400000">
              <a:off x="2800263" y="5301208"/>
              <a:ext cx="2016224"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31" name="直線接點 30"/>
            <p:cNvCxnSpPr/>
            <p:nvPr/>
          </p:nvCxnSpPr>
          <p:spPr>
            <a:xfrm rot="5400000">
              <a:off x="4572000" y="5301208"/>
              <a:ext cx="2016224"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32" name="直線接點 31"/>
            <p:cNvCxnSpPr/>
            <p:nvPr/>
          </p:nvCxnSpPr>
          <p:spPr>
            <a:xfrm rot="5400000">
              <a:off x="5724128" y="5301208"/>
              <a:ext cx="2016224"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grpSp>
      <p:sp>
        <p:nvSpPr>
          <p:cNvPr id="33" name="矩形 32"/>
          <p:cNvSpPr/>
          <p:nvPr/>
        </p:nvSpPr>
        <p:spPr>
          <a:xfrm>
            <a:off x="2627784" y="1628800"/>
            <a:ext cx="6120680" cy="18002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p:cNvSpPr/>
          <p:nvPr/>
        </p:nvSpPr>
        <p:spPr>
          <a:xfrm>
            <a:off x="2627784" y="4149080"/>
            <a:ext cx="6120680" cy="108012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矩形 43"/>
          <p:cNvSpPr/>
          <p:nvPr/>
        </p:nvSpPr>
        <p:spPr>
          <a:xfrm>
            <a:off x="2627784" y="5373216"/>
            <a:ext cx="6120680" cy="108012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p:cNvSpPr/>
          <p:nvPr/>
        </p:nvSpPr>
        <p:spPr>
          <a:xfrm>
            <a:off x="395536" y="2348880"/>
            <a:ext cx="1167499" cy="369332"/>
          </a:xfrm>
          <a:prstGeom prst="rect">
            <a:avLst/>
          </a:prstGeom>
        </p:spPr>
        <p:txBody>
          <a:bodyPr wrap="none">
            <a:spAutoFit/>
          </a:bodyPr>
          <a:lstStyle/>
          <a:p>
            <a:r>
              <a:rPr lang="en-US" altLang="zh-TW" dirty="0" smtClean="0"/>
              <a:t>“cnn.com”</a:t>
            </a:r>
            <a:endParaRPr lang="zh-TW" altLang="en-US" dirty="0"/>
          </a:p>
        </p:txBody>
      </p:sp>
      <p:sp>
        <p:nvSpPr>
          <p:cNvPr id="46" name="矩形 45"/>
          <p:cNvSpPr/>
          <p:nvPr/>
        </p:nvSpPr>
        <p:spPr>
          <a:xfrm>
            <a:off x="395536" y="1844824"/>
            <a:ext cx="1162947" cy="369332"/>
          </a:xfrm>
          <a:prstGeom prst="rect">
            <a:avLst/>
          </a:prstGeom>
        </p:spPr>
        <p:txBody>
          <a:bodyPr wrap="none">
            <a:spAutoFit/>
          </a:bodyPr>
          <a:lstStyle/>
          <a:p>
            <a:r>
              <a:rPr lang="en-US" altLang="zh-TW" dirty="0" smtClean="0"/>
              <a:t>“aaa.com”</a:t>
            </a:r>
            <a:endParaRPr lang="zh-TW" altLang="en-US" dirty="0"/>
          </a:p>
        </p:txBody>
      </p:sp>
      <p:sp>
        <p:nvSpPr>
          <p:cNvPr id="47" name="矩形 46"/>
          <p:cNvSpPr/>
          <p:nvPr/>
        </p:nvSpPr>
        <p:spPr>
          <a:xfrm>
            <a:off x="251520" y="2780928"/>
            <a:ext cx="2324739" cy="369332"/>
          </a:xfrm>
          <a:prstGeom prst="rect">
            <a:avLst/>
          </a:prstGeom>
        </p:spPr>
        <p:txBody>
          <a:bodyPr wrap="none">
            <a:spAutoFit/>
          </a:bodyPr>
          <a:lstStyle/>
          <a:p>
            <a:r>
              <a:rPr lang="en-US" altLang="zh-TW" dirty="0" smtClean="0"/>
              <a:t>“cnn.com/sports.html”</a:t>
            </a:r>
            <a:endParaRPr lang="zh-TW" altLang="en-US" dirty="0"/>
          </a:p>
        </p:txBody>
      </p:sp>
      <p:cxnSp>
        <p:nvCxnSpPr>
          <p:cNvPr id="49" name="直線單箭頭接點 48"/>
          <p:cNvCxnSpPr/>
          <p:nvPr/>
        </p:nvCxnSpPr>
        <p:spPr>
          <a:xfrm>
            <a:off x="2693419" y="2545898"/>
            <a:ext cx="21602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1" name="矩形 50"/>
          <p:cNvSpPr/>
          <p:nvPr/>
        </p:nvSpPr>
        <p:spPr>
          <a:xfrm>
            <a:off x="755576" y="3140968"/>
            <a:ext cx="921471" cy="400110"/>
          </a:xfrm>
          <a:prstGeom prst="rect">
            <a:avLst/>
          </a:prstGeom>
        </p:spPr>
        <p:txBody>
          <a:bodyPr wrap="none">
            <a:spAutoFit/>
          </a:bodyPr>
          <a:lstStyle/>
          <a:p>
            <a:r>
              <a:rPr lang="en-US" altLang="zh-TW" sz="2000" dirty="0" smtClean="0">
                <a:solidFill>
                  <a:srgbClr val="FF0000"/>
                </a:solidFill>
              </a:rPr>
              <a:t>Tablets</a:t>
            </a:r>
            <a:endParaRPr lang="zh-TW" altLang="en-US" sz="2000" dirty="0">
              <a:solidFill>
                <a:srgbClr val="FF0000"/>
              </a:solidFill>
            </a:endParaRPr>
          </a:p>
        </p:txBody>
      </p:sp>
      <p:sp>
        <p:nvSpPr>
          <p:cNvPr id="52" name="矩形 51"/>
          <p:cNvSpPr/>
          <p:nvPr/>
        </p:nvSpPr>
        <p:spPr>
          <a:xfrm>
            <a:off x="467544" y="4221088"/>
            <a:ext cx="1568443" cy="369332"/>
          </a:xfrm>
          <a:prstGeom prst="rect">
            <a:avLst/>
          </a:prstGeom>
        </p:spPr>
        <p:txBody>
          <a:bodyPr wrap="none">
            <a:spAutoFit/>
          </a:bodyPr>
          <a:lstStyle/>
          <a:p>
            <a:r>
              <a:rPr lang="en-US" altLang="zh-TW" dirty="0" smtClean="0"/>
              <a:t>“website.com”</a:t>
            </a:r>
            <a:endParaRPr lang="zh-TW" altLang="en-US" dirty="0"/>
          </a:p>
        </p:txBody>
      </p:sp>
      <p:sp>
        <p:nvSpPr>
          <p:cNvPr id="53" name="文字方塊 52"/>
          <p:cNvSpPr txBox="1"/>
          <p:nvPr/>
        </p:nvSpPr>
        <p:spPr>
          <a:xfrm>
            <a:off x="1115616" y="4474284"/>
            <a:ext cx="432048" cy="369332"/>
          </a:xfrm>
          <a:prstGeom prst="rect">
            <a:avLst/>
          </a:prstGeom>
          <a:noFill/>
        </p:spPr>
        <p:txBody>
          <a:bodyPr wrap="square" rtlCol="0">
            <a:spAutoFit/>
          </a:bodyPr>
          <a:lstStyle/>
          <a:p>
            <a:r>
              <a:rPr lang="en-US" altLang="zh-TW" dirty="0" smtClean="0"/>
              <a:t>…</a:t>
            </a:r>
            <a:endParaRPr lang="zh-TW" altLang="en-US" dirty="0"/>
          </a:p>
        </p:txBody>
      </p:sp>
      <p:sp>
        <p:nvSpPr>
          <p:cNvPr id="54" name="文字方塊 53"/>
          <p:cNvSpPr txBox="1"/>
          <p:nvPr/>
        </p:nvSpPr>
        <p:spPr>
          <a:xfrm>
            <a:off x="1115616" y="5076475"/>
            <a:ext cx="432048" cy="369332"/>
          </a:xfrm>
          <a:prstGeom prst="rect">
            <a:avLst/>
          </a:prstGeom>
          <a:noFill/>
        </p:spPr>
        <p:txBody>
          <a:bodyPr wrap="square" rtlCol="0">
            <a:spAutoFit/>
          </a:bodyPr>
          <a:lstStyle/>
          <a:p>
            <a:r>
              <a:rPr lang="en-US" altLang="zh-TW" dirty="0" smtClean="0"/>
              <a:t>…</a:t>
            </a:r>
            <a:endParaRPr lang="zh-TW" altLang="en-US" dirty="0"/>
          </a:p>
        </p:txBody>
      </p:sp>
      <p:sp>
        <p:nvSpPr>
          <p:cNvPr id="55" name="矩形 54"/>
          <p:cNvSpPr/>
          <p:nvPr/>
        </p:nvSpPr>
        <p:spPr>
          <a:xfrm>
            <a:off x="251520" y="4797152"/>
            <a:ext cx="2363660" cy="369332"/>
          </a:xfrm>
          <a:prstGeom prst="rect">
            <a:avLst/>
          </a:prstGeom>
        </p:spPr>
        <p:txBody>
          <a:bodyPr wrap="none">
            <a:spAutoFit/>
          </a:bodyPr>
          <a:lstStyle/>
          <a:p>
            <a:r>
              <a:rPr lang="en-US" altLang="zh-TW" dirty="0" smtClean="0"/>
              <a:t>“yahoo.com/kids.html”</a:t>
            </a:r>
            <a:endParaRPr lang="zh-TW" altLang="en-US" dirty="0"/>
          </a:p>
        </p:txBody>
      </p:sp>
      <p:sp>
        <p:nvSpPr>
          <p:cNvPr id="56" name="矩形 55"/>
          <p:cNvSpPr/>
          <p:nvPr/>
        </p:nvSpPr>
        <p:spPr>
          <a:xfrm>
            <a:off x="107504" y="5373216"/>
            <a:ext cx="2570447" cy="369332"/>
          </a:xfrm>
          <a:prstGeom prst="rect">
            <a:avLst/>
          </a:prstGeom>
        </p:spPr>
        <p:txBody>
          <a:bodyPr wrap="none">
            <a:spAutoFit/>
          </a:bodyPr>
          <a:lstStyle/>
          <a:p>
            <a:r>
              <a:rPr lang="en-US" altLang="zh-TW" dirty="0" smtClean="0"/>
              <a:t>“yahoo.com/kids.html\0”</a:t>
            </a:r>
            <a:endParaRPr lang="zh-TW" altLang="en-US" dirty="0"/>
          </a:p>
        </p:txBody>
      </p:sp>
      <p:sp>
        <p:nvSpPr>
          <p:cNvPr id="57" name="文字方塊 56"/>
          <p:cNvSpPr txBox="1"/>
          <p:nvPr/>
        </p:nvSpPr>
        <p:spPr>
          <a:xfrm>
            <a:off x="1115616" y="5723964"/>
            <a:ext cx="432048" cy="369332"/>
          </a:xfrm>
          <a:prstGeom prst="rect">
            <a:avLst/>
          </a:prstGeom>
          <a:noFill/>
        </p:spPr>
        <p:txBody>
          <a:bodyPr wrap="square" rtlCol="0">
            <a:spAutoFit/>
          </a:bodyPr>
          <a:lstStyle/>
          <a:p>
            <a:r>
              <a:rPr lang="en-US" altLang="zh-TW" dirty="0" smtClean="0"/>
              <a:t>…</a:t>
            </a:r>
            <a:endParaRPr lang="zh-TW" altLang="en-US" dirty="0"/>
          </a:p>
        </p:txBody>
      </p:sp>
      <p:sp>
        <p:nvSpPr>
          <p:cNvPr id="58" name="矩形 57"/>
          <p:cNvSpPr/>
          <p:nvPr/>
        </p:nvSpPr>
        <p:spPr>
          <a:xfrm>
            <a:off x="153385" y="6084004"/>
            <a:ext cx="2527872" cy="369332"/>
          </a:xfrm>
          <a:prstGeom prst="rect">
            <a:avLst/>
          </a:prstGeom>
        </p:spPr>
        <p:txBody>
          <a:bodyPr wrap="none">
            <a:spAutoFit/>
          </a:bodyPr>
          <a:lstStyle/>
          <a:p>
            <a:r>
              <a:rPr lang="en-US" altLang="zh-TW" dirty="0" smtClean="0"/>
              <a:t>“zuppa.com/menu.html”</a:t>
            </a:r>
            <a:endParaRPr lang="zh-TW" altLang="en-US" dirty="0"/>
          </a:p>
        </p:txBody>
      </p:sp>
      <p:cxnSp>
        <p:nvCxnSpPr>
          <p:cNvPr id="60" name="直線單箭頭接點 59"/>
          <p:cNvCxnSpPr/>
          <p:nvPr/>
        </p:nvCxnSpPr>
        <p:spPr>
          <a:xfrm rot="5400000">
            <a:off x="3455082" y="1736812"/>
            <a:ext cx="36083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1" name="直線單箭頭接點 60"/>
          <p:cNvCxnSpPr/>
          <p:nvPr/>
        </p:nvCxnSpPr>
        <p:spPr>
          <a:xfrm rot="5400000">
            <a:off x="5970635" y="1731293"/>
            <a:ext cx="360040" cy="1104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2" name="矩形 61"/>
          <p:cNvSpPr/>
          <p:nvPr/>
        </p:nvSpPr>
        <p:spPr>
          <a:xfrm>
            <a:off x="2987824" y="1196752"/>
            <a:ext cx="1288814" cy="369332"/>
          </a:xfrm>
          <a:prstGeom prst="rect">
            <a:avLst/>
          </a:prstGeom>
        </p:spPr>
        <p:txBody>
          <a:bodyPr wrap="none">
            <a:spAutoFit/>
          </a:bodyPr>
          <a:lstStyle/>
          <a:p>
            <a:r>
              <a:rPr lang="en-US" altLang="zh-TW" dirty="0" smtClean="0"/>
              <a:t>“language:”</a:t>
            </a:r>
            <a:endParaRPr lang="zh-TW" altLang="en-US" dirty="0"/>
          </a:p>
        </p:txBody>
      </p:sp>
      <p:sp>
        <p:nvSpPr>
          <p:cNvPr id="63" name="矩形 62"/>
          <p:cNvSpPr/>
          <p:nvPr/>
        </p:nvSpPr>
        <p:spPr>
          <a:xfrm>
            <a:off x="5542940" y="1196752"/>
            <a:ext cx="1242520" cy="369332"/>
          </a:xfrm>
          <a:prstGeom prst="rect">
            <a:avLst/>
          </a:prstGeom>
        </p:spPr>
        <p:txBody>
          <a:bodyPr wrap="none">
            <a:spAutoFit/>
          </a:bodyPr>
          <a:lstStyle/>
          <a:p>
            <a:r>
              <a:rPr lang="en-US" altLang="zh-TW" dirty="0" smtClean="0"/>
              <a:t>“contents:”</a:t>
            </a:r>
            <a:endParaRPr lang="zh-TW" altLang="en-US" dirty="0"/>
          </a:p>
        </p:txBody>
      </p:sp>
      <p:grpSp>
        <p:nvGrpSpPr>
          <p:cNvPr id="5" name="群組 90"/>
          <p:cNvGrpSpPr/>
          <p:nvPr/>
        </p:nvGrpSpPr>
        <p:grpSpPr>
          <a:xfrm>
            <a:off x="2771800" y="4293096"/>
            <a:ext cx="5782491" cy="792089"/>
            <a:chOff x="2771800" y="4293096"/>
            <a:chExt cx="5782491" cy="792089"/>
          </a:xfrm>
        </p:grpSpPr>
        <p:sp>
          <p:nvSpPr>
            <p:cNvPr id="79" name="矩形 78"/>
            <p:cNvSpPr/>
            <p:nvPr/>
          </p:nvSpPr>
          <p:spPr>
            <a:xfrm>
              <a:off x="2771800" y="4293097"/>
              <a:ext cx="5782491" cy="79208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dirty="0"/>
            </a:p>
          </p:txBody>
        </p:sp>
        <p:cxnSp>
          <p:nvCxnSpPr>
            <p:cNvPr id="82" name="直線接點 81"/>
            <p:cNvCxnSpPr/>
            <p:nvPr/>
          </p:nvCxnSpPr>
          <p:spPr>
            <a:xfrm rot="5400000">
              <a:off x="3023828" y="4689140"/>
              <a:ext cx="792088"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84" name="直線接點 83"/>
            <p:cNvCxnSpPr/>
            <p:nvPr/>
          </p:nvCxnSpPr>
          <p:spPr>
            <a:xfrm rot="5400000">
              <a:off x="3409995" y="4689140"/>
              <a:ext cx="792088"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87" name="直線接點 86"/>
            <p:cNvCxnSpPr/>
            <p:nvPr/>
          </p:nvCxnSpPr>
          <p:spPr>
            <a:xfrm rot="5400000">
              <a:off x="5184068" y="4689140"/>
              <a:ext cx="792088"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88" name="直線接點 87"/>
            <p:cNvCxnSpPr/>
            <p:nvPr/>
          </p:nvCxnSpPr>
          <p:spPr>
            <a:xfrm rot="5400000">
              <a:off x="6336196" y="4689140"/>
              <a:ext cx="792088"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grpSp>
      <p:grpSp>
        <p:nvGrpSpPr>
          <p:cNvPr id="7" name="群組 91"/>
          <p:cNvGrpSpPr/>
          <p:nvPr/>
        </p:nvGrpSpPr>
        <p:grpSpPr>
          <a:xfrm>
            <a:off x="2771800" y="5517232"/>
            <a:ext cx="5782491" cy="792088"/>
            <a:chOff x="2771800" y="5517232"/>
            <a:chExt cx="5782491" cy="792088"/>
          </a:xfrm>
        </p:grpSpPr>
        <p:sp>
          <p:nvSpPr>
            <p:cNvPr id="80" name="矩形 79"/>
            <p:cNvSpPr/>
            <p:nvPr/>
          </p:nvSpPr>
          <p:spPr>
            <a:xfrm>
              <a:off x="2771800" y="5517232"/>
              <a:ext cx="5782491" cy="79208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dirty="0"/>
            </a:p>
          </p:txBody>
        </p:sp>
        <p:cxnSp>
          <p:nvCxnSpPr>
            <p:cNvPr id="85" name="直線接點 84"/>
            <p:cNvCxnSpPr/>
            <p:nvPr/>
          </p:nvCxnSpPr>
          <p:spPr>
            <a:xfrm rot="5400000">
              <a:off x="3023828" y="5913276"/>
              <a:ext cx="792088"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86" name="直線接點 85"/>
            <p:cNvCxnSpPr/>
            <p:nvPr/>
          </p:nvCxnSpPr>
          <p:spPr>
            <a:xfrm rot="5400000">
              <a:off x="3412331" y="5913276"/>
              <a:ext cx="792088"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89" name="直線接點 88"/>
            <p:cNvCxnSpPr/>
            <p:nvPr/>
          </p:nvCxnSpPr>
          <p:spPr>
            <a:xfrm rot="5400000">
              <a:off x="5184068" y="5913276"/>
              <a:ext cx="792088"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90" name="直線接點 89"/>
            <p:cNvCxnSpPr/>
            <p:nvPr/>
          </p:nvCxnSpPr>
          <p:spPr>
            <a:xfrm rot="5400000">
              <a:off x="6336196" y="5913276"/>
              <a:ext cx="792088"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grpSp>
      <p:sp>
        <p:nvSpPr>
          <p:cNvPr id="93" name="矩形 92"/>
          <p:cNvSpPr/>
          <p:nvPr/>
        </p:nvSpPr>
        <p:spPr>
          <a:xfrm>
            <a:off x="2627784" y="4149080"/>
            <a:ext cx="6120680" cy="230425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2000"/>
                                        <p:tgtEl>
                                          <p:spTgt spid="5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3"/>
                                        </p:tgtEl>
                                        <p:attrNameLst>
                                          <p:attrName>style.visibility</p:attrName>
                                        </p:attrNameLst>
                                      </p:cBhvr>
                                      <p:to>
                                        <p:strVal val="visible"/>
                                      </p:to>
                                    </p:set>
                                    <p:animEffect transition="in" filter="fade">
                                      <p:cBhvr>
                                        <p:cTn id="10" dur="2000"/>
                                        <p:tgtEl>
                                          <p:spTgt spid="5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6"/>
                                        </p:tgtEl>
                                        <p:attrNameLst>
                                          <p:attrName>style.visibility</p:attrName>
                                        </p:attrNameLst>
                                      </p:cBhvr>
                                      <p:to>
                                        <p:strVal val="visible"/>
                                      </p:to>
                                    </p:set>
                                    <p:animEffect transition="in" filter="fade">
                                      <p:cBhvr>
                                        <p:cTn id="13" dur="2000"/>
                                        <p:tgtEl>
                                          <p:spTgt spid="5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7"/>
                                        </p:tgtEl>
                                        <p:attrNameLst>
                                          <p:attrName>style.visibility</p:attrName>
                                        </p:attrNameLst>
                                      </p:cBhvr>
                                      <p:to>
                                        <p:strVal val="visible"/>
                                      </p:to>
                                    </p:set>
                                    <p:animEffect transition="in" filter="fade">
                                      <p:cBhvr>
                                        <p:cTn id="16" dur="2000"/>
                                        <p:tgtEl>
                                          <p:spTgt spid="57"/>
                                        </p:tgtEl>
                                      </p:cBhvr>
                                    </p:animEffect>
                                  </p:childTnLst>
                                </p:cTn>
                              </p:par>
                              <p:par>
                                <p:cTn id="17" presetID="10" presetClass="exit" presetSubtype="0" fill="hold" grpId="0" nodeType="withEffect">
                                  <p:stCondLst>
                                    <p:cond delay="0"/>
                                  </p:stCondLst>
                                  <p:childTnLst>
                                    <p:animEffect transition="out" filter="fade">
                                      <p:cBhvr>
                                        <p:cTn id="18" dur="2000"/>
                                        <p:tgtEl>
                                          <p:spTgt spid="54"/>
                                        </p:tgtEl>
                                      </p:cBhvr>
                                    </p:animEffect>
                                    <p:set>
                                      <p:cBhvr>
                                        <p:cTn id="19" dur="1" fill="hold">
                                          <p:stCondLst>
                                            <p:cond delay="1999"/>
                                          </p:stCondLst>
                                        </p:cTn>
                                        <p:tgtEl>
                                          <p:spTgt spid="54"/>
                                        </p:tgtEl>
                                        <p:attrNameLst>
                                          <p:attrName>style.visibility</p:attrName>
                                        </p:attrNameLst>
                                      </p:cBhvr>
                                      <p:to>
                                        <p:strVal val="hidden"/>
                                      </p:to>
                                    </p:set>
                                  </p:childTnLst>
                                </p:cTn>
                              </p:par>
                              <p:par>
                                <p:cTn id="20" presetID="10" presetClass="entr" presetSubtype="0" fill="hold" grpId="0" nodeType="with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2000"/>
                                        <p:tgtEl>
                                          <p:spTgt spid="3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4"/>
                                        </p:tgtEl>
                                        <p:attrNameLst>
                                          <p:attrName>style.visibility</p:attrName>
                                        </p:attrNameLst>
                                      </p:cBhvr>
                                      <p:to>
                                        <p:strVal val="visible"/>
                                      </p:to>
                                    </p:set>
                                    <p:animEffect transition="in" filter="fade">
                                      <p:cBhvr>
                                        <p:cTn id="25" dur="2000"/>
                                        <p:tgtEl>
                                          <p:spTgt spid="44"/>
                                        </p:tgtEl>
                                      </p:cBhvr>
                                    </p:animEffect>
                                  </p:childTnLst>
                                </p:cTn>
                              </p:par>
                              <p:par>
                                <p:cTn id="26" presetID="10" presetClass="exit" presetSubtype="0" fill="hold" nodeType="withEffect">
                                  <p:stCondLst>
                                    <p:cond delay="0"/>
                                  </p:stCondLst>
                                  <p:childTnLst>
                                    <p:animEffect transition="out" filter="fade">
                                      <p:cBhvr>
                                        <p:cTn id="27" dur="2000"/>
                                        <p:tgtEl>
                                          <p:spTgt spid="3"/>
                                        </p:tgtEl>
                                      </p:cBhvr>
                                    </p:animEffect>
                                    <p:set>
                                      <p:cBhvr>
                                        <p:cTn id="28" dur="1" fill="hold">
                                          <p:stCondLst>
                                            <p:cond delay="1999"/>
                                          </p:stCondLst>
                                        </p:cTn>
                                        <p:tgtEl>
                                          <p:spTgt spid="3"/>
                                        </p:tgtEl>
                                        <p:attrNameLst>
                                          <p:attrName>style.visibility</p:attrName>
                                        </p:attrNameLst>
                                      </p:cBhvr>
                                      <p:to>
                                        <p:strVal val="hidden"/>
                                      </p:to>
                                    </p:set>
                                  </p:childTnLst>
                                </p:cTn>
                              </p:par>
                              <p:par>
                                <p:cTn id="29" presetID="10"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2000"/>
                                        <p:tgtEl>
                                          <p:spTgt spid="7"/>
                                        </p:tgtEl>
                                      </p:cBhvr>
                                    </p:animEffect>
                                  </p:childTnLst>
                                </p:cTn>
                              </p:par>
                              <p:par>
                                <p:cTn id="32" presetID="10" presetClass="entr" presetSubtype="0" fill="hold" nodeType="with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2000"/>
                                        <p:tgtEl>
                                          <p:spTgt spid="5"/>
                                        </p:tgtEl>
                                      </p:cBhvr>
                                    </p:animEffect>
                                  </p:childTnLst>
                                </p:cTn>
                              </p:par>
                              <p:par>
                                <p:cTn id="35" presetID="10" presetClass="exit" presetSubtype="0" fill="hold" grpId="0" nodeType="withEffect">
                                  <p:stCondLst>
                                    <p:cond delay="0"/>
                                  </p:stCondLst>
                                  <p:childTnLst>
                                    <p:animEffect transition="out" filter="fade">
                                      <p:cBhvr>
                                        <p:cTn id="36" dur="2000"/>
                                        <p:tgtEl>
                                          <p:spTgt spid="93"/>
                                        </p:tgtEl>
                                      </p:cBhvr>
                                    </p:animEffect>
                                    <p:set>
                                      <p:cBhvr>
                                        <p:cTn id="37" dur="1" fill="hold">
                                          <p:stCondLst>
                                            <p:cond delay="1999"/>
                                          </p:stCondLst>
                                        </p:cTn>
                                        <p:tgtEl>
                                          <p:spTgt spid="9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44" grpId="0" animBg="1"/>
      <p:bldP spid="53" grpId="0"/>
      <p:bldP spid="54" grpId="0"/>
      <p:bldP spid="55" grpId="0"/>
      <p:bldP spid="56" grpId="0"/>
      <p:bldP spid="57" grpId="0"/>
      <p:bldP spid="9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Tablets (1/2)</a:t>
            </a:r>
            <a:endParaRPr lang="zh-TW" altLang="en-US" dirty="0"/>
          </a:p>
        </p:txBody>
      </p:sp>
      <p:sp>
        <p:nvSpPr>
          <p:cNvPr id="3" name="內容版面配置區 2"/>
          <p:cNvSpPr>
            <a:spLocks noGrp="1"/>
          </p:cNvSpPr>
          <p:nvPr>
            <p:ph idx="1"/>
          </p:nvPr>
        </p:nvSpPr>
        <p:spPr>
          <a:xfrm>
            <a:off x="457200" y="1600200"/>
            <a:ext cx="8229600" cy="5069160"/>
          </a:xfrm>
        </p:spPr>
        <p:txBody>
          <a:bodyPr>
            <a:normAutofit/>
          </a:bodyPr>
          <a:lstStyle/>
          <a:p>
            <a:r>
              <a:rPr lang="en-US" altLang="zh-TW" dirty="0" smtClean="0">
                <a:latin typeface="+mj-lt"/>
              </a:rPr>
              <a:t>Large tables broken into </a:t>
            </a:r>
            <a:r>
              <a:rPr lang="en-US" altLang="zh-TW" i="1" dirty="0" smtClean="0">
                <a:solidFill>
                  <a:srgbClr val="FF0000"/>
                </a:solidFill>
                <a:latin typeface="+mj-lt"/>
              </a:rPr>
              <a:t>tablets</a:t>
            </a:r>
            <a:r>
              <a:rPr lang="en-US" altLang="zh-TW" i="1" dirty="0" smtClean="0">
                <a:latin typeface="+mj-lt"/>
              </a:rPr>
              <a:t> at row boundaries</a:t>
            </a:r>
          </a:p>
          <a:p>
            <a:pPr lvl="1"/>
            <a:r>
              <a:rPr lang="en-US" altLang="zh-TW" dirty="0" smtClean="0">
                <a:latin typeface="+mj-lt"/>
              </a:rPr>
              <a:t>Tablet holds contiguous range of rows</a:t>
            </a:r>
          </a:p>
          <a:p>
            <a:pPr lvl="2"/>
            <a:r>
              <a:rPr lang="en-US" altLang="zh-TW" dirty="0" smtClean="0">
                <a:latin typeface="+mj-lt"/>
              </a:rPr>
              <a:t>Clients can often choose row keys to achieve locality</a:t>
            </a:r>
          </a:p>
          <a:p>
            <a:pPr lvl="1"/>
            <a:r>
              <a:rPr lang="en-US" altLang="zh-TW" dirty="0" smtClean="0">
                <a:latin typeface="+mj-lt"/>
              </a:rPr>
              <a:t>Aim for ~100MB to 200MB of data per tablet</a:t>
            </a:r>
          </a:p>
          <a:p>
            <a:r>
              <a:rPr lang="en-US" altLang="zh-TW" dirty="0" smtClean="0">
                <a:latin typeface="+mj-lt"/>
              </a:rPr>
              <a:t>Serving machine responsible for ~100 tablets</a:t>
            </a:r>
          </a:p>
          <a:p>
            <a:pPr lvl="1"/>
            <a:r>
              <a:rPr lang="en-US" altLang="zh-TW" dirty="0" smtClean="0">
                <a:latin typeface="+mj-lt"/>
              </a:rPr>
              <a:t>Fast recovery:</a:t>
            </a:r>
          </a:p>
          <a:p>
            <a:pPr lvl="2"/>
            <a:r>
              <a:rPr lang="en-US" altLang="zh-TW" dirty="0" smtClean="0">
                <a:latin typeface="+mj-lt"/>
              </a:rPr>
              <a:t>100 machines each pick up 1 tablet from failed machine</a:t>
            </a:r>
          </a:p>
          <a:p>
            <a:pPr lvl="1"/>
            <a:r>
              <a:rPr lang="en-US" altLang="zh-TW" dirty="0" smtClean="0">
                <a:latin typeface="+mj-lt"/>
              </a:rPr>
              <a:t>Fine-grained load balancing:</a:t>
            </a:r>
          </a:p>
          <a:p>
            <a:pPr lvl="2"/>
            <a:r>
              <a:rPr lang="en-US" altLang="zh-TW" dirty="0" smtClean="0">
                <a:latin typeface="+mj-lt"/>
              </a:rPr>
              <a:t>Migrate tablets away from overloaded machine</a:t>
            </a:r>
          </a:p>
          <a:p>
            <a:pPr lvl="2"/>
            <a:r>
              <a:rPr lang="en-US" altLang="zh-TW" dirty="0" smtClean="0">
                <a:latin typeface="+mj-lt"/>
              </a:rPr>
              <a:t>Master makes load-balancing decisions</a:t>
            </a:r>
            <a:endParaRPr lang="zh-TW" altLang="en-US" dirty="0">
              <a:latin typeface="+mj-lt"/>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Tablets (2/2)</a:t>
            </a:r>
            <a:endParaRPr lang="zh-TW" altLang="en-US" dirty="0"/>
          </a:p>
        </p:txBody>
      </p:sp>
      <p:sp>
        <p:nvSpPr>
          <p:cNvPr id="3" name="內容版面配置區 2"/>
          <p:cNvSpPr>
            <a:spLocks noGrp="1"/>
          </p:cNvSpPr>
          <p:nvPr>
            <p:ph idx="1"/>
          </p:nvPr>
        </p:nvSpPr>
        <p:spPr/>
        <p:txBody>
          <a:bodyPr/>
          <a:lstStyle/>
          <a:p>
            <a:r>
              <a:rPr lang="en-US" altLang="zh-TW" dirty="0" smtClean="0">
                <a:latin typeface="+mj-lt"/>
              </a:rPr>
              <a:t>Dynamic fragmentation of rows</a:t>
            </a:r>
          </a:p>
          <a:p>
            <a:pPr lvl="1"/>
            <a:r>
              <a:rPr lang="en-US" altLang="zh-TW" dirty="0" smtClean="0">
                <a:latin typeface="+mj-lt"/>
              </a:rPr>
              <a:t>Unit of load balancing</a:t>
            </a:r>
          </a:p>
          <a:p>
            <a:pPr lvl="1"/>
            <a:r>
              <a:rPr lang="en-US" altLang="zh-TW" dirty="0" smtClean="0">
                <a:latin typeface="+mj-lt"/>
              </a:rPr>
              <a:t>Distributed over tablet servers</a:t>
            </a:r>
          </a:p>
          <a:p>
            <a:pPr lvl="1"/>
            <a:r>
              <a:rPr lang="en-US" altLang="zh-TW" dirty="0" smtClean="0">
                <a:latin typeface="+mj-lt"/>
              </a:rPr>
              <a:t>Tablets split and merge</a:t>
            </a:r>
          </a:p>
          <a:p>
            <a:pPr lvl="2"/>
            <a:r>
              <a:rPr lang="en-US" altLang="zh-TW" dirty="0" smtClean="0">
                <a:latin typeface="+mj-lt"/>
              </a:rPr>
              <a:t>automatically based on size and load</a:t>
            </a:r>
          </a:p>
          <a:p>
            <a:pPr lvl="2"/>
            <a:r>
              <a:rPr lang="en-US" altLang="zh-TW" dirty="0" smtClean="0">
                <a:latin typeface="+mj-lt"/>
              </a:rPr>
              <a:t>or manually</a:t>
            </a:r>
          </a:p>
          <a:p>
            <a:pPr lvl="1"/>
            <a:r>
              <a:rPr lang="en-US" altLang="zh-TW" dirty="0" smtClean="0">
                <a:latin typeface="+mj-lt"/>
              </a:rPr>
              <a:t>Clients can choose row keys to achieve locality</a:t>
            </a:r>
            <a:endParaRPr lang="zh-TW" altLang="en-US" dirty="0">
              <a:latin typeface="+mj-lt"/>
            </a:endParaRPr>
          </a:p>
        </p:txBody>
      </p:sp>
      <p:sp>
        <p:nvSpPr>
          <p:cNvPr id="4" name="Rectangle 4"/>
          <p:cNvSpPr>
            <a:spLocks noChangeArrowheads="1"/>
          </p:cNvSpPr>
          <p:nvPr/>
        </p:nvSpPr>
        <p:spPr bwMode="auto">
          <a:xfrm>
            <a:off x="457200" y="5217368"/>
            <a:ext cx="914400" cy="1295400"/>
          </a:xfrm>
          <a:prstGeom prst="rect">
            <a:avLst/>
          </a:prstGeom>
          <a:no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5" name="Rectangle 5"/>
          <p:cNvSpPr>
            <a:spLocks noChangeArrowheads="1"/>
          </p:cNvSpPr>
          <p:nvPr/>
        </p:nvSpPr>
        <p:spPr bwMode="auto">
          <a:xfrm>
            <a:off x="1447800" y="5217368"/>
            <a:ext cx="914400" cy="1295400"/>
          </a:xfrm>
          <a:prstGeom prst="rect">
            <a:avLst/>
          </a:prstGeom>
          <a:no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6" name="Rectangle 6"/>
          <p:cNvSpPr>
            <a:spLocks noChangeArrowheads="1"/>
          </p:cNvSpPr>
          <p:nvPr/>
        </p:nvSpPr>
        <p:spPr bwMode="auto">
          <a:xfrm>
            <a:off x="2438400" y="5217368"/>
            <a:ext cx="914400" cy="1295400"/>
          </a:xfrm>
          <a:prstGeom prst="rect">
            <a:avLst/>
          </a:prstGeom>
          <a:no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7" name="Rectangle 7"/>
          <p:cNvSpPr>
            <a:spLocks noChangeArrowheads="1"/>
          </p:cNvSpPr>
          <p:nvPr/>
        </p:nvSpPr>
        <p:spPr bwMode="auto">
          <a:xfrm>
            <a:off x="3429000" y="6055568"/>
            <a:ext cx="762000" cy="457200"/>
          </a:xfrm>
          <a:prstGeom prst="rect">
            <a:avLst/>
          </a:prstGeom>
          <a:no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8" name="Text Box 8"/>
          <p:cNvSpPr txBox="1">
            <a:spLocks noChangeArrowheads="1"/>
          </p:cNvSpPr>
          <p:nvPr/>
        </p:nvSpPr>
        <p:spPr bwMode="auto">
          <a:xfrm>
            <a:off x="3429000" y="6131768"/>
            <a:ext cx="742950" cy="366713"/>
          </a:xfrm>
          <a:prstGeom prst="rect">
            <a:avLst/>
          </a:prstGeom>
          <a:noFill/>
          <a:ln w="9525">
            <a:noFill/>
            <a:miter lim="800000"/>
            <a:headEnd/>
            <a:tailEnd/>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ysClr val="windowText" lastClr="000000"/>
                </a:solidFill>
                <a:effectLst/>
                <a:uLnTx/>
                <a:uFillTx/>
              </a:rPr>
              <a:t>Index</a:t>
            </a:r>
          </a:p>
        </p:txBody>
      </p:sp>
      <p:sp>
        <p:nvSpPr>
          <p:cNvPr id="9" name="Rectangle 9"/>
          <p:cNvSpPr>
            <a:spLocks noChangeArrowheads="1"/>
          </p:cNvSpPr>
          <p:nvPr/>
        </p:nvSpPr>
        <p:spPr bwMode="auto">
          <a:xfrm>
            <a:off x="381000" y="5141168"/>
            <a:ext cx="4038600" cy="1447800"/>
          </a:xfrm>
          <a:prstGeom prst="rect">
            <a:avLst/>
          </a:prstGeom>
          <a:no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0" name="Text Box 10"/>
          <p:cNvSpPr txBox="1">
            <a:spLocks noChangeArrowheads="1"/>
          </p:cNvSpPr>
          <p:nvPr/>
        </p:nvSpPr>
        <p:spPr bwMode="auto">
          <a:xfrm>
            <a:off x="457200" y="5293568"/>
            <a:ext cx="838200" cy="641350"/>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ysClr val="windowText" lastClr="000000"/>
                </a:solidFill>
                <a:effectLst/>
                <a:uLnTx/>
                <a:uFillTx/>
              </a:rPr>
              <a:t>64K block</a:t>
            </a:r>
          </a:p>
        </p:txBody>
      </p:sp>
      <p:sp>
        <p:nvSpPr>
          <p:cNvPr id="11" name="Text Box 11"/>
          <p:cNvSpPr txBox="1">
            <a:spLocks noChangeArrowheads="1"/>
          </p:cNvSpPr>
          <p:nvPr/>
        </p:nvSpPr>
        <p:spPr bwMode="auto">
          <a:xfrm>
            <a:off x="1447800" y="5293568"/>
            <a:ext cx="838200" cy="641350"/>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ysClr val="windowText" lastClr="000000"/>
                </a:solidFill>
                <a:effectLst/>
                <a:uLnTx/>
                <a:uFillTx/>
              </a:rPr>
              <a:t>64K block</a:t>
            </a:r>
          </a:p>
        </p:txBody>
      </p:sp>
      <p:sp>
        <p:nvSpPr>
          <p:cNvPr id="12" name="Text Box 12"/>
          <p:cNvSpPr txBox="1">
            <a:spLocks noChangeArrowheads="1"/>
          </p:cNvSpPr>
          <p:nvPr/>
        </p:nvSpPr>
        <p:spPr bwMode="auto">
          <a:xfrm>
            <a:off x="2438400" y="5293568"/>
            <a:ext cx="838200" cy="641350"/>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ysClr val="windowText" lastClr="000000"/>
                </a:solidFill>
                <a:effectLst/>
                <a:uLnTx/>
                <a:uFillTx/>
              </a:rPr>
              <a:t>64K block</a:t>
            </a:r>
          </a:p>
        </p:txBody>
      </p:sp>
      <p:sp>
        <p:nvSpPr>
          <p:cNvPr id="13" name="Text Box 13"/>
          <p:cNvSpPr txBox="1">
            <a:spLocks noChangeArrowheads="1"/>
          </p:cNvSpPr>
          <p:nvPr/>
        </p:nvSpPr>
        <p:spPr bwMode="auto">
          <a:xfrm>
            <a:off x="3413125" y="5177681"/>
            <a:ext cx="1060450" cy="366712"/>
          </a:xfrm>
          <a:prstGeom prst="rect">
            <a:avLst/>
          </a:prstGeom>
          <a:noFill/>
          <a:ln w="9525">
            <a:noFill/>
            <a:miter lim="800000"/>
            <a:headEnd/>
            <a:tailEnd/>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ysClr val="windowText" lastClr="000000"/>
                </a:solidFill>
                <a:effectLst/>
                <a:uLnTx/>
                <a:uFillTx/>
              </a:rPr>
              <a:t>SSTable</a:t>
            </a:r>
          </a:p>
        </p:txBody>
      </p:sp>
      <p:sp>
        <p:nvSpPr>
          <p:cNvPr id="14" name="Rectangle 14"/>
          <p:cNvSpPr>
            <a:spLocks noChangeArrowheads="1"/>
          </p:cNvSpPr>
          <p:nvPr/>
        </p:nvSpPr>
        <p:spPr bwMode="auto">
          <a:xfrm>
            <a:off x="4800600" y="5217368"/>
            <a:ext cx="914400" cy="1295400"/>
          </a:xfrm>
          <a:prstGeom prst="rect">
            <a:avLst/>
          </a:prstGeom>
          <a:no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5" name="Rectangle 15"/>
          <p:cNvSpPr>
            <a:spLocks noChangeArrowheads="1"/>
          </p:cNvSpPr>
          <p:nvPr/>
        </p:nvSpPr>
        <p:spPr bwMode="auto">
          <a:xfrm>
            <a:off x="5791200" y="5217368"/>
            <a:ext cx="914400" cy="1295400"/>
          </a:xfrm>
          <a:prstGeom prst="rect">
            <a:avLst/>
          </a:prstGeom>
          <a:no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6" name="Rectangle 16"/>
          <p:cNvSpPr>
            <a:spLocks noChangeArrowheads="1"/>
          </p:cNvSpPr>
          <p:nvPr/>
        </p:nvSpPr>
        <p:spPr bwMode="auto">
          <a:xfrm>
            <a:off x="6781800" y="5217368"/>
            <a:ext cx="914400" cy="1295400"/>
          </a:xfrm>
          <a:prstGeom prst="rect">
            <a:avLst/>
          </a:prstGeom>
          <a:no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7" name="Rectangle 17"/>
          <p:cNvSpPr>
            <a:spLocks noChangeArrowheads="1"/>
          </p:cNvSpPr>
          <p:nvPr/>
        </p:nvSpPr>
        <p:spPr bwMode="auto">
          <a:xfrm>
            <a:off x="7772400" y="6055568"/>
            <a:ext cx="762000" cy="457200"/>
          </a:xfrm>
          <a:prstGeom prst="rect">
            <a:avLst/>
          </a:prstGeom>
          <a:no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18" name="Text Box 18"/>
          <p:cNvSpPr txBox="1">
            <a:spLocks noChangeArrowheads="1"/>
          </p:cNvSpPr>
          <p:nvPr/>
        </p:nvSpPr>
        <p:spPr bwMode="auto">
          <a:xfrm>
            <a:off x="7772400" y="6131768"/>
            <a:ext cx="742950" cy="366713"/>
          </a:xfrm>
          <a:prstGeom prst="rect">
            <a:avLst/>
          </a:prstGeom>
          <a:noFill/>
          <a:ln w="9525">
            <a:noFill/>
            <a:miter lim="800000"/>
            <a:headEnd/>
            <a:tailEnd/>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ysClr val="windowText" lastClr="000000"/>
                </a:solidFill>
                <a:effectLst/>
                <a:uLnTx/>
                <a:uFillTx/>
              </a:rPr>
              <a:t>Index</a:t>
            </a:r>
          </a:p>
        </p:txBody>
      </p:sp>
      <p:sp>
        <p:nvSpPr>
          <p:cNvPr id="19" name="Rectangle 19"/>
          <p:cNvSpPr>
            <a:spLocks noChangeArrowheads="1"/>
          </p:cNvSpPr>
          <p:nvPr/>
        </p:nvSpPr>
        <p:spPr bwMode="auto">
          <a:xfrm>
            <a:off x="4724400" y="5141168"/>
            <a:ext cx="4038600" cy="1447800"/>
          </a:xfrm>
          <a:prstGeom prst="rect">
            <a:avLst/>
          </a:prstGeom>
          <a:no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20" name="Text Box 20"/>
          <p:cNvSpPr txBox="1">
            <a:spLocks noChangeArrowheads="1"/>
          </p:cNvSpPr>
          <p:nvPr/>
        </p:nvSpPr>
        <p:spPr bwMode="auto">
          <a:xfrm>
            <a:off x="4800600" y="5293568"/>
            <a:ext cx="838200" cy="641350"/>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ysClr val="windowText" lastClr="000000"/>
                </a:solidFill>
                <a:effectLst/>
                <a:uLnTx/>
                <a:uFillTx/>
              </a:rPr>
              <a:t>64K block</a:t>
            </a:r>
          </a:p>
        </p:txBody>
      </p:sp>
      <p:sp>
        <p:nvSpPr>
          <p:cNvPr id="21" name="Text Box 21"/>
          <p:cNvSpPr txBox="1">
            <a:spLocks noChangeArrowheads="1"/>
          </p:cNvSpPr>
          <p:nvPr/>
        </p:nvSpPr>
        <p:spPr bwMode="auto">
          <a:xfrm>
            <a:off x="5791200" y="5293568"/>
            <a:ext cx="838200" cy="641350"/>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ysClr val="windowText" lastClr="000000"/>
                </a:solidFill>
                <a:effectLst/>
                <a:uLnTx/>
                <a:uFillTx/>
              </a:rPr>
              <a:t>64K block</a:t>
            </a:r>
          </a:p>
        </p:txBody>
      </p:sp>
      <p:sp>
        <p:nvSpPr>
          <p:cNvPr id="22" name="Text Box 22"/>
          <p:cNvSpPr txBox="1">
            <a:spLocks noChangeArrowheads="1"/>
          </p:cNvSpPr>
          <p:nvPr/>
        </p:nvSpPr>
        <p:spPr bwMode="auto">
          <a:xfrm>
            <a:off x="6781800" y="5293568"/>
            <a:ext cx="838200" cy="641350"/>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ysClr val="windowText" lastClr="000000"/>
                </a:solidFill>
                <a:effectLst/>
                <a:uLnTx/>
                <a:uFillTx/>
              </a:rPr>
              <a:t>64K block</a:t>
            </a:r>
          </a:p>
        </p:txBody>
      </p:sp>
      <p:sp>
        <p:nvSpPr>
          <p:cNvPr id="23" name="Text Box 23"/>
          <p:cNvSpPr txBox="1">
            <a:spLocks noChangeArrowheads="1"/>
          </p:cNvSpPr>
          <p:nvPr/>
        </p:nvSpPr>
        <p:spPr bwMode="auto">
          <a:xfrm>
            <a:off x="7756525" y="5177681"/>
            <a:ext cx="1060450" cy="366712"/>
          </a:xfrm>
          <a:prstGeom prst="rect">
            <a:avLst/>
          </a:prstGeom>
          <a:noFill/>
          <a:ln w="9525">
            <a:noFill/>
            <a:miter lim="800000"/>
            <a:headEnd/>
            <a:tailEnd/>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ysClr val="windowText" lastClr="000000"/>
                </a:solidFill>
                <a:effectLst/>
                <a:uLnTx/>
                <a:uFillTx/>
              </a:rPr>
              <a:t>SSTable</a:t>
            </a:r>
          </a:p>
        </p:txBody>
      </p:sp>
      <p:sp>
        <p:nvSpPr>
          <p:cNvPr id="24" name="Rectangle 29"/>
          <p:cNvSpPr>
            <a:spLocks noChangeArrowheads="1"/>
          </p:cNvSpPr>
          <p:nvPr/>
        </p:nvSpPr>
        <p:spPr bwMode="auto">
          <a:xfrm>
            <a:off x="228600" y="4607768"/>
            <a:ext cx="8763000" cy="2133600"/>
          </a:xfrm>
          <a:prstGeom prst="rect">
            <a:avLst/>
          </a:prstGeom>
          <a:no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25" name="Text Box 30"/>
          <p:cNvSpPr txBox="1">
            <a:spLocks noChangeArrowheads="1"/>
          </p:cNvSpPr>
          <p:nvPr/>
        </p:nvSpPr>
        <p:spPr bwMode="auto">
          <a:xfrm>
            <a:off x="441325" y="4644281"/>
            <a:ext cx="819150" cy="366712"/>
          </a:xfrm>
          <a:prstGeom prst="rect">
            <a:avLst/>
          </a:prstGeom>
          <a:noFill/>
          <a:ln w="9525">
            <a:noFill/>
            <a:miter lim="800000"/>
            <a:headEnd/>
            <a:tailEnd/>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sysClr val="windowText" lastClr="000000"/>
                </a:solidFill>
                <a:effectLst/>
                <a:uLnTx/>
                <a:uFillTx/>
              </a:rPr>
              <a:t>Tablet</a:t>
            </a:r>
          </a:p>
        </p:txBody>
      </p:sp>
      <p:sp>
        <p:nvSpPr>
          <p:cNvPr id="26" name="Text Box 31"/>
          <p:cNvSpPr txBox="1">
            <a:spLocks noChangeArrowheads="1"/>
          </p:cNvSpPr>
          <p:nvPr/>
        </p:nvSpPr>
        <p:spPr bwMode="auto">
          <a:xfrm>
            <a:off x="1508125" y="4568081"/>
            <a:ext cx="184150" cy="366712"/>
          </a:xfrm>
          <a:prstGeom prst="rect">
            <a:avLst/>
          </a:prstGeom>
          <a:noFill/>
          <a:ln w="9525">
            <a:noFill/>
            <a:miter lim="800000"/>
            <a:headEnd/>
            <a:tailEnd/>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27" name="Text Box 32"/>
          <p:cNvSpPr txBox="1">
            <a:spLocks noChangeArrowheads="1"/>
          </p:cNvSpPr>
          <p:nvPr/>
        </p:nvSpPr>
        <p:spPr bwMode="auto">
          <a:xfrm>
            <a:off x="1524000" y="4607768"/>
            <a:ext cx="1828800" cy="366713"/>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1800" b="0" i="0" u="none" strike="noStrike" kern="0" cap="none" spc="0" normalizeH="0" baseline="0" noProof="0" smtClean="0">
                <a:ln>
                  <a:noFill/>
                </a:ln>
                <a:solidFill>
                  <a:sysClr val="windowText" lastClr="000000"/>
                </a:solidFill>
                <a:effectLst/>
                <a:uLnTx/>
                <a:uFillTx/>
              </a:rPr>
              <a:t>Start:aardvark</a:t>
            </a:r>
          </a:p>
        </p:txBody>
      </p:sp>
      <p:sp>
        <p:nvSpPr>
          <p:cNvPr id="28" name="Text Box 33"/>
          <p:cNvSpPr txBox="1">
            <a:spLocks noChangeArrowheads="1"/>
          </p:cNvSpPr>
          <p:nvPr/>
        </p:nvSpPr>
        <p:spPr bwMode="auto">
          <a:xfrm>
            <a:off x="3505200" y="4607768"/>
            <a:ext cx="1371600" cy="366713"/>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1800" b="0" i="0" u="none" strike="noStrike" kern="0" cap="none" spc="0" normalizeH="0" baseline="0" noProof="0" smtClean="0">
                <a:ln>
                  <a:noFill/>
                </a:ln>
                <a:solidFill>
                  <a:sysClr val="windowText" lastClr="000000"/>
                </a:solidFill>
                <a:effectLst/>
                <a:uLnTx/>
                <a:uFillTx/>
              </a:rPr>
              <a:t>End:apple</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Tablet Assignment</a:t>
            </a:r>
            <a:endParaRPr lang="zh-TW" altLang="en-US" dirty="0"/>
          </a:p>
        </p:txBody>
      </p:sp>
      <p:sp>
        <p:nvSpPr>
          <p:cNvPr id="4" name="矩形 3"/>
          <p:cNvSpPr/>
          <p:nvPr/>
        </p:nvSpPr>
        <p:spPr>
          <a:xfrm>
            <a:off x="2843808" y="3284984"/>
            <a:ext cx="2736304" cy="720080"/>
          </a:xfrm>
          <a:prstGeom prst="rect">
            <a:avLst/>
          </a:prstGeom>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altLang="zh-TW" dirty="0" smtClean="0"/>
              <a:t>Chubby</a:t>
            </a:r>
            <a:endParaRPr lang="zh-TW" altLang="en-US" dirty="0"/>
          </a:p>
        </p:txBody>
      </p:sp>
      <p:sp>
        <p:nvSpPr>
          <p:cNvPr id="5" name="矩形 4"/>
          <p:cNvSpPr/>
          <p:nvPr/>
        </p:nvSpPr>
        <p:spPr>
          <a:xfrm>
            <a:off x="323528" y="1916832"/>
            <a:ext cx="1584176" cy="648072"/>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dirty="0" smtClean="0"/>
              <a:t>Cluster manager</a:t>
            </a:r>
            <a:endParaRPr lang="zh-TW" altLang="en-US" dirty="0"/>
          </a:p>
        </p:txBody>
      </p:sp>
      <p:sp>
        <p:nvSpPr>
          <p:cNvPr id="6" name="矩形 5"/>
          <p:cNvSpPr/>
          <p:nvPr/>
        </p:nvSpPr>
        <p:spPr>
          <a:xfrm>
            <a:off x="323528" y="5805264"/>
            <a:ext cx="1584176" cy="648072"/>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dirty="0" smtClean="0"/>
              <a:t>Tablet Server</a:t>
            </a:r>
            <a:endParaRPr lang="zh-TW" altLang="en-US" dirty="0"/>
          </a:p>
        </p:txBody>
      </p:sp>
      <p:cxnSp>
        <p:nvCxnSpPr>
          <p:cNvPr id="7" name="直線單箭頭接點 6"/>
          <p:cNvCxnSpPr/>
          <p:nvPr/>
        </p:nvCxnSpPr>
        <p:spPr>
          <a:xfrm rot="5400000">
            <a:off x="-359754" y="4185084"/>
            <a:ext cx="2951534" cy="7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 name="文字方塊 7"/>
          <p:cNvSpPr txBox="1"/>
          <p:nvPr/>
        </p:nvSpPr>
        <p:spPr>
          <a:xfrm>
            <a:off x="35496" y="3645024"/>
            <a:ext cx="1008112" cy="646331"/>
          </a:xfrm>
          <a:prstGeom prst="rect">
            <a:avLst/>
          </a:prstGeom>
          <a:noFill/>
        </p:spPr>
        <p:txBody>
          <a:bodyPr wrap="square" rtlCol="0">
            <a:spAutoFit/>
          </a:bodyPr>
          <a:lstStyle/>
          <a:p>
            <a:pPr algn="ctr"/>
            <a:r>
              <a:rPr lang="en-US" altLang="zh-TW" dirty="0" smtClean="0"/>
              <a:t>1) Start a server</a:t>
            </a:r>
          </a:p>
        </p:txBody>
      </p:sp>
      <p:cxnSp>
        <p:nvCxnSpPr>
          <p:cNvPr id="9" name="直線單箭頭接點 8"/>
          <p:cNvCxnSpPr/>
          <p:nvPr/>
        </p:nvCxnSpPr>
        <p:spPr>
          <a:xfrm rot="5400000" flipH="1" flipV="1">
            <a:off x="1763688" y="4509121"/>
            <a:ext cx="1512169" cy="9361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0" name="矩形 9"/>
          <p:cNvSpPr/>
          <p:nvPr/>
        </p:nvSpPr>
        <p:spPr>
          <a:xfrm>
            <a:off x="1115616" y="4077072"/>
            <a:ext cx="1632563" cy="369332"/>
          </a:xfrm>
          <a:prstGeom prst="rect">
            <a:avLst/>
          </a:prstGeom>
        </p:spPr>
        <p:txBody>
          <a:bodyPr wrap="none">
            <a:spAutoFit/>
          </a:bodyPr>
          <a:lstStyle/>
          <a:p>
            <a:r>
              <a:rPr lang="en-US" altLang="zh-TW" dirty="0" smtClean="0"/>
              <a:t>2) Create a lock</a:t>
            </a:r>
            <a:endParaRPr lang="zh-TW" altLang="en-US" dirty="0"/>
          </a:p>
        </p:txBody>
      </p:sp>
      <p:cxnSp>
        <p:nvCxnSpPr>
          <p:cNvPr id="11" name="直線單箭頭接點 10"/>
          <p:cNvCxnSpPr/>
          <p:nvPr/>
        </p:nvCxnSpPr>
        <p:spPr>
          <a:xfrm rot="5400000">
            <a:off x="1549914" y="4434862"/>
            <a:ext cx="1507668" cy="9361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2" name="矩形 11"/>
          <p:cNvSpPr/>
          <p:nvPr/>
        </p:nvSpPr>
        <p:spPr>
          <a:xfrm>
            <a:off x="2627784" y="4643844"/>
            <a:ext cx="1994649" cy="369332"/>
          </a:xfrm>
          <a:prstGeom prst="rect">
            <a:avLst/>
          </a:prstGeom>
        </p:spPr>
        <p:txBody>
          <a:bodyPr wrap="none">
            <a:spAutoFit/>
          </a:bodyPr>
          <a:lstStyle/>
          <a:p>
            <a:r>
              <a:rPr lang="en-US" altLang="zh-TW" dirty="0" smtClean="0"/>
              <a:t>3) Acquire the lock </a:t>
            </a:r>
            <a:endParaRPr lang="zh-TW" altLang="en-US" dirty="0"/>
          </a:p>
        </p:txBody>
      </p:sp>
      <p:sp>
        <p:nvSpPr>
          <p:cNvPr id="13" name="矩形 12"/>
          <p:cNvSpPr/>
          <p:nvPr/>
        </p:nvSpPr>
        <p:spPr>
          <a:xfrm>
            <a:off x="2267744" y="1484784"/>
            <a:ext cx="4176464" cy="1200329"/>
          </a:xfrm>
          <a:prstGeom prst="rect">
            <a:avLst/>
          </a:prstGeom>
        </p:spPr>
        <p:txBody>
          <a:bodyPr wrap="square">
            <a:spAutoFit/>
          </a:bodyPr>
          <a:lstStyle/>
          <a:p>
            <a:r>
              <a:rPr lang="en-US" altLang="zh-TW" dirty="0" smtClean="0"/>
              <a:t>    Master keeps track of the set of live tablet servers, and the current assignment of tablets to tablet servers, including which tablets are unassigned</a:t>
            </a:r>
            <a:endParaRPr lang="zh-TW" altLang="en-US" dirty="0"/>
          </a:p>
        </p:txBody>
      </p:sp>
      <p:sp>
        <p:nvSpPr>
          <p:cNvPr id="14" name="矩形 13"/>
          <p:cNvSpPr/>
          <p:nvPr/>
        </p:nvSpPr>
        <p:spPr>
          <a:xfrm>
            <a:off x="6804248" y="5805264"/>
            <a:ext cx="1584176" cy="648072"/>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TW" dirty="0" smtClean="0"/>
              <a:t>Master Server</a:t>
            </a:r>
            <a:endParaRPr lang="zh-TW" altLang="en-US" dirty="0"/>
          </a:p>
        </p:txBody>
      </p:sp>
      <p:sp>
        <p:nvSpPr>
          <p:cNvPr id="15" name="矩形 14"/>
          <p:cNvSpPr/>
          <p:nvPr/>
        </p:nvSpPr>
        <p:spPr>
          <a:xfrm>
            <a:off x="6804248" y="1878732"/>
            <a:ext cx="504056" cy="288032"/>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p>
        </p:txBody>
      </p:sp>
      <p:sp>
        <p:nvSpPr>
          <p:cNvPr id="16" name="矩形 15"/>
          <p:cNvSpPr/>
          <p:nvPr/>
        </p:nvSpPr>
        <p:spPr>
          <a:xfrm>
            <a:off x="7380312" y="1878732"/>
            <a:ext cx="504056" cy="288032"/>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p>
        </p:txBody>
      </p:sp>
      <p:sp>
        <p:nvSpPr>
          <p:cNvPr id="17" name="矩形 16"/>
          <p:cNvSpPr/>
          <p:nvPr/>
        </p:nvSpPr>
        <p:spPr>
          <a:xfrm>
            <a:off x="7956376" y="1878732"/>
            <a:ext cx="504056" cy="288032"/>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p>
        </p:txBody>
      </p:sp>
      <p:sp>
        <p:nvSpPr>
          <p:cNvPr id="18" name="矩形 17"/>
          <p:cNvSpPr/>
          <p:nvPr/>
        </p:nvSpPr>
        <p:spPr>
          <a:xfrm>
            <a:off x="6804248" y="2238772"/>
            <a:ext cx="504056" cy="288032"/>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p>
        </p:txBody>
      </p:sp>
      <p:sp>
        <p:nvSpPr>
          <p:cNvPr id="19" name="矩形 18"/>
          <p:cNvSpPr/>
          <p:nvPr/>
        </p:nvSpPr>
        <p:spPr>
          <a:xfrm>
            <a:off x="7380312" y="2238772"/>
            <a:ext cx="504056" cy="288032"/>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p>
        </p:txBody>
      </p:sp>
      <p:sp>
        <p:nvSpPr>
          <p:cNvPr id="20" name="矩形 19"/>
          <p:cNvSpPr/>
          <p:nvPr/>
        </p:nvSpPr>
        <p:spPr>
          <a:xfrm>
            <a:off x="7956376" y="2238772"/>
            <a:ext cx="504056" cy="288032"/>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p>
        </p:txBody>
      </p:sp>
      <p:sp>
        <p:nvSpPr>
          <p:cNvPr id="21" name="矩形 20"/>
          <p:cNvSpPr/>
          <p:nvPr/>
        </p:nvSpPr>
        <p:spPr>
          <a:xfrm>
            <a:off x="6804248" y="2598812"/>
            <a:ext cx="504056" cy="288032"/>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p>
        </p:txBody>
      </p:sp>
      <p:sp>
        <p:nvSpPr>
          <p:cNvPr id="22" name="矩形 21"/>
          <p:cNvSpPr/>
          <p:nvPr/>
        </p:nvSpPr>
        <p:spPr>
          <a:xfrm>
            <a:off x="7380312" y="2598812"/>
            <a:ext cx="504056" cy="288032"/>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p>
        </p:txBody>
      </p:sp>
      <p:sp>
        <p:nvSpPr>
          <p:cNvPr id="23" name="矩形 22"/>
          <p:cNvSpPr/>
          <p:nvPr/>
        </p:nvSpPr>
        <p:spPr>
          <a:xfrm>
            <a:off x="7956376" y="2598812"/>
            <a:ext cx="504056" cy="288032"/>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p>
        </p:txBody>
      </p:sp>
      <p:sp>
        <p:nvSpPr>
          <p:cNvPr id="24" name="矩形 23"/>
          <p:cNvSpPr/>
          <p:nvPr/>
        </p:nvSpPr>
        <p:spPr>
          <a:xfrm>
            <a:off x="6876256" y="1556792"/>
            <a:ext cx="1478995" cy="369332"/>
          </a:xfrm>
          <a:prstGeom prst="rect">
            <a:avLst/>
          </a:prstGeom>
        </p:spPr>
        <p:txBody>
          <a:bodyPr wrap="none">
            <a:spAutoFit/>
          </a:bodyPr>
          <a:lstStyle/>
          <a:p>
            <a:pPr algn="ctr"/>
            <a:r>
              <a:rPr lang="en-US" altLang="zh-TW" dirty="0" smtClean="0"/>
              <a:t>Tablet servers</a:t>
            </a:r>
            <a:endParaRPr lang="zh-TW" altLang="en-US" dirty="0"/>
          </a:p>
        </p:txBody>
      </p:sp>
      <p:cxnSp>
        <p:nvCxnSpPr>
          <p:cNvPr id="25" name="直線單箭頭接點 24"/>
          <p:cNvCxnSpPr/>
          <p:nvPr/>
        </p:nvCxnSpPr>
        <p:spPr>
          <a:xfrm rot="16200000" flipH="1">
            <a:off x="5292083" y="4509120"/>
            <a:ext cx="1584173" cy="100811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6" name="直線單箭頭接點 25"/>
          <p:cNvCxnSpPr/>
          <p:nvPr/>
        </p:nvCxnSpPr>
        <p:spPr>
          <a:xfrm rot="16200000" flipV="1">
            <a:off x="5508104" y="4365104"/>
            <a:ext cx="1584176" cy="100811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7" name="矩形 26"/>
          <p:cNvSpPr/>
          <p:nvPr/>
        </p:nvSpPr>
        <p:spPr>
          <a:xfrm>
            <a:off x="4960656" y="4941168"/>
            <a:ext cx="1195520" cy="369332"/>
          </a:xfrm>
          <a:prstGeom prst="rect">
            <a:avLst/>
          </a:prstGeom>
        </p:spPr>
        <p:txBody>
          <a:bodyPr wrap="none">
            <a:spAutoFit/>
          </a:bodyPr>
          <a:lstStyle/>
          <a:p>
            <a:r>
              <a:rPr lang="en-US" altLang="zh-TW" dirty="0" smtClean="0"/>
              <a:t>4) Monitor</a:t>
            </a:r>
            <a:endParaRPr lang="zh-TW" altLang="en-US" dirty="0"/>
          </a:p>
        </p:txBody>
      </p:sp>
      <p:sp>
        <p:nvSpPr>
          <p:cNvPr id="28" name="矩形 27"/>
          <p:cNvSpPr/>
          <p:nvPr/>
        </p:nvSpPr>
        <p:spPr>
          <a:xfrm>
            <a:off x="5940152" y="4077072"/>
            <a:ext cx="1872208" cy="646331"/>
          </a:xfrm>
          <a:prstGeom prst="rect">
            <a:avLst/>
          </a:prstGeom>
        </p:spPr>
        <p:txBody>
          <a:bodyPr wrap="square">
            <a:spAutoFit/>
          </a:bodyPr>
          <a:lstStyle/>
          <a:p>
            <a:pPr algn="ctr"/>
            <a:r>
              <a:rPr lang="en-US" altLang="zh-TW" dirty="0" smtClean="0"/>
              <a:t>7) Acquire and</a:t>
            </a:r>
          </a:p>
          <a:p>
            <a:pPr algn="ctr"/>
            <a:r>
              <a:rPr lang="en-US" altLang="zh-TW" dirty="0" smtClean="0"/>
              <a:t>Delete the lock</a:t>
            </a:r>
            <a:endParaRPr lang="zh-TW" altLang="en-US" dirty="0"/>
          </a:p>
        </p:txBody>
      </p:sp>
      <p:cxnSp>
        <p:nvCxnSpPr>
          <p:cNvPr id="29" name="直線單箭頭接點 28"/>
          <p:cNvCxnSpPr/>
          <p:nvPr/>
        </p:nvCxnSpPr>
        <p:spPr>
          <a:xfrm rot="5400000" flipH="1" flipV="1">
            <a:off x="6300986" y="4365104"/>
            <a:ext cx="2735510" cy="7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0" name="矩形 29"/>
          <p:cNvSpPr/>
          <p:nvPr/>
        </p:nvSpPr>
        <p:spPr>
          <a:xfrm>
            <a:off x="7452320" y="3717032"/>
            <a:ext cx="1656184" cy="923330"/>
          </a:xfrm>
          <a:prstGeom prst="rect">
            <a:avLst/>
          </a:prstGeom>
        </p:spPr>
        <p:txBody>
          <a:bodyPr wrap="square">
            <a:spAutoFit/>
          </a:bodyPr>
          <a:lstStyle/>
          <a:p>
            <a:pPr algn="ctr"/>
            <a:r>
              <a:rPr lang="en-US" altLang="zh-TW" dirty="0" smtClean="0"/>
              <a:t>8) Reassign unassigned tablets </a:t>
            </a:r>
            <a:endParaRPr lang="zh-TW" altLang="en-US" dirty="0"/>
          </a:p>
        </p:txBody>
      </p:sp>
      <p:cxnSp>
        <p:nvCxnSpPr>
          <p:cNvPr id="32" name="直線單箭頭接點 31"/>
          <p:cNvCxnSpPr/>
          <p:nvPr/>
        </p:nvCxnSpPr>
        <p:spPr>
          <a:xfrm rot="10800000">
            <a:off x="2086556" y="6091707"/>
            <a:ext cx="4464496"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直線單箭頭接點 32"/>
          <p:cNvCxnSpPr/>
          <p:nvPr/>
        </p:nvCxnSpPr>
        <p:spPr>
          <a:xfrm rot="10800000">
            <a:off x="2086556" y="6307731"/>
            <a:ext cx="4464496" cy="1588"/>
          </a:xfrm>
          <a:prstGeom prst="straightConnector1">
            <a:avLst/>
          </a:prstGeom>
          <a:ln>
            <a:prstDash val="dash"/>
            <a:tailEnd type="arrow"/>
          </a:ln>
        </p:spPr>
        <p:style>
          <a:lnRef idx="2">
            <a:schemeClr val="accent1"/>
          </a:lnRef>
          <a:fillRef idx="0">
            <a:schemeClr val="accent1"/>
          </a:fillRef>
          <a:effectRef idx="1">
            <a:schemeClr val="accent1"/>
          </a:effectRef>
          <a:fontRef idx="minor">
            <a:schemeClr val="tx1"/>
          </a:fontRef>
        </p:style>
      </p:cxnSp>
      <p:sp>
        <p:nvSpPr>
          <p:cNvPr id="34" name="矩形 33"/>
          <p:cNvSpPr/>
          <p:nvPr/>
        </p:nvSpPr>
        <p:spPr>
          <a:xfrm>
            <a:off x="3347864" y="5733256"/>
            <a:ext cx="1714700" cy="369332"/>
          </a:xfrm>
          <a:prstGeom prst="rect">
            <a:avLst/>
          </a:prstGeom>
        </p:spPr>
        <p:txBody>
          <a:bodyPr wrap="none">
            <a:spAutoFit/>
          </a:bodyPr>
          <a:lstStyle/>
          <a:p>
            <a:r>
              <a:rPr lang="en-US" altLang="zh-TW" dirty="0" smtClean="0"/>
              <a:t>5) Assign tablets</a:t>
            </a:r>
            <a:endParaRPr lang="zh-TW" altLang="en-US" dirty="0"/>
          </a:p>
        </p:txBody>
      </p:sp>
      <p:sp>
        <p:nvSpPr>
          <p:cNvPr id="35" name="矩形 34"/>
          <p:cNvSpPr/>
          <p:nvPr/>
        </p:nvSpPr>
        <p:spPr>
          <a:xfrm>
            <a:off x="3191440" y="6300028"/>
            <a:ext cx="2028632" cy="369332"/>
          </a:xfrm>
          <a:prstGeom prst="rect">
            <a:avLst/>
          </a:prstGeom>
        </p:spPr>
        <p:txBody>
          <a:bodyPr wrap="none">
            <a:spAutoFit/>
          </a:bodyPr>
          <a:lstStyle/>
          <a:p>
            <a:r>
              <a:rPr lang="en-US" altLang="zh-TW" dirty="0" smtClean="0"/>
              <a:t>6) Check lock status</a:t>
            </a:r>
            <a:endParaRPr lang="zh-TW"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20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2000"/>
                                        <p:tgtEl>
                                          <p:spTgt spid="8"/>
                                        </p:tgtEl>
                                      </p:cBhvr>
                                    </p:animEffect>
                                    <p:set>
                                      <p:cBhvr>
                                        <p:cTn id="15" dur="1" fill="hold">
                                          <p:stCondLst>
                                            <p:cond delay="1999"/>
                                          </p:stCondLst>
                                        </p:cTn>
                                        <p:tgtEl>
                                          <p:spTgt spid="8"/>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2000"/>
                                        <p:tgtEl>
                                          <p:spTgt spid="7"/>
                                        </p:tgtEl>
                                      </p:cBhvr>
                                    </p:animEffect>
                                    <p:set>
                                      <p:cBhvr>
                                        <p:cTn id="18" dur="1" fill="hold">
                                          <p:stCondLst>
                                            <p:cond delay="1999"/>
                                          </p:stCondLst>
                                        </p:cTn>
                                        <p:tgtEl>
                                          <p:spTgt spid="7"/>
                                        </p:tgtEl>
                                        <p:attrNameLst>
                                          <p:attrName>style.visibility</p:attrName>
                                        </p:attrNameLst>
                                      </p:cBhvr>
                                      <p:to>
                                        <p:strVal val="hidden"/>
                                      </p:to>
                                    </p:set>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20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20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grpId="1" nodeType="clickEffect">
                                  <p:stCondLst>
                                    <p:cond delay="0"/>
                                  </p:stCondLst>
                                  <p:childTnLst>
                                    <p:animEffect transition="out" filter="fade">
                                      <p:cBhvr>
                                        <p:cTn id="28" dur="2000"/>
                                        <p:tgtEl>
                                          <p:spTgt spid="10"/>
                                        </p:tgtEl>
                                      </p:cBhvr>
                                    </p:animEffect>
                                    <p:set>
                                      <p:cBhvr>
                                        <p:cTn id="29" dur="1" fill="hold">
                                          <p:stCondLst>
                                            <p:cond delay="1999"/>
                                          </p:stCondLst>
                                        </p:cTn>
                                        <p:tgtEl>
                                          <p:spTgt spid="10"/>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2000"/>
                                        <p:tgtEl>
                                          <p:spTgt spid="11"/>
                                        </p:tgtEl>
                                      </p:cBhvr>
                                    </p:animEffect>
                                    <p:set>
                                      <p:cBhvr>
                                        <p:cTn id="32" dur="1" fill="hold">
                                          <p:stCondLst>
                                            <p:cond delay="1999"/>
                                          </p:stCondLst>
                                        </p:cTn>
                                        <p:tgtEl>
                                          <p:spTgt spid="11"/>
                                        </p:tgtEl>
                                        <p:attrNameLst>
                                          <p:attrName>style.visibility</p:attrName>
                                        </p:attrNameLst>
                                      </p:cBhvr>
                                      <p:to>
                                        <p:strVal val="hidden"/>
                                      </p:to>
                                    </p:set>
                                  </p:childTnLst>
                                </p:cTn>
                              </p:par>
                              <p:par>
                                <p:cTn id="33" presetID="10"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20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20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xit" presetSubtype="0" fill="hold" grpId="1" nodeType="clickEffect">
                                  <p:stCondLst>
                                    <p:cond delay="0"/>
                                  </p:stCondLst>
                                  <p:childTnLst>
                                    <p:animEffect transition="out" filter="fade">
                                      <p:cBhvr>
                                        <p:cTn id="42" dur="2000"/>
                                        <p:tgtEl>
                                          <p:spTgt spid="12"/>
                                        </p:tgtEl>
                                      </p:cBhvr>
                                    </p:animEffect>
                                    <p:set>
                                      <p:cBhvr>
                                        <p:cTn id="43" dur="1" fill="hold">
                                          <p:stCondLst>
                                            <p:cond delay="1999"/>
                                          </p:stCondLst>
                                        </p:cTn>
                                        <p:tgtEl>
                                          <p:spTgt spid="12"/>
                                        </p:tgtEl>
                                        <p:attrNameLst>
                                          <p:attrName>style.visibility</p:attrName>
                                        </p:attrNameLst>
                                      </p:cBhvr>
                                      <p:to>
                                        <p:strVal val="hidden"/>
                                      </p:to>
                                    </p:set>
                                  </p:childTnLst>
                                </p:cTn>
                              </p:par>
                              <p:par>
                                <p:cTn id="44" presetID="10" presetClass="exit" presetSubtype="0" fill="hold" nodeType="withEffect">
                                  <p:stCondLst>
                                    <p:cond delay="0"/>
                                  </p:stCondLst>
                                  <p:childTnLst>
                                    <p:animEffect transition="out" filter="fade">
                                      <p:cBhvr>
                                        <p:cTn id="45" dur="2000"/>
                                        <p:tgtEl>
                                          <p:spTgt spid="9"/>
                                        </p:tgtEl>
                                      </p:cBhvr>
                                    </p:animEffect>
                                    <p:set>
                                      <p:cBhvr>
                                        <p:cTn id="46" dur="1" fill="hold">
                                          <p:stCondLst>
                                            <p:cond delay="1999"/>
                                          </p:stCondLst>
                                        </p:cTn>
                                        <p:tgtEl>
                                          <p:spTgt spid="9"/>
                                        </p:tgtEl>
                                        <p:attrNameLst>
                                          <p:attrName>style.visibility</p:attrName>
                                        </p:attrNameLst>
                                      </p:cBhvr>
                                      <p:to>
                                        <p:strVal val="hidden"/>
                                      </p:to>
                                    </p:set>
                                  </p:childTnLst>
                                </p:cTn>
                              </p:par>
                              <p:par>
                                <p:cTn id="47" presetID="10"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2000"/>
                                        <p:tgtEl>
                                          <p:spTgt spid="27"/>
                                        </p:tgtEl>
                                      </p:cBhvr>
                                    </p:animEffect>
                                  </p:childTnLst>
                                </p:cTn>
                              </p:par>
                              <p:par>
                                <p:cTn id="50" presetID="10" presetClass="entr" presetSubtype="0" fill="hold"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20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fade">
                                      <p:cBhvr>
                                        <p:cTn id="57" dur="2000"/>
                                        <p:tgtEl>
                                          <p:spTgt spid="34"/>
                                        </p:tgtEl>
                                      </p:cBhvr>
                                    </p:animEffect>
                                  </p:childTnLst>
                                </p:cTn>
                              </p:par>
                              <p:par>
                                <p:cTn id="58" presetID="10" presetClass="entr" presetSubtype="0" fill="hold" nodeType="with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2000"/>
                                        <p:tgtEl>
                                          <p:spTgt spid="32"/>
                                        </p:tgtEl>
                                      </p:cBhvr>
                                    </p:animEffect>
                                  </p:childTnLst>
                                </p:cTn>
                              </p:par>
                              <p:par>
                                <p:cTn id="61" presetID="10" presetClass="exit" presetSubtype="0" fill="hold" grpId="1" nodeType="withEffect">
                                  <p:stCondLst>
                                    <p:cond delay="0"/>
                                  </p:stCondLst>
                                  <p:childTnLst>
                                    <p:animEffect transition="out" filter="fade">
                                      <p:cBhvr>
                                        <p:cTn id="62" dur="2000"/>
                                        <p:tgtEl>
                                          <p:spTgt spid="27"/>
                                        </p:tgtEl>
                                      </p:cBhvr>
                                    </p:animEffect>
                                    <p:set>
                                      <p:cBhvr>
                                        <p:cTn id="63" dur="1" fill="hold">
                                          <p:stCondLst>
                                            <p:cond delay="1999"/>
                                          </p:stCondLst>
                                        </p:cTn>
                                        <p:tgtEl>
                                          <p:spTgt spid="27"/>
                                        </p:tgtEl>
                                        <p:attrNameLst>
                                          <p:attrName>style.visibility</p:attrName>
                                        </p:attrNameLst>
                                      </p:cBhvr>
                                      <p:to>
                                        <p:strVal val="hidden"/>
                                      </p:to>
                                    </p:set>
                                  </p:childTnLst>
                                </p:cTn>
                              </p:par>
                              <p:par>
                                <p:cTn id="64" presetID="10" presetClass="exit" presetSubtype="0" fill="hold" nodeType="withEffect">
                                  <p:stCondLst>
                                    <p:cond delay="0"/>
                                  </p:stCondLst>
                                  <p:childTnLst>
                                    <p:animEffect transition="out" filter="fade">
                                      <p:cBhvr>
                                        <p:cTn id="65" dur="2000"/>
                                        <p:tgtEl>
                                          <p:spTgt spid="25"/>
                                        </p:tgtEl>
                                      </p:cBhvr>
                                    </p:animEffect>
                                    <p:set>
                                      <p:cBhvr>
                                        <p:cTn id="66" dur="1" fill="hold">
                                          <p:stCondLst>
                                            <p:cond delay="1999"/>
                                          </p:stCondLst>
                                        </p:cTn>
                                        <p:tgtEl>
                                          <p:spTgt spid="25"/>
                                        </p:tgtEl>
                                        <p:attrNameLst>
                                          <p:attrName>style.visibility</p:attrName>
                                        </p:attrNameLst>
                                      </p:cBhvr>
                                      <p:to>
                                        <p:strVal val="hidden"/>
                                      </p:to>
                                    </p:set>
                                  </p:childTnLst>
                                </p:cTn>
                              </p:par>
                              <p:par>
                                <p:cTn id="67" presetID="10" presetClass="entr" presetSubtype="0" fill="hold" nodeType="with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fade">
                                      <p:cBhvr>
                                        <p:cTn id="69" dur="2000"/>
                                        <p:tgtEl>
                                          <p:spTgt spid="3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2000"/>
                                        <p:tgtEl>
                                          <p:spTgt spid="3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xit" presetSubtype="0" fill="hold" grpId="1" nodeType="clickEffect">
                                  <p:stCondLst>
                                    <p:cond delay="0"/>
                                  </p:stCondLst>
                                  <p:childTnLst>
                                    <p:animEffect transition="out" filter="fade">
                                      <p:cBhvr>
                                        <p:cTn id="76" dur="1000"/>
                                        <p:tgtEl>
                                          <p:spTgt spid="35"/>
                                        </p:tgtEl>
                                      </p:cBhvr>
                                    </p:animEffect>
                                    <p:set>
                                      <p:cBhvr>
                                        <p:cTn id="77" dur="1" fill="hold">
                                          <p:stCondLst>
                                            <p:cond delay="999"/>
                                          </p:stCondLst>
                                        </p:cTn>
                                        <p:tgtEl>
                                          <p:spTgt spid="35"/>
                                        </p:tgtEl>
                                        <p:attrNameLst>
                                          <p:attrName>style.visibility</p:attrName>
                                        </p:attrNameLst>
                                      </p:cBhvr>
                                      <p:to>
                                        <p:strVal val="hidden"/>
                                      </p:to>
                                    </p:set>
                                  </p:childTnLst>
                                </p:cTn>
                              </p:par>
                              <p:par>
                                <p:cTn id="78" presetID="10" presetClass="exit" presetSubtype="0" fill="hold" nodeType="withEffect">
                                  <p:stCondLst>
                                    <p:cond delay="0"/>
                                  </p:stCondLst>
                                  <p:childTnLst>
                                    <p:animEffect transition="out" filter="fade">
                                      <p:cBhvr>
                                        <p:cTn id="79" dur="1000"/>
                                        <p:tgtEl>
                                          <p:spTgt spid="33"/>
                                        </p:tgtEl>
                                      </p:cBhvr>
                                    </p:animEffect>
                                    <p:set>
                                      <p:cBhvr>
                                        <p:cTn id="80" dur="1" fill="hold">
                                          <p:stCondLst>
                                            <p:cond delay="999"/>
                                          </p:stCondLst>
                                        </p:cTn>
                                        <p:tgtEl>
                                          <p:spTgt spid="33"/>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0" presetClass="exit" presetSubtype="0" fill="hold" grpId="1" nodeType="clickEffect">
                                  <p:stCondLst>
                                    <p:cond delay="0"/>
                                  </p:stCondLst>
                                  <p:childTnLst>
                                    <p:animEffect transition="out" filter="fade">
                                      <p:cBhvr>
                                        <p:cTn id="84" dur="2000"/>
                                        <p:tgtEl>
                                          <p:spTgt spid="34"/>
                                        </p:tgtEl>
                                      </p:cBhvr>
                                    </p:animEffect>
                                    <p:set>
                                      <p:cBhvr>
                                        <p:cTn id="85" dur="1" fill="hold">
                                          <p:stCondLst>
                                            <p:cond delay="1999"/>
                                          </p:stCondLst>
                                        </p:cTn>
                                        <p:tgtEl>
                                          <p:spTgt spid="34"/>
                                        </p:tgtEl>
                                        <p:attrNameLst>
                                          <p:attrName>style.visibility</p:attrName>
                                        </p:attrNameLst>
                                      </p:cBhvr>
                                      <p:to>
                                        <p:strVal val="hidden"/>
                                      </p:to>
                                    </p:set>
                                  </p:childTnLst>
                                </p:cTn>
                              </p:par>
                              <p:par>
                                <p:cTn id="86" presetID="10" presetClass="exit" presetSubtype="0" fill="hold" nodeType="withEffect">
                                  <p:stCondLst>
                                    <p:cond delay="0"/>
                                  </p:stCondLst>
                                  <p:childTnLst>
                                    <p:animEffect transition="out" filter="fade">
                                      <p:cBhvr>
                                        <p:cTn id="87" dur="2000"/>
                                        <p:tgtEl>
                                          <p:spTgt spid="32"/>
                                        </p:tgtEl>
                                      </p:cBhvr>
                                    </p:animEffect>
                                    <p:set>
                                      <p:cBhvr>
                                        <p:cTn id="88" dur="1" fill="hold">
                                          <p:stCondLst>
                                            <p:cond delay="1999"/>
                                          </p:stCondLst>
                                        </p:cTn>
                                        <p:tgtEl>
                                          <p:spTgt spid="32"/>
                                        </p:tgtEl>
                                        <p:attrNameLst>
                                          <p:attrName>style.visibility</p:attrName>
                                        </p:attrNameLst>
                                      </p:cBhvr>
                                      <p:to>
                                        <p:strVal val="hidden"/>
                                      </p:to>
                                    </p:set>
                                  </p:childTnLst>
                                </p:cTn>
                              </p:par>
                              <p:par>
                                <p:cTn id="89" presetID="10" presetClass="entr" presetSubtype="0" fill="hold" grpId="0" nodeType="withEffect">
                                  <p:stCondLst>
                                    <p:cond delay="0"/>
                                  </p:stCondLst>
                                  <p:childTnLst>
                                    <p:set>
                                      <p:cBhvr>
                                        <p:cTn id="90" dur="1" fill="hold">
                                          <p:stCondLst>
                                            <p:cond delay="0"/>
                                          </p:stCondLst>
                                        </p:cTn>
                                        <p:tgtEl>
                                          <p:spTgt spid="28"/>
                                        </p:tgtEl>
                                        <p:attrNameLst>
                                          <p:attrName>style.visibility</p:attrName>
                                        </p:attrNameLst>
                                      </p:cBhvr>
                                      <p:to>
                                        <p:strVal val="visible"/>
                                      </p:to>
                                    </p:set>
                                    <p:animEffect transition="in" filter="fade">
                                      <p:cBhvr>
                                        <p:cTn id="91" dur="2000"/>
                                        <p:tgtEl>
                                          <p:spTgt spid="28"/>
                                        </p:tgtEl>
                                      </p:cBhvr>
                                    </p:animEffect>
                                  </p:childTnLst>
                                </p:cTn>
                              </p:par>
                              <p:par>
                                <p:cTn id="92" presetID="10" presetClass="entr" presetSubtype="0" fill="hold" nodeType="withEffect">
                                  <p:stCondLst>
                                    <p:cond delay="0"/>
                                  </p:stCondLst>
                                  <p:childTnLst>
                                    <p:set>
                                      <p:cBhvr>
                                        <p:cTn id="93" dur="1" fill="hold">
                                          <p:stCondLst>
                                            <p:cond delay="0"/>
                                          </p:stCondLst>
                                        </p:cTn>
                                        <p:tgtEl>
                                          <p:spTgt spid="26"/>
                                        </p:tgtEl>
                                        <p:attrNameLst>
                                          <p:attrName>style.visibility</p:attrName>
                                        </p:attrNameLst>
                                      </p:cBhvr>
                                      <p:to>
                                        <p:strVal val="visible"/>
                                      </p:to>
                                    </p:set>
                                    <p:animEffect transition="in" filter="fade">
                                      <p:cBhvr>
                                        <p:cTn id="94" dur="2000"/>
                                        <p:tgtEl>
                                          <p:spTgt spid="26"/>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xit" presetSubtype="0" fill="hold" grpId="1" nodeType="clickEffect">
                                  <p:stCondLst>
                                    <p:cond delay="0"/>
                                  </p:stCondLst>
                                  <p:childTnLst>
                                    <p:animEffect transition="out" filter="fade">
                                      <p:cBhvr>
                                        <p:cTn id="98" dur="2000"/>
                                        <p:tgtEl>
                                          <p:spTgt spid="28"/>
                                        </p:tgtEl>
                                      </p:cBhvr>
                                    </p:animEffect>
                                    <p:set>
                                      <p:cBhvr>
                                        <p:cTn id="99" dur="1" fill="hold">
                                          <p:stCondLst>
                                            <p:cond delay="1999"/>
                                          </p:stCondLst>
                                        </p:cTn>
                                        <p:tgtEl>
                                          <p:spTgt spid="28"/>
                                        </p:tgtEl>
                                        <p:attrNameLst>
                                          <p:attrName>style.visibility</p:attrName>
                                        </p:attrNameLst>
                                      </p:cBhvr>
                                      <p:to>
                                        <p:strVal val="hidden"/>
                                      </p:to>
                                    </p:set>
                                  </p:childTnLst>
                                </p:cTn>
                              </p:par>
                              <p:par>
                                <p:cTn id="100" presetID="10" presetClass="exit" presetSubtype="0" fill="hold" nodeType="withEffect">
                                  <p:stCondLst>
                                    <p:cond delay="0"/>
                                  </p:stCondLst>
                                  <p:childTnLst>
                                    <p:animEffect transition="out" filter="fade">
                                      <p:cBhvr>
                                        <p:cTn id="101" dur="2000"/>
                                        <p:tgtEl>
                                          <p:spTgt spid="26"/>
                                        </p:tgtEl>
                                      </p:cBhvr>
                                    </p:animEffect>
                                    <p:set>
                                      <p:cBhvr>
                                        <p:cTn id="102" dur="1" fill="hold">
                                          <p:stCondLst>
                                            <p:cond delay="1999"/>
                                          </p:stCondLst>
                                        </p:cTn>
                                        <p:tgtEl>
                                          <p:spTgt spid="26"/>
                                        </p:tgtEl>
                                        <p:attrNameLst>
                                          <p:attrName>style.visibility</p:attrName>
                                        </p:attrNameLst>
                                      </p:cBhvr>
                                      <p:to>
                                        <p:strVal val="hidden"/>
                                      </p:to>
                                    </p:set>
                                  </p:childTnLst>
                                </p:cTn>
                              </p:par>
                              <p:par>
                                <p:cTn id="103" presetID="10" presetClass="entr" presetSubtype="0" fill="hold" nodeType="withEffect">
                                  <p:stCondLst>
                                    <p:cond delay="0"/>
                                  </p:stCondLst>
                                  <p:childTnLst>
                                    <p:set>
                                      <p:cBhvr>
                                        <p:cTn id="104" dur="1" fill="hold">
                                          <p:stCondLst>
                                            <p:cond delay="0"/>
                                          </p:stCondLst>
                                        </p:cTn>
                                        <p:tgtEl>
                                          <p:spTgt spid="29"/>
                                        </p:tgtEl>
                                        <p:attrNameLst>
                                          <p:attrName>style.visibility</p:attrName>
                                        </p:attrNameLst>
                                      </p:cBhvr>
                                      <p:to>
                                        <p:strVal val="visible"/>
                                      </p:to>
                                    </p:set>
                                    <p:animEffect transition="in" filter="fade">
                                      <p:cBhvr>
                                        <p:cTn id="105" dur="2000"/>
                                        <p:tgtEl>
                                          <p:spTgt spid="29"/>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0"/>
                                        </p:tgtEl>
                                        <p:attrNameLst>
                                          <p:attrName>style.visibility</p:attrName>
                                        </p:attrNameLst>
                                      </p:cBhvr>
                                      <p:to>
                                        <p:strVal val="visible"/>
                                      </p:to>
                                    </p:set>
                                    <p:animEffect transition="in" filter="fade">
                                      <p:cBhvr>
                                        <p:cTn id="108" dur="2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10" grpId="0"/>
      <p:bldP spid="10" grpId="1"/>
      <p:bldP spid="12" grpId="0"/>
      <p:bldP spid="12" grpId="1"/>
      <p:bldP spid="27" grpId="0"/>
      <p:bldP spid="27" grpId="1"/>
      <p:bldP spid="28" grpId="0"/>
      <p:bldP spid="28" grpId="1"/>
      <p:bldP spid="30" grpId="0"/>
      <p:bldP spid="34" grpId="0"/>
      <p:bldP spid="34" grpId="1"/>
      <p:bldP spid="35" grpId="0"/>
      <p:bldP spid="35" grpId="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Tablet Serving</a:t>
            </a:r>
            <a:endParaRPr lang="zh-TW" altLang="en-US" dirty="0"/>
          </a:p>
        </p:txBody>
      </p:sp>
      <p:cxnSp>
        <p:nvCxnSpPr>
          <p:cNvPr id="5" name="直線接點 4"/>
          <p:cNvCxnSpPr/>
          <p:nvPr/>
        </p:nvCxnSpPr>
        <p:spPr bwMode="auto">
          <a:xfrm>
            <a:off x="1778727" y="3404091"/>
            <a:ext cx="5943600" cy="0"/>
          </a:xfrm>
          <a:prstGeom prst="line">
            <a:avLst/>
          </a:prstGeom>
          <a:ln>
            <a:solidFill>
              <a:schemeClr val="tx1">
                <a:lumMod val="65000"/>
                <a:lumOff val="35000"/>
              </a:schemeClr>
            </a:solidFill>
            <a:prstDash val="dash"/>
            <a:headEnd type="none" w="med" len="med"/>
            <a:tailEnd type="none" w="med" len="med"/>
          </a:ln>
        </p:spPr>
        <p:style>
          <a:lnRef idx="2">
            <a:schemeClr val="accent6"/>
          </a:lnRef>
          <a:fillRef idx="0">
            <a:schemeClr val="accent6"/>
          </a:fillRef>
          <a:effectRef idx="1">
            <a:schemeClr val="accent6"/>
          </a:effectRef>
          <a:fontRef idx="minor">
            <a:schemeClr val="tx1"/>
          </a:fontRef>
        </p:style>
      </p:cxnSp>
      <p:sp>
        <p:nvSpPr>
          <p:cNvPr id="6" name="AutoShape 9"/>
          <p:cNvSpPr>
            <a:spLocks noChangeArrowheads="1"/>
          </p:cNvSpPr>
          <p:nvPr/>
        </p:nvSpPr>
        <p:spPr bwMode="auto">
          <a:xfrm>
            <a:off x="2187575" y="3813666"/>
            <a:ext cx="1714500" cy="1403350"/>
          </a:xfrm>
          <a:prstGeom prst="roundRect">
            <a:avLst>
              <a:gd name="adj" fmla="val 111"/>
            </a:avLst>
          </a:prstGeom>
          <a:noFill/>
          <a:ln w="19080">
            <a:solidFill>
              <a:srgbClr val="66FF33"/>
            </a:solidFill>
            <a:round/>
            <a:headEnd/>
            <a:tailEnd/>
          </a:ln>
        </p:spPr>
        <p:txBody>
          <a:bodyPr wrap="none" anchor="ctr"/>
          <a:lstStyle/>
          <a:p>
            <a:endParaRPr lang="zh-TW" altLang="en-US"/>
          </a:p>
        </p:txBody>
      </p:sp>
      <p:sp>
        <p:nvSpPr>
          <p:cNvPr id="7" name="AutoShape 10"/>
          <p:cNvSpPr>
            <a:spLocks noChangeArrowheads="1"/>
          </p:cNvSpPr>
          <p:nvPr/>
        </p:nvSpPr>
        <p:spPr bwMode="auto">
          <a:xfrm>
            <a:off x="2514600" y="4194666"/>
            <a:ext cx="1060450" cy="641350"/>
          </a:xfrm>
          <a:prstGeom prst="roundRect">
            <a:avLst>
              <a:gd name="adj" fmla="val 245"/>
            </a:avLst>
          </a:prstGeom>
          <a:noFill/>
          <a:ln w="9525">
            <a:noFill/>
            <a:round/>
            <a:headEnd/>
            <a:tailEnd/>
          </a:ln>
        </p:spPr>
        <p:txBody>
          <a:bodyPr wrap="none" lIns="90000" tIns="46800" rIns="90000" bIns="46800">
            <a:spAutoFit/>
          </a:bodyPr>
          <a:lstStyle/>
          <a:p>
            <a:pPr algn="ctr">
              <a:lnSpc>
                <a:spcPct val="93000"/>
              </a:lnSpc>
              <a:buClr>
                <a:srgbClr val="80808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err="1">
                <a:solidFill>
                  <a:srgbClr val="808080"/>
                </a:solidFill>
                <a:ea typeface="新細明體" charset="-120"/>
              </a:rPr>
              <a:t>SSTable</a:t>
            </a:r>
            <a:endParaRPr lang="en-GB" altLang="zh-TW" dirty="0">
              <a:solidFill>
                <a:srgbClr val="808080"/>
              </a:solidFill>
              <a:ea typeface="新細明體" charset="-120"/>
            </a:endParaRPr>
          </a:p>
          <a:p>
            <a:pPr algn="ctr">
              <a:buClr>
                <a:srgbClr val="80808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a:solidFill>
                  <a:srgbClr val="808080"/>
                </a:solidFill>
                <a:ea typeface="新細明體" charset="-120"/>
              </a:rPr>
              <a:t>on GFS</a:t>
            </a:r>
          </a:p>
        </p:txBody>
      </p:sp>
      <p:sp>
        <p:nvSpPr>
          <p:cNvPr id="8" name="AutoShape 11"/>
          <p:cNvSpPr>
            <a:spLocks noChangeArrowheads="1"/>
          </p:cNvSpPr>
          <p:nvPr/>
        </p:nvSpPr>
        <p:spPr bwMode="auto">
          <a:xfrm>
            <a:off x="4243388" y="3804141"/>
            <a:ext cx="1470025" cy="1419225"/>
          </a:xfrm>
          <a:prstGeom prst="roundRect">
            <a:avLst>
              <a:gd name="adj" fmla="val 111"/>
            </a:avLst>
          </a:prstGeom>
          <a:noFill/>
          <a:ln w="19080">
            <a:solidFill>
              <a:srgbClr val="66FF33"/>
            </a:solidFill>
            <a:round/>
            <a:headEnd/>
            <a:tailEnd/>
          </a:ln>
        </p:spPr>
        <p:txBody>
          <a:bodyPr wrap="none" anchor="ctr"/>
          <a:lstStyle/>
          <a:p>
            <a:endParaRPr lang="zh-TW" altLang="en-US"/>
          </a:p>
        </p:txBody>
      </p:sp>
      <p:sp>
        <p:nvSpPr>
          <p:cNvPr id="9" name="AutoShape 12"/>
          <p:cNvSpPr>
            <a:spLocks noChangeArrowheads="1"/>
          </p:cNvSpPr>
          <p:nvPr/>
        </p:nvSpPr>
        <p:spPr bwMode="auto">
          <a:xfrm>
            <a:off x="4448175" y="4193079"/>
            <a:ext cx="1060450" cy="641350"/>
          </a:xfrm>
          <a:prstGeom prst="roundRect">
            <a:avLst>
              <a:gd name="adj" fmla="val 245"/>
            </a:avLst>
          </a:prstGeom>
          <a:noFill/>
          <a:ln w="9525">
            <a:noFill/>
            <a:round/>
            <a:headEnd/>
            <a:tailEnd/>
          </a:ln>
        </p:spPr>
        <p:txBody>
          <a:bodyPr wrap="none" lIns="90000" tIns="46800" rIns="90000" bIns="46800">
            <a:spAutoFit/>
          </a:bodyPr>
          <a:lstStyle/>
          <a:p>
            <a:pPr algn="ctr">
              <a:lnSpc>
                <a:spcPct val="93000"/>
              </a:lnSpc>
              <a:buClr>
                <a:srgbClr val="80808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a:solidFill>
                  <a:srgbClr val="808080"/>
                </a:solidFill>
                <a:ea typeface="新細明體" charset="-120"/>
              </a:rPr>
              <a:t>SSTable</a:t>
            </a:r>
          </a:p>
          <a:p>
            <a:pPr algn="ctr">
              <a:buClr>
                <a:srgbClr val="80808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a:solidFill>
                  <a:srgbClr val="808080"/>
                </a:solidFill>
                <a:ea typeface="新細明體" charset="-120"/>
              </a:rPr>
              <a:t>on GFS</a:t>
            </a:r>
          </a:p>
        </p:txBody>
      </p:sp>
      <p:sp>
        <p:nvSpPr>
          <p:cNvPr id="10" name="AutoShape 16"/>
          <p:cNvSpPr>
            <a:spLocks noChangeArrowheads="1"/>
          </p:cNvSpPr>
          <p:nvPr/>
        </p:nvSpPr>
        <p:spPr bwMode="auto">
          <a:xfrm>
            <a:off x="1927225" y="2108691"/>
            <a:ext cx="2568576" cy="831850"/>
          </a:xfrm>
          <a:prstGeom prst="roundRect">
            <a:avLst>
              <a:gd name="adj" fmla="val 236"/>
            </a:avLst>
          </a:prstGeom>
          <a:noFill/>
          <a:ln w="19080">
            <a:solidFill>
              <a:srgbClr val="66FF33"/>
            </a:solidFill>
            <a:round/>
            <a:headEnd/>
            <a:tailEnd/>
          </a:ln>
        </p:spPr>
        <p:txBody>
          <a:bodyPr wrap="none" anchor="ctr"/>
          <a:lstStyle/>
          <a:p>
            <a:pPr algn="ctr">
              <a:lnSpc>
                <a:spcPct val="93000"/>
              </a:lnSpc>
              <a:buClr>
                <a:srgbClr val="80808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err="1" smtClean="0">
                <a:solidFill>
                  <a:srgbClr val="808080"/>
                </a:solidFill>
                <a:ea typeface="新細明體" charset="-120"/>
              </a:rPr>
              <a:t>memtable</a:t>
            </a:r>
            <a:endParaRPr lang="en-GB" altLang="zh-TW" dirty="0" smtClean="0">
              <a:solidFill>
                <a:srgbClr val="808080"/>
              </a:solidFill>
              <a:ea typeface="新細明體" charset="-120"/>
            </a:endParaRPr>
          </a:p>
          <a:p>
            <a:pPr algn="ctr">
              <a:buClr>
                <a:srgbClr val="80808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smtClean="0">
                <a:solidFill>
                  <a:srgbClr val="808080"/>
                </a:solidFill>
                <a:ea typeface="新細明體" charset="-120"/>
              </a:rPr>
              <a:t>(random-access)</a:t>
            </a:r>
          </a:p>
        </p:txBody>
      </p:sp>
      <p:sp>
        <p:nvSpPr>
          <p:cNvPr id="11" name="AutoShape 18"/>
          <p:cNvSpPr>
            <a:spLocks noChangeArrowheads="1"/>
          </p:cNvSpPr>
          <p:nvPr/>
        </p:nvSpPr>
        <p:spPr bwMode="auto">
          <a:xfrm>
            <a:off x="7924800" y="3480291"/>
            <a:ext cx="666750" cy="366713"/>
          </a:xfrm>
          <a:prstGeom prst="roundRect">
            <a:avLst>
              <a:gd name="adj" fmla="val 431"/>
            </a:avLst>
          </a:prstGeom>
          <a:noFill/>
          <a:ln w="9525">
            <a:noFill/>
            <a:round/>
            <a:headEnd/>
            <a:tailEnd/>
          </a:ln>
        </p:spPr>
        <p:txBody>
          <a:bodyPr wrap="none" lIns="90000" tIns="46800" rIns="90000" bIns="46800">
            <a:spAutoFit/>
          </a:bodyPr>
          <a:lstStyle/>
          <a:p>
            <a:pPr algn="ctr">
              <a:lnSpc>
                <a:spcPct val="93000"/>
              </a:lnSpc>
              <a:buClr>
                <a:srgbClr val="FF000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a:solidFill>
                  <a:srgbClr val="FF0000"/>
                </a:solidFill>
                <a:ea typeface="新細明體" charset="-120"/>
              </a:rPr>
              <a:t>write</a:t>
            </a:r>
          </a:p>
        </p:txBody>
      </p:sp>
      <p:sp>
        <p:nvSpPr>
          <p:cNvPr id="12" name="AutoShape 19"/>
          <p:cNvSpPr>
            <a:spLocks noChangeArrowheads="1"/>
          </p:cNvSpPr>
          <p:nvPr/>
        </p:nvSpPr>
        <p:spPr bwMode="auto">
          <a:xfrm>
            <a:off x="628490" y="1932479"/>
            <a:ext cx="606746" cy="352149"/>
          </a:xfrm>
          <a:prstGeom prst="roundRect">
            <a:avLst>
              <a:gd name="adj" fmla="val 431"/>
            </a:avLst>
          </a:prstGeom>
          <a:noFill/>
          <a:ln w="9525">
            <a:noFill/>
            <a:round/>
            <a:headEnd/>
            <a:tailEnd/>
          </a:ln>
        </p:spPr>
        <p:txBody>
          <a:bodyPr wrap="none" lIns="90000" tIns="46800" rIns="90000" bIns="46800">
            <a:spAutoFit/>
          </a:bodyPr>
          <a:lstStyle/>
          <a:p>
            <a:pPr algn="ctr">
              <a:lnSpc>
                <a:spcPct val="93000"/>
              </a:lnSpc>
              <a:buClr>
                <a:srgbClr val="FF000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a:solidFill>
                  <a:schemeClr val="accent1">
                    <a:lumMod val="50000"/>
                  </a:schemeClr>
                </a:solidFill>
                <a:ea typeface="新細明體" charset="-120"/>
              </a:rPr>
              <a:t>read</a:t>
            </a:r>
          </a:p>
        </p:txBody>
      </p:sp>
      <p:sp>
        <p:nvSpPr>
          <p:cNvPr id="13" name="Freeform 21"/>
          <p:cNvSpPr>
            <a:spLocks/>
          </p:cNvSpPr>
          <p:nvPr/>
        </p:nvSpPr>
        <p:spPr bwMode="auto">
          <a:xfrm>
            <a:off x="1454150" y="2132857"/>
            <a:ext cx="3333874" cy="2088232"/>
          </a:xfrm>
          <a:custGeom>
            <a:avLst/>
            <a:gdLst/>
            <a:ahLst/>
            <a:cxnLst>
              <a:cxn ang="0">
                <a:pos x="0" y="0"/>
              </a:cxn>
              <a:cxn ang="0">
                <a:pos x="2152" y="674"/>
              </a:cxn>
              <a:cxn ang="0">
                <a:pos x="3220" y="1596"/>
              </a:cxn>
              <a:cxn ang="0">
                <a:pos x="3727" y="3436"/>
              </a:cxn>
              <a:cxn ang="0">
                <a:pos x="3895" y="5443"/>
              </a:cxn>
            </a:cxnLst>
            <a:rect l="0" t="0" r="r" b="b"/>
            <a:pathLst>
              <a:path w="3896" h="5444">
                <a:moveTo>
                  <a:pt x="0" y="0"/>
                </a:moveTo>
                <a:cubicBezTo>
                  <a:pt x="807" y="202"/>
                  <a:pt x="1614" y="410"/>
                  <a:pt x="2152" y="674"/>
                </a:cubicBezTo>
                <a:cubicBezTo>
                  <a:pt x="2690" y="939"/>
                  <a:pt x="2955" y="1138"/>
                  <a:pt x="3220" y="1596"/>
                </a:cubicBezTo>
                <a:cubicBezTo>
                  <a:pt x="3484" y="2055"/>
                  <a:pt x="3617" y="2796"/>
                  <a:pt x="3727" y="3436"/>
                </a:cubicBezTo>
                <a:cubicBezTo>
                  <a:pt x="3837" y="4075"/>
                  <a:pt x="3864" y="4759"/>
                  <a:pt x="3895" y="5443"/>
                </a:cubicBezTo>
              </a:path>
            </a:pathLst>
          </a:custGeom>
          <a:noFill/>
          <a:ln w="19080">
            <a:solidFill>
              <a:schemeClr val="accent1"/>
            </a:solidFill>
            <a:round/>
            <a:headEnd/>
            <a:tailEnd type="triangle" w="med" len="med"/>
          </a:ln>
        </p:spPr>
        <p:txBody>
          <a:bodyPr/>
          <a:lstStyle/>
          <a:p>
            <a:endParaRPr lang="zh-TW" altLang="en-US"/>
          </a:p>
        </p:txBody>
      </p:sp>
      <p:sp>
        <p:nvSpPr>
          <p:cNvPr id="14" name="AutoShape 23"/>
          <p:cNvSpPr>
            <a:spLocks noChangeArrowheads="1"/>
          </p:cNvSpPr>
          <p:nvPr/>
        </p:nvSpPr>
        <p:spPr bwMode="auto">
          <a:xfrm>
            <a:off x="1773238" y="1727691"/>
            <a:ext cx="5999162" cy="4124325"/>
          </a:xfrm>
          <a:prstGeom prst="roundRect">
            <a:avLst>
              <a:gd name="adj" fmla="val 37"/>
            </a:avLst>
          </a:prstGeom>
          <a:noFill/>
          <a:ln w="28440">
            <a:solidFill>
              <a:srgbClr val="009999"/>
            </a:solidFill>
            <a:round/>
            <a:headEnd/>
            <a:tailEnd/>
          </a:ln>
        </p:spPr>
        <p:txBody>
          <a:bodyPr wrap="none" anchor="ctr"/>
          <a:lstStyle/>
          <a:p>
            <a:endParaRPr lang="zh-TW" altLang="en-US"/>
          </a:p>
        </p:txBody>
      </p:sp>
      <p:sp>
        <p:nvSpPr>
          <p:cNvPr id="15" name="AutoShape 24"/>
          <p:cNvSpPr>
            <a:spLocks noChangeArrowheads="1"/>
          </p:cNvSpPr>
          <p:nvPr/>
        </p:nvSpPr>
        <p:spPr bwMode="auto">
          <a:xfrm>
            <a:off x="6575449" y="5439266"/>
            <a:ext cx="752427" cy="352149"/>
          </a:xfrm>
          <a:prstGeom prst="roundRect">
            <a:avLst>
              <a:gd name="adj" fmla="val 431"/>
            </a:avLst>
          </a:prstGeom>
          <a:noFill/>
          <a:ln w="9525">
            <a:noFill/>
            <a:round/>
            <a:headEnd/>
            <a:tailEnd/>
          </a:ln>
        </p:spPr>
        <p:txBody>
          <a:bodyPr wrap="none" lIns="90000" tIns="46800" rIns="90000" bIns="46800">
            <a:spAutoFit/>
          </a:bodyPr>
          <a:lstStyle/>
          <a:p>
            <a:pPr algn="ctr">
              <a:lnSpc>
                <a:spcPct val="93000"/>
              </a:lnSpc>
              <a:buClr>
                <a:srgbClr val="009999"/>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TW" dirty="0">
                <a:solidFill>
                  <a:schemeClr val="accent1">
                    <a:lumMod val="50000"/>
                  </a:schemeClr>
                </a:solidFill>
                <a:ea typeface="新細明體" charset="-120"/>
              </a:rPr>
              <a:t>Tablet</a:t>
            </a:r>
          </a:p>
        </p:txBody>
      </p:sp>
      <p:sp>
        <p:nvSpPr>
          <p:cNvPr id="16" name="Freeform 25"/>
          <p:cNvSpPr>
            <a:spLocks/>
          </p:cNvSpPr>
          <p:nvPr/>
        </p:nvSpPr>
        <p:spPr bwMode="auto">
          <a:xfrm>
            <a:off x="1455738" y="2420887"/>
            <a:ext cx="3188270" cy="2304257"/>
          </a:xfrm>
          <a:custGeom>
            <a:avLst/>
            <a:gdLst/>
            <a:ahLst/>
            <a:cxnLst>
              <a:cxn ang="0">
                <a:pos x="0" y="0"/>
              </a:cxn>
              <a:cxn ang="0">
                <a:pos x="2284" y="238"/>
              </a:cxn>
              <a:cxn ang="0">
                <a:pos x="3951" y="1199"/>
              </a:cxn>
              <a:cxn ang="0">
                <a:pos x="5388" y="4070"/>
              </a:cxn>
              <a:cxn ang="0">
                <a:pos x="6116" y="5530"/>
              </a:cxn>
              <a:cxn ang="0">
                <a:pos x="7690" y="7224"/>
              </a:cxn>
              <a:cxn ang="0">
                <a:pos x="10116" y="7669"/>
              </a:cxn>
              <a:cxn ang="0">
                <a:pos x="13737" y="7435"/>
              </a:cxn>
            </a:cxnLst>
            <a:rect l="0" t="0" r="r" b="b"/>
            <a:pathLst>
              <a:path w="13738" h="7706">
                <a:moveTo>
                  <a:pt x="0" y="0"/>
                </a:moveTo>
                <a:cubicBezTo>
                  <a:pt x="811" y="17"/>
                  <a:pt x="1627" y="39"/>
                  <a:pt x="2284" y="238"/>
                </a:cubicBezTo>
                <a:cubicBezTo>
                  <a:pt x="2941" y="436"/>
                  <a:pt x="3435" y="560"/>
                  <a:pt x="3951" y="1199"/>
                </a:cubicBezTo>
                <a:cubicBezTo>
                  <a:pt x="4467" y="1839"/>
                  <a:pt x="5027" y="3347"/>
                  <a:pt x="5388" y="4070"/>
                </a:cubicBezTo>
                <a:cubicBezTo>
                  <a:pt x="5750" y="4794"/>
                  <a:pt x="5732" y="5005"/>
                  <a:pt x="6116" y="5530"/>
                </a:cubicBezTo>
                <a:cubicBezTo>
                  <a:pt x="6500" y="6055"/>
                  <a:pt x="7025" y="6867"/>
                  <a:pt x="7690" y="7224"/>
                </a:cubicBezTo>
                <a:cubicBezTo>
                  <a:pt x="8356" y="7581"/>
                  <a:pt x="9106" y="7634"/>
                  <a:pt x="10116" y="7669"/>
                </a:cubicBezTo>
                <a:cubicBezTo>
                  <a:pt x="11126" y="7705"/>
                  <a:pt x="12431" y="7568"/>
                  <a:pt x="13737" y="7435"/>
                </a:cubicBezTo>
              </a:path>
            </a:pathLst>
          </a:custGeom>
          <a:noFill/>
          <a:ln w="19080">
            <a:solidFill>
              <a:schemeClr val="accent1"/>
            </a:solidFill>
            <a:round/>
            <a:headEnd/>
            <a:tailEnd type="triangle" w="med" len="med"/>
          </a:ln>
        </p:spPr>
        <p:txBody>
          <a:bodyPr/>
          <a:lstStyle/>
          <a:p>
            <a:endParaRPr lang="zh-TW" altLang="en-US"/>
          </a:p>
        </p:txBody>
      </p:sp>
      <p:sp>
        <p:nvSpPr>
          <p:cNvPr id="17" name="AutoShape 16"/>
          <p:cNvSpPr>
            <a:spLocks noChangeArrowheads="1"/>
          </p:cNvSpPr>
          <p:nvPr/>
        </p:nvSpPr>
        <p:spPr bwMode="auto">
          <a:xfrm>
            <a:off x="4554581" y="2261091"/>
            <a:ext cx="3156855" cy="406400"/>
          </a:xfrm>
          <a:prstGeom prst="roundRect">
            <a:avLst>
              <a:gd name="adj" fmla="val 236"/>
            </a:avLst>
          </a:prstGeom>
          <a:noFill/>
          <a:ln w="19080">
            <a:solidFill>
              <a:srgbClr val="66FF33"/>
            </a:solidFill>
            <a:round/>
            <a:headEnd/>
            <a:tailEnd/>
          </a:ln>
        </p:spPr>
        <p:txBody>
          <a:bodyPr wrap="none" anchor="ctr"/>
          <a:lstStyle/>
          <a:p>
            <a:r>
              <a:rPr lang="en-GB" altLang="zh-TW" dirty="0" smtClean="0">
                <a:solidFill>
                  <a:srgbClr val="808080"/>
                </a:solidFill>
                <a:ea typeface="新細明體" charset="-120"/>
              </a:rPr>
              <a:t>append-only log on GFS</a:t>
            </a:r>
          </a:p>
        </p:txBody>
      </p:sp>
      <p:sp>
        <p:nvSpPr>
          <p:cNvPr id="18" name="Freeform 20"/>
          <p:cNvSpPr>
            <a:spLocks/>
          </p:cNvSpPr>
          <p:nvPr/>
        </p:nvSpPr>
        <p:spPr bwMode="auto">
          <a:xfrm>
            <a:off x="3962400" y="2337292"/>
            <a:ext cx="4224338" cy="1098550"/>
          </a:xfrm>
          <a:custGeom>
            <a:avLst/>
            <a:gdLst/>
            <a:ahLst/>
            <a:cxnLst>
              <a:cxn ang="0">
                <a:pos x="12533" y="2580"/>
              </a:cxn>
              <a:cxn ang="0">
                <a:pos x="12096" y="1543"/>
              </a:cxn>
              <a:cxn ang="0">
                <a:pos x="11395" y="405"/>
              </a:cxn>
              <a:cxn ang="0">
                <a:pos x="9895" y="136"/>
              </a:cxn>
              <a:cxn ang="0">
                <a:pos x="2297" y="17"/>
              </a:cxn>
              <a:cxn ang="0">
                <a:pos x="0" y="39"/>
              </a:cxn>
            </a:cxnLst>
            <a:rect l="0" t="0" r="r" b="b"/>
            <a:pathLst>
              <a:path w="12534" h="2581">
                <a:moveTo>
                  <a:pt x="12533" y="2580"/>
                </a:moveTo>
                <a:cubicBezTo>
                  <a:pt x="12409" y="2240"/>
                  <a:pt x="12286" y="1905"/>
                  <a:pt x="12096" y="1543"/>
                </a:cubicBezTo>
                <a:cubicBezTo>
                  <a:pt x="11906" y="1181"/>
                  <a:pt x="11761" y="639"/>
                  <a:pt x="11395" y="405"/>
                </a:cubicBezTo>
                <a:cubicBezTo>
                  <a:pt x="11029" y="172"/>
                  <a:pt x="11412" y="202"/>
                  <a:pt x="9895" y="136"/>
                </a:cubicBezTo>
                <a:cubicBezTo>
                  <a:pt x="8378" y="70"/>
                  <a:pt x="3946" y="35"/>
                  <a:pt x="2297" y="17"/>
                </a:cubicBezTo>
                <a:cubicBezTo>
                  <a:pt x="648" y="0"/>
                  <a:pt x="321" y="17"/>
                  <a:pt x="0" y="39"/>
                </a:cubicBezTo>
              </a:path>
            </a:pathLst>
          </a:custGeom>
          <a:noFill/>
          <a:ln w="19080">
            <a:solidFill>
              <a:srgbClr val="FF0000"/>
            </a:solidFill>
            <a:round/>
            <a:headEnd/>
            <a:tailEnd type="triangle" w="med" len="med"/>
          </a:ln>
        </p:spPr>
        <p:txBody>
          <a:bodyPr/>
          <a:lstStyle/>
          <a:p>
            <a:endParaRPr lang="zh-TW" altLang="en-US"/>
          </a:p>
        </p:txBody>
      </p:sp>
      <p:sp>
        <p:nvSpPr>
          <p:cNvPr id="20" name="Freeform 21"/>
          <p:cNvSpPr>
            <a:spLocks/>
          </p:cNvSpPr>
          <p:nvPr/>
        </p:nvSpPr>
        <p:spPr bwMode="auto">
          <a:xfrm>
            <a:off x="1454150" y="1803891"/>
            <a:ext cx="1822450" cy="457200"/>
          </a:xfrm>
          <a:custGeom>
            <a:avLst/>
            <a:gdLst/>
            <a:ahLst/>
            <a:cxnLst>
              <a:cxn ang="0">
                <a:pos x="0" y="0"/>
              </a:cxn>
              <a:cxn ang="0">
                <a:pos x="2152" y="674"/>
              </a:cxn>
              <a:cxn ang="0">
                <a:pos x="3220" y="1596"/>
              </a:cxn>
              <a:cxn ang="0">
                <a:pos x="3727" y="3436"/>
              </a:cxn>
              <a:cxn ang="0">
                <a:pos x="3895" y="5443"/>
              </a:cxn>
            </a:cxnLst>
            <a:rect l="0" t="0" r="r" b="b"/>
            <a:pathLst>
              <a:path w="3896" h="5444">
                <a:moveTo>
                  <a:pt x="0" y="0"/>
                </a:moveTo>
                <a:cubicBezTo>
                  <a:pt x="807" y="202"/>
                  <a:pt x="1614" y="410"/>
                  <a:pt x="2152" y="674"/>
                </a:cubicBezTo>
                <a:cubicBezTo>
                  <a:pt x="2690" y="939"/>
                  <a:pt x="2955" y="1138"/>
                  <a:pt x="3220" y="1596"/>
                </a:cubicBezTo>
                <a:cubicBezTo>
                  <a:pt x="3484" y="2055"/>
                  <a:pt x="3617" y="2796"/>
                  <a:pt x="3727" y="3436"/>
                </a:cubicBezTo>
                <a:cubicBezTo>
                  <a:pt x="3837" y="4075"/>
                  <a:pt x="3864" y="4759"/>
                  <a:pt x="3895" y="5443"/>
                </a:cubicBezTo>
              </a:path>
            </a:pathLst>
          </a:custGeom>
          <a:noFill/>
          <a:ln w="19080">
            <a:solidFill>
              <a:schemeClr val="accent1"/>
            </a:solidFill>
            <a:round/>
            <a:headEnd/>
            <a:tailEnd type="triangle" w="med" len="med"/>
          </a:ln>
        </p:spPr>
        <p:txBody>
          <a:bodyPr/>
          <a:lstStyle/>
          <a:p>
            <a:endParaRPr lang="zh-TW" altLang="en-US"/>
          </a:p>
        </p:txBody>
      </p:sp>
      <p:sp>
        <p:nvSpPr>
          <p:cNvPr id="21" name="矩形 20"/>
          <p:cNvSpPr/>
          <p:nvPr/>
        </p:nvSpPr>
        <p:spPr>
          <a:xfrm>
            <a:off x="6553200" y="1727691"/>
            <a:ext cx="1244251" cy="461665"/>
          </a:xfrm>
          <a:prstGeom prst="rect">
            <a:avLst/>
          </a:prstGeom>
        </p:spPr>
        <p:txBody>
          <a:bodyPr wrap="none">
            <a:spAutoFit/>
          </a:bodyPr>
          <a:lstStyle/>
          <a:p>
            <a:r>
              <a:rPr lang="en-US" altLang="zh-TW" dirty="0">
                <a:solidFill>
                  <a:schemeClr val="accent1">
                    <a:lumMod val="50000"/>
                  </a:schemeClr>
                </a:solidFill>
              </a:rPr>
              <a:t>Memory</a:t>
            </a:r>
            <a:endParaRPr lang="zh-TW" altLang="en-US" dirty="0">
              <a:solidFill>
                <a:schemeClr val="accent1">
                  <a:lumMod val="50000"/>
                </a:schemeClr>
              </a:solidFill>
            </a:endParaRPr>
          </a:p>
        </p:txBody>
      </p:sp>
      <p:sp>
        <p:nvSpPr>
          <p:cNvPr id="22" name="矩形 21"/>
          <p:cNvSpPr/>
          <p:nvPr/>
        </p:nvSpPr>
        <p:spPr>
          <a:xfrm>
            <a:off x="971600" y="5949280"/>
            <a:ext cx="7704856" cy="707886"/>
          </a:xfrm>
          <a:prstGeom prst="rect">
            <a:avLst/>
          </a:prstGeom>
        </p:spPr>
        <p:txBody>
          <a:bodyPr wrap="square">
            <a:spAutoFit/>
          </a:bodyPr>
          <a:lstStyle/>
          <a:p>
            <a:pPr algn="ctr"/>
            <a:r>
              <a:rPr lang="en-US" altLang="zh-TW" sz="2000" dirty="0" err="1" smtClean="0"/>
              <a:t>SSTable</a:t>
            </a:r>
            <a:r>
              <a:rPr lang="en-US" altLang="zh-TW" sz="2000" dirty="0" smtClean="0"/>
              <a:t>: Immutable on-disk ordered map from string-&gt;string</a:t>
            </a:r>
          </a:p>
          <a:p>
            <a:pPr algn="ctr"/>
            <a:r>
              <a:rPr lang="en-US" altLang="zh-TW" sz="2000" dirty="0" smtClean="0"/>
              <a:t>string keys: </a:t>
            </a:r>
            <a:r>
              <a:rPr lang="en-US" altLang="zh-TW" sz="2000" dirty="0" smtClean="0">
                <a:solidFill>
                  <a:srgbClr val="FF0000"/>
                </a:solidFill>
              </a:rPr>
              <a:t>&lt;</a:t>
            </a:r>
            <a:r>
              <a:rPr lang="en-US" altLang="zh-TW" sz="2000" i="1" dirty="0" smtClean="0">
                <a:solidFill>
                  <a:srgbClr val="FF0000"/>
                </a:solidFill>
              </a:rPr>
              <a:t>row, column, timestamp&gt; </a:t>
            </a:r>
            <a:r>
              <a:rPr lang="en-US" altLang="zh-TW" sz="2000" i="1" dirty="0" smtClean="0"/>
              <a:t>triples</a:t>
            </a:r>
            <a:endParaRPr lang="zh-TW" altLang="en-US" sz="2000"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ImplementatioN</a:t>
            </a:r>
            <a:endParaRPr lang="en-US" altLang="zh-TW" dirty="0" smtClean="0"/>
          </a:p>
        </p:txBody>
      </p:sp>
      <p:sp>
        <p:nvSpPr>
          <p:cNvPr id="3" name="文字版面配置區 2"/>
          <p:cNvSpPr>
            <a:spLocks noGrp="1"/>
          </p:cNvSpPr>
          <p:nvPr>
            <p:ph type="body" idx="1"/>
          </p:nvPr>
        </p:nvSpPr>
        <p:spPr/>
        <p:txBody>
          <a:bodyPr/>
          <a:lstStyle/>
          <a:p>
            <a:r>
              <a:rPr lang="en-US" altLang="zh-TW" dirty="0" smtClean="0">
                <a:solidFill>
                  <a:schemeClr val="bg1">
                    <a:lumMod val="50000"/>
                  </a:schemeClr>
                </a:solidFill>
              </a:rPr>
              <a:t>Tablet</a:t>
            </a:r>
          </a:p>
          <a:p>
            <a:r>
              <a:rPr lang="en-US" altLang="zh-TW" dirty="0" smtClean="0"/>
              <a:t>Tablet</a:t>
            </a:r>
            <a:r>
              <a:rPr lang="zh-TW" altLang="en-US" dirty="0" smtClean="0"/>
              <a:t> </a:t>
            </a:r>
            <a:r>
              <a:rPr lang="en-US" altLang="zh-TW" dirty="0" smtClean="0"/>
              <a:t>Location</a:t>
            </a:r>
          </a:p>
          <a:p>
            <a:r>
              <a:rPr lang="en-US" altLang="zh-TW" dirty="0" smtClean="0">
                <a:solidFill>
                  <a:schemeClr val="bg1">
                    <a:lumMod val="50000"/>
                  </a:schemeClr>
                </a:solidFill>
              </a:rPr>
              <a:t>Compaction</a:t>
            </a:r>
            <a:endParaRPr lang="zh-TW" altLang="en-US" dirty="0" smtClean="0">
              <a:solidFill>
                <a:schemeClr val="bg1">
                  <a:lumMod val="50000"/>
                </a:schemeClr>
              </a:solidFill>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Locating Tablets (1/2)</a:t>
            </a:r>
            <a:endParaRPr lang="zh-TW" altLang="en-US" dirty="0"/>
          </a:p>
        </p:txBody>
      </p:sp>
      <p:pic>
        <p:nvPicPr>
          <p:cNvPr id="2050" name="Picture 2"/>
          <p:cNvPicPr>
            <a:picLocks noChangeAspect="1" noChangeArrowheads="1"/>
          </p:cNvPicPr>
          <p:nvPr/>
        </p:nvPicPr>
        <p:blipFill>
          <a:blip r:embed="rId3" cstate="print"/>
          <a:srcRect/>
          <a:stretch>
            <a:fillRect/>
          </a:stretch>
        </p:blipFill>
        <p:spPr bwMode="auto">
          <a:xfrm>
            <a:off x="899592" y="2060848"/>
            <a:ext cx="7349680" cy="4032448"/>
          </a:xfrm>
          <a:prstGeom prst="rect">
            <a:avLst/>
          </a:prstGeom>
          <a:noFill/>
          <a:ln w="9525">
            <a:noFill/>
            <a:miter lim="800000"/>
            <a:headEnd/>
            <a:tailEnd/>
          </a:ln>
        </p:spPr>
      </p:pic>
      <p:sp>
        <p:nvSpPr>
          <p:cNvPr id="5" name="文字方塊 4"/>
          <p:cNvSpPr txBox="1"/>
          <p:nvPr/>
        </p:nvSpPr>
        <p:spPr>
          <a:xfrm>
            <a:off x="3131840" y="3140968"/>
            <a:ext cx="792088" cy="461665"/>
          </a:xfrm>
          <a:prstGeom prst="rect">
            <a:avLst/>
          </a:prstGeom>
          <a:noFill/>
          <a:ln>
            <a:solidFill>
              <a:schemeClr val="bg1"/>
            </a:solidFill>
          </a:ln>
        </p:spPr>
        <p:txBody>
          <a:bodyPr wrap="square" rtlCol="0">
            <a:spAutoFit/>
          </a:bodyPr>
          <a:lstStyle/>
          <a:p>
            <a:r>
              <a:rPr lang="en-US" altLang="zh-TW" sz="2400" dirty="0" smtClean="0">
                <a:solidFill>
                  <a:srgbClr val="FF0000"/>
                </a:solidFill>
              </a:rPr>
              <a:t>MD0</a:t>
            </a:r>
            <a:endParaRPr lang="zh-TW" altLang="en-US" sz="2400" dirty="0">
              <a:solidFill>
                <a:srgbClr val="FF0000"/>
              </a:solidFill>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Locating Tablets (2/2)</a:t>
            </a:r>
            <a:endParaRPr lang="zh-TW" altLang="en-US" dirty="0"/>
          </a:p>
        </p:txBody>
      </p:sp>
      <p:sp>
        <p:nvSpPr>
          <p:cNvPr id="3" name="內容版面配置區 2"/>
          <p:cNvSpPr>
            <a:spLocks noGrp="1"/>
          </p:cNvSpPr>
          <p:nvPr>
            <p:ph idx="1"/>
          </p:nvPr>
        </p:nvSpPr>
        <p:spPr/>
        <p:txBody>
          <a:bodyPr/>
          <a:lstStyle/>
          <a:p>
            <a:r>
              <a:rPr lang="en-US" altLang="zh-TW" dirty="0" smtClean="0">
                <a:latin typeface="+mj-lt"/>
              </a:rPr>
              <a:t>Approach: 3-level B+-tree like scheme for tablets</a:t>
            </a:r>
          </a:p>
          <a:p>
            <a:pPr lvl="1"/>
            <a:r>
              <a:rPr lang="en-US" altLang="zh-TW" dirty="0" smtClean="0">
                <a:latin typeface="+mj-lt"/>
              </a:rPr>
              <a:t>1st level: Chubby, points to MD0 (root)</a:t>
            </a:r>
          </a:p>
          <a:p>
            <a:pPr lvl="1"/>
            <a:r>
              <a:rPr lang="en-US" altLang="zh-TW" dirty="0" smtClean="0">
                <a:latin typeface="+mj-lt"/>
              </a:rPr>
              <a:t>2nd level: MD0 data points to appropriate METADATA tablet</a:t>
            </a:r>
          </a:p>
          <a:p>
            <a:pPr lvl="1"/>
            <a:r>
              <a:rPr lang="en-US" altLang="zh-TW" dirty="0" smtClean="0">
                <a:latin typeface="+mj-lt"/>
              </a:rPr>
              <a:t>3rd level: METADATA tablets point to data tablets</a:t>
            </a:r>
          </a:p>
          <a:p>
            <a:r>
              <a:rPr lang="en-US" altLang="zh-TW" dirty="0" smtClean="0">
                <a:latin typeface="+mj-lt"/>
              </a:rPr>
              <a:t>METADATA tablets can be split when necessary</a:t>
            </a:r>
          </a:p>
          <a:p>
            <a:r>
              <a:rPr lang="en-US" altLang="zh-TW" dirty="0" smtClean="0">
                <a:latin typeface="+mj-lt"/>
              </a:rPr>
              <a:t>MD0 never splits so number of levels is fixed</a:t>
            </a:r>
            <a:endParaRPr lang="zh-TW" altLang="en-US" dirty="0">
              <a:latin typeface="+mj-lt"/>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ImplementatioN</a:t>
            </a:r>
            <a:endParaRPr lang="en-US" altLang="zh-TW" dirty="0" smtClean="0"/>
          </a:p>
        </p:txBody>
      </p:sp>
      <p:sp>
        <p:nvSpPr>
          <p:cNvPr id="3" name="文字版面配置區 2"/>
          <p:cNvSpPr>
            <a:spLocks noGrp="1"/>
          </p:cNvSpPr>
          <p:nvPr>
            <p:ph type="body" idx="1"/>
          </p:nvPr>
        </p:nvSpPr>
        <p:spPr/>
        <p:txBody>
          <a:bodyPr/>
          <a:lstStyle/>
          <a:p>
            <a:r>
              <a:rPr lang="en-US" altLang="zh-TW" dirty="0" smtClean="0">
                <a:solidFill>
                  <a:schemeClr val="bg1">
                    <a:lumMod val="50000"/>
                  </a:schemeClr>
                </a:solidFill>
              </a:rPr>
              <a:t>Tablet</a:t>
            </a:r>
          </a:p>
          <a:p>
            <a:r>
              <a:rPr lang="en-US" altLang="zh-TW" dirty="0" smtClean="0">
                <a:solidFill>
                  <a:schemeClr val="bg1">
                    <a:lumMod val="50000"/>
                  </a:schemeClr>
                </a:solidFill>
              </a:rPr>
              <a:t>Tablet</a:t>
            </a:r>
            <a:r>
              <a:rPr lang="zh-TW" altLang="en-US" dirty="0" smtClean="0">
                <a:solidFill>
                  <a:schemeClr val="bg1">
                    <a:lumMod val="50000"/>
                  </a:schemeClr>
                </a:solidFill>
              </a:rPr>
              <a:t> </a:t>
            </a:r>
            <a:r>
              <a:rPr lang="en-US" altLang="zh-TW" dirty="0" smtClean="0">
                <a:solidFill>
                  <a:schemeClr val="bg1">
                    <a:lumMod val="50000"/>
                  </a:schemeClr>
                </a:solidFill>
              </a:rPr>
              <a:t>Location</a:t>
            </a:r>
          </a:p>
          <a:p>
            <a:r>
              <a:rPr lang="en-US" altLang="zh-TW" dirty="0" smtClean="0"/>
              <a:t>Compaction</a:t>
            </a:r>
            <a:endParaRPr lang="zh-TW" altLang="en-US" dirty="0" smtClean="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Compactions(1/2)</a:t>
            </a:r>
            <a:endParaRPr lang="zh-TW" altLang="en-US" dirty="0"/>
          </a:p>
        </p:txBody>
      </p:sp>
      <p:sp>
        <p:nvSpPr>
          <p:cNvPr id="3" name="內容版面配置區 2"/>
          <p:cNvSpPr>
            <a:spLocks noGrp="1"/>
          </p:cNvSpPr>
          <p:nvPr>
            <p:ph idx="1"/>
          </p:nvPr>
        </p:nvSpPr>
        <p:spPr>
          <a:xfrm>
            <a:off x="457200" y="1600200"/>
            <a:ext cx="8229600" cy="4565104"/>
          </a:xfrm>
        </p:spPr>
        <p:txBody>
          <a:bodyPr>
            <a:normAutofit/>
          </a:bodyPr>
          <a:lstStyle/>
          <a:p>
            <a:r>
              <a:rPr lang="en-US" altLang="zh-TW" dirty="0" smtClean="0">
                <a:latin typeface="+mj-lt"/>
              </a:rPr>
              <a:t>Tablet state represented as set of immutable compacted </a:t>
            </a:r>
            <a:r>
              <a:rPr lang="en-US" altLang="zh-TW" dirty="0" err="1" smtClean="0">
                <a:latin typeface="+mj-lt"/>
              </a:rPr>
              <a:t>SSTable</a:t>
            </a:r>
            <a:r>
              <a:rPr lang="en-US" altLang="zh-TW" dirty="0" smtClean="0">
                <a:latin typeface="+mj-lt"/>
              </a:rPr>
              <a:t> files (buffered in memory)</a:t>
            </a:r>
          </a:p>
          <a:p>
            <a:r>
              <a:rPr lang="en-US" altLang="zh-TW" dirty="0" smtClean="0">
                <a:latin typeface="+mj-lt"/>
              </a:rPr>
              <a:t>Minor compaction</a:t>
            </a:r>
          </a:p>
          <a:p>
            <a:pPr lvl="1"/>
            <a:r>
              <a:rPr lang="en-US" altLang="zh-TW" dirty="0" smtClean="0">
                <a:latin typeface="+mj-lt"/>
              </a:rPr>
              <a:t>When in-memory state fills up, pick tablet with most data and write contents to </a:t>
            </a:r>
            <a:r>
              <a:rPr lang="en-US" altLang="zh-TW" dirty="0" err="1" smtClean="0">
                <a:latin typeface="+mj-lt"/>
              </a:rPr>
              <a:t>SSTables</a:t>
            </a:r>
            <a:r>
              <a:rPr lang="en-US" altLang="zh-TW" dirty="0" smtClean="0">
                <a:latin typeface="+mj-lt"/>
              </a:rPr>
              <a:t> stored in GFS</a:t>
            </a:r>
          </a:p>
          <a:p>
            <a:r>
              <a:rPr lang="en-US" altLang="zh-TW" dirty="0" smtClean="0">
                <a:latin typeface="+mj-lt"/>
              </a:rPr>
              <a:t>Major compaction</a:t>
            </a:r>
          </a:p>
          <a:p>
            <a:pPr lvl="1"/>
            <a:r>
              <a:rPr lang="en-US" altLang="zh-TW" dirty="0" smtClean="0">
                <a:latin typeface="+mj-lt"/>
              </a:rPr>
              <a:t>Periodically compact all </a:t>
            </a:r>
            <a:r>
              <a:rPr lang="en-US" altLang="zh-TW" dirty="0" err="1" smtClean="0">
                <a:latin typeface="+mj-lt"/>
              </a:rPr>
              <a:t>SSTables</a:t>
            </a:r>
            <a:r>
              <a:rPr lang="en-US" altLang="zh-TW" dirty="0" smtClean="0">
                <a:latin typeface="+mj-lt"/>
              </a:rPr>
              <a:t> for tablet into new base </a:t>
            </a:r>
            <a:r>
              <a:rPr lang="en-US" altLang="zh-TW" dirty="0" err="1" smtClean="0">
                <a:latin typeface="+mj-lt"/>
              </a:rPr>
              <a:t>SSTable</a:t>
            </a:r>
            <a:r>
              <a:rPr lang="en-US" altLang="zh-TW" dirty="0" smtClean="0">
                <a:latin typeface="+mj-lt"/>
              </a:rPr>
              <a:t> on GFS</a:t>
            </a:r>
          </a:p>
          <a:p>
            <a:pPr lvl="2"/>
            <a:r>
              <a:rPr lang="en-US" altLang="zh-TW" dirty="0" smtClean="0">
                <a:latin typeface="+mj-lt"/>
              </a:rPr>
              <a:t>Storage reclaimed from deletions at this point (garbage collection)</a:t>
            </a:r>
            <a:endParaRPr lang="zh-TW" altLang="en-US" dirty="0">
              <a:latin typeface="+mj-lt"/>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Compactions(2/2)</a:t>
            </a:r>
            <a:endParaRPr lang="zh-TW" altLang="en-US" dirty="0"/>
          </a:p>
        </p:txBody>
      </p:sp>
      <p:cxnSp>
        <p:nvCxnSpPr>
          <p:cNvPr id="4" name="直線接點 3"/>
          <p:cNvCxnSpPr/>
          <p:nvPr/>
        </p:nvCxnSpPr>
        <p:spPr>
          <a:xfrm>
            <a:off x="0" y="3429000"/>
            <a:ext cx="8892480"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橢圓 4"/>
          <p:cNvSpPr/>
          <p:nvPr/>
        </p:nvSpPr>
        <p:spPr>
          <a:xfrm>
            <a:off x="4499992" y="2047756"/>
            <a:ext cx="1539409" cy="58915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dirty="0" smtClean="0"/>
              <a:t>Read ops</a:t>
            </a:r>
            <a:endParaRPr lang="zh-TW" altLang="en-US" dirty="0"/>
          </a:p>
        </p:txBody>
      </p:sp>
      <p:sp>
        <p:nvSpPr>
          <p:cNvPr id="6" name="橢圓 5"/>
          <p:cNvSpPr/>
          <p:nvPr/>
        </p:nvSpPr>
        <p:spPr>
          <a:xfrm>
            <a:off x="407573" y="4751329"/>
            <a:ext cx="1539409" cy="58915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dirty="0" smtClean="0"/>
              <a:t>Write ops</a:t>
            </a:r>
            <a:endParaRPr lang="zh-TW" altLang="en-US" dirty="0"/>
          </a:p>
        </p:txBody>
      </p:sp>
      <p:sp>
        <p:nvSpPr>
          <p:cNvPr id="7" name="矩形 6"/>
          <p:cNvSpPr/>
          <p:nvPr/>
        </p:nvSpPr>
        <p:spPr>
          <a:xfrm>
            <a:off x="863694" y="4031249"/>
            <a:ext cx="1482393" cy="392771"/>
          </a:xfrm>
          <a:prstGeom prst="rect">
            <a:avLst/>
          </a:prstGeom>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TW" dirty="0" smtClean="0"/>
              <a:t>Tablet log</a:t>
            </a:r>
            <a:endParaRPr lang="zh-TW" altLang="en-US" dirty="0"/>
          </a:p>
        </p:txBody>
      </p:sp>
      <p:sp>
        <p:nvSpPr>
          <p:cNvPr id="8" name="矩形 7"/>
          <p:cNvSpPr/>
          <p:nvPr/>
        </p:nvSpPr>
        <p:spPr>
          <a:xfrm>
            <a:off x="1835696" y="1609161"/>
            <a:ext cx="1305858" cy="654618"/>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altLang="zh-TW" dirty="0" err="1" smtClean="0"/>
              <a:t>memtable</a:t>
            </a:r>
            <a:endParaRPr lang="zh-TW" altLang="en-US" dirty="0"/>
          </a:p>
        </p:txBody>
      </p:sp>
      <p:cxnSp>
        <p:nvCxnSpPr>
          <p:cNvPr id="9" name="圖案 8"/>
          <p:cNvCxnSpPr>
            <a:stCxn id="6" idx="6"/>
          </p:cNvCxnSpPr>
          <p:nvPr/>
        </p:nvCxnSpPr>
        <p:spPr>
          <a:xfrm flipV="1">
            <a:off x="1946981" y="4162172"/>
            <a:ext cx="171045" cy="883735"/>
          </a:xfrm>
          <a:prstGeom prst="bentConnector2">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a:stCxn id="8" idx="3"/>
            <a:endCxn id="5" idx="2"/>
          </p:cNvCxnSpPr>
          <p:nvPr/>
        </p:nvCxnSpPr>
        <p:spPr>
          <a:xfrm>
            <a:off x="3141554" y="1936470"/>
            <a:ext cx="1358438" cy="40586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2859223" y="3965787"/>
            <a:ext cx="741197" cy="85100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smtClean="0"/>
              <a:t>V4.0</a:t>
            </a:r>
            <a:endParaRPr lang="zh-TW" altLang="en-US" dirty="0"/>
          </a:p>
        </p:txBody>
      </p:sp>
      <p:sp>
        <p:nvSpPr>
          <p:cNvPr id="13" name="矩形 12"/>
          <p:cNvSpPr/>
          <p:nvPr/>
        </p:nvSpPr>
        <p:spPr>
          <a:xfrm>
            <a:off x="5938040" y="3965787"/>
            <a:ext cx="741197" cy="851004"/>
          </a:xfrm>
          <a:prstGeom prst="rect">
            <a:avLst/>
          </a:prstGeom>
          <a:solidFill>
            <a:srgbClr val="FFCC99"/>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V1.0</a:t>
            </a:r>
            <a:endParaRPr lang="zh-TW" altLang="en-US" dirty="0"/>
          </a:p>
        </p:txBody>
      </p:sp>
      <p:sp>
        <p:nvSpPr>
          <p:cNvPr id="14" name="矩形 13"/>
          <p:cNvSpPr/>
          <p:nvPr/>
        </p:nvSpPr>
        <p:spPr>
          <a:xfrm>
            <a:off x="4911768" y="3965787"/>
            <a:ext cx="741197" cy="851004"/>
          </a:xfrm>
          <a:prstGeom prst="rect">
            <a:avLst/>
          </a:prstGeom>
          <a:solidFill>
            <a:srgbClr val="FFCC99"/>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V2.0</a:t>
            </a:r>
            <a:endParaRPr lang="zh-TW" altLang="en-US" dirty="0"/>
          </a:p>
        </p:txBody>
      </p:sp>
      <p:sp>
        <p:nvSpPr>
          <p:cNvPr id="15" name="矩形 14"/>
          <p:cNvSpPr/>
          <p:nvPr/>
        </p:nvSpPr>
        <p:spPr>
          <a:xfrm>
            <a:off x="3885496" y="3965787"/>
            <a:ext cx="741197" cy="851004"/>
          </a:xfrm>
          <a:prstGeom prst="rect">
            <a:avLst/>
          </a:prstGeom>
          <a:solidFill>
            <a:srgbClr val="FFCC99"/>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V3.0</a:t>
            </a:r>
            <a:endParaRPr lang="zh-TW" altLang="en-US" dirty="0"/>
          </a:p>
        </p:txBody>
      </p:sp>
      <p:cxnSp>
        <p:nvCxnSpPr>
          <p:cNvPr id="16" name="直線單箭頭接點 15"/>
          <p:cNvCxnSpPr>
            <a:stCxn id="19" idx="3"/>
            <a:endCxn id="12" idx="1"/>
          </p:cNvCxnSpPr>
          <p:nvPr/>
        </p:nvCxnSpPr>
        <p:spPr>
          <a:xfrm>
            <a:off x="1619672" y="2388157"/>
            <a:ext cx="1239551" cy="2003132"/>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a:endCxn id="18" idx="0"/>
          </p:cNvCxnSpPr>
          <p:nvPr/>
        </p:nvCxnSpPr>
        <p:spPr>
          <a:xfrm rot="5400000">
            <a:off x="1532407" y="4572417"/>
            <a:ext cx="1590722" cy="600032"/>
          </a:xfrm>
          <a:prstGeom prst="straightConnector1">
            <a:avLst/>
          </a:prstGeom>
          <a:ln w="19050">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635632" y="5667794"/>
            <a:ext cx="2784239" cy="646331"/>
          </a:xfrm>
          <a:prstGeom prst="rect">
            <a:avLst/>
          </a:prstGeom>
        </p:spPr>
        <p:txBody>
          <a:bodyPr wrap="square">
            <a:spAutoFit/>
          </a:bodyPr>
          <a:lstStyle/>
          <a:p>
            <a:pPr algn="ctr"/>
            <a:r>
              <a:rPr lang="en-US" altLang="zh-TW" b="1" dirty="0" smtClean="0">
                <a:solidFill>
                  <a:srgbClr val="FF0000"/>
                </a:solidFill>
              </a:rPr>
              <a:t>Minor compaction</a:t>
            </a:r>
          </a:p>
          <a:p>
            <a:pPr algn="ctr"/>
            <a:r>
              <a:rPr lang="en-US" altLang="zh-TW" dirty="0" err="1" smtClean="0"/>
              <a:t>Memtable</a:t>
            </a:r>
            <a:r>
              <a:rPr lang="en-US" altLang="zh-TW" dirty="0" smtClean="0"/>
              <a:t> -&gt; a new </a:t>
            </a:r>
            <a:r>
              <a:rPr lang="en-US" altLang="zh-TW" dirty="0" err="1" smtClean="0"/>
              <a:t>SSTable</a:t>
            </a:r>
            <a:endParaRPr lang="zh-TW" altLang="en-US" dirty="0"/>
          </a:p>
        </p:txBody>
      </p:sp>
      <p:sp>
        <p:nvSpPr>
          <p:cNvPr id="19" name="矩形 18"/>
          <p:cNvSpPr/>
          <p:nvPr/>
        </p:nvSpPr>
        <p:spPr>
          <a:xfrm>
            <a:off x="398280" y="2060848"/>
            <a:ext cx="1221392" cy="65461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smtClean="0"/>
              <a:t>Frozen </a:t>
            </a:r>
            <a:r>
              <a:rPr lang="en-US" altLang="zh-TW" dirty="0" err="1" smtClean="0"/>
              <a:t>memtable</a:t>
            </a:r>
            <a:endParaRPr lang="zh-TW" altLang="en-US" dirty="0"/>
          </a:p>
        </p:txBody>
      </p:sp>
      <p:cxnSp>
        <p:nvCxnSpPr>
          <p:cNvPr id="20" name="直線單箭頭接點 19"/>
          <p:cNvCxnSpPr>
            <a:stCxn id="15" idx="0"/>
            <a:endCxn id="5" idx="3"/>
          </p:cNvCxnSpPr>
          <p:nvPr/>
        </p:nvCxnSpPr>
        <p:spPr>
          <a:xfrm rot="5400000" flipH="1" flipV="1">
            <a:off x="3783187" y="3023541"/>
            <a:ext cx="1415155" cy="4693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直線單箭頭接點 20"/>
          <p:cNvCxnSpPr>
            <a:stCxn id="14" idx="0"/>
            <a:endCxn id="5" idx="4"/>
          </p:cNvCxnSpPr>
          <p:nvPr/>
        </p:nvCxnSpPr>
        <p:spPr>
          <a:xfrm rot="16200000" flipV="1">
            <a:off x="4611595" y="3295015"/>
            <a:ext cx="1328875" cy="1267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a:stCxn id="13" idx="0"/>
            <a:endCxn id="5" idx="5"/>
          </p:cNvCxnSpPr>
          <p:nvPr/>
        </p:nvCxnSpPr>
        <p:spPr>
          <a:xfrm rot="16200000" flipV="1">
            <a:off x="5353723" y="3010870"/>
            <a:ext cx="1415155" cy="49467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橢圓 22"/>
          <p:cNvSpPr/>
          <p:nvPr/>
        </p:nvSpPr>
        <p:spPr>
          <a:xfrm>
            <a:off x="3419873" y="5144100"/>
            <a:ext cx="2869760" cy="261847"/>
          </a:xfrm>
          <a:prstGeom prst="ellipse">
            <a:avLst/>
          </a:prstGeom>
          <a:solidFill>
            <a:srgbClr val="FFCC99"/>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err="1" smtClean="0">
                <a:ln>
                  <a:solidFill>
                    <a:sysClr val="windowText" lastClr="000000"/>
                  </a:solidFill>
                </a:ln>
                <a:solidFill>
                  <a:schemeClr val="tx1"/>
                </a:solidFill>
              </a:rPr>
              <a:t>SSTable</a:t>
            </a:r>
            <a:r>
              <a:rPr lang="en-US" altLang="zh-TW" b="1" dirty="0" smtClean="0">
                <a:ln>
                  <a:solidFill>
                    <a:sysClr val="windowText" lastClr="000000"/>
                  </a:solidFill>
                </a:ln>
                <a:solidFill>
                  <a:schemeClr val="tx1"/>
                </a:solidFill>
              </a:rPr>
              <a:t> files</a:t>
            </a:r>
            <a:endParaRPr lang="zh-TW" altLang="en-US" dirty="0">
              <a:ln>
                <a:solidFill>
                  <a:sysClr val="windowText" lastClr="000000"/>
                </a:solidFill>
              </a:ln>
              <a:solidFill>
                <a:schemeClr val="tx1"/>
              </a:solidFill>
            </a:endParaRPr>
          </a:p>
        </p:txBody>
      </p:sp>
      <p:sp>
        <p:nvSpPr>
          <p:cNvPr id="24" name="矩形 23"/>
          <p:cNvSpPr/>
          <p:nvPr/>
        </p:nvSpPr>
        <p:spPr>
          <a:xfrm>
            <a:off x="4512662" y="5667794"/>
            <a:ext cx="741197" cy="851004"/>
          </a:xfrm>
          <a:prstGeom prst="rect">
            <a:avLst/>
          </a:prstGeom>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TW" dirty="0" smtClean="0"/>
              <a:t>V6.0</a:t>
            </a:r>
            <a:endParaRPr lang="zh-TW" altLang="en-US" dirty="0"/>
          </a:p>
        </p:txBody>
      </p:sp>
      <p:cxnSp>
        <p:nvCxnSpPr>
          <p:cNvPr id="25" name="直線單箭頭接點 24"/>
          <p:cNvCxnSpPr>
            <a:stCxn id="12" idx="2"/>
            <a:endCxn id="24" idx="0"/>
          </p:cNvCxnSpPr>
          <p:nvPr/>
        </p:nvCxnSpPr>
        <p:spPr>
          <a:xfrm rot="16200000" flipH="1">
            <a:off x="3631039" y="4415573"/>
            <a:ext cx="851004" cy="1653439"/>
          </a:xfrm>
          <a:prstGeom prst="straightConnector1">
            <a:avLst/>
          </a:prstGeom>
          <a:ln w="19050">
            <a:tailEnd type="arrow"/>
          </a:ln>
        </p:spPr>
        <p:style>
          <a:lnRef idx="1">
            <a:schemeClr val="accent6"/>
          </a:lnRef>
          <a:fillRef idx="0">
            <a:schemeClr val="accent6"/>
          </a:fillRef>
          <a:effectRef idx="0">
            <a:schemeClr val="accent6"/>
          </a:effectRef>
          <a:fontRef idx="minor">
            <a:schemeClr val="tx1"/>
          </a:fontRef>
        </p:style>
      </p:cxnSp>
      <p:cxnSp>
        <p:nvCxnSpPr>
          <p:cNvPr id="26" name="直線單箭頭接點 25"/>
          <p:cNvCxnSpPr>
            <a:stCxn id="15" idx="2"/>
            <a:endCxn id="24" idx="0"/>
          </p:cNvCxnSpPr>
          <p:nvPr/>
        </p:nvCxnSpPr>
        <p:spPr>
          <a:xfrm rot="16200000" flipH="1">
            <a:off x="4144175" y="4928709"/>
            <a:ext cx="851004" cy="627166"/>
          </a:xfrm>
          <a:prstGeom prst="straightConnector1">
            <a:avLst/>
          </a:prstGeom>
          <a:ln w="19050">
            <a:tailEnd type="arrow"/>
          </a:ln>
        </p:spPr>
        <p:style>
          <a:lnRef idx="1">
            <a:schemeClr val="accent6"/>
          </a:lnRef>
          <a:fillRef idx="0">
            <a:schemeClr val="accent6"/>
          </a:fillRef>
          <a:effectRef idx="0">
            <a:schemeClr val="accent6"/>
          </a:effectRef>
          <a:fontRef idx="minor">
            <a:schemeClr val="tx1"/>
          </a:fontRef>
        </p:style>
      </p:cxnSp>
      <p:cxnSp>
        <p:nvCxnSpPr>
          <p:cNvPr id="27" name="直線單箭頭接點 26"/>
          <p:cNvCxnSpPr>
            <a:stCxn id="14" idx="2"/>
            <a:endCxn id="24" idx="0"/>
          </p:cNvCxnSpPr>
          <p:nvPr/>
        </p:nvCxnSpPr>
        <p:spPr>
          <a:xfrm rot="5400000">
            <a:off x="4657312" y="5042740"/>
            <a:ext cx="851004" cy="399106"/>
          </a:xfrm>
          <a:prstGeom prst="straightConnector1">
            <a:avLst/>
          </a:prstGeom>
          <a:ln w="19050">
            <a:tailEnd type="arrow"/>
          </a:ln>
        </p:spPr>
        <p:style>
          <a:lnRef idx="1">
            <a:schemeClr val="accent6"/>
          </a:lnRef>
          <a:fillRef idx="0">
            <a:schemeClr val="accent6"/>
          </a:fillRef>
          <a:effectRef idx="0">
            <a:schemeClr val="accent6"/>
          </a:effectRef>
          <a:fontRef idx="minor">
            <a:schemeClr val="tx1"/>
          </a:fontRef>
        </p:style>
      </p:cxnSp>
      <p:cxnSp>
        <p:nvCxnSpPr>
          <p:cNvPr id="28" name="直線單箭頭接點 27"/>
          <p:cNvCxnSpPr>
            <a:stCxn id="13" idx="2"/>
            <a:endCxn id="24" idx="0"/>
          </p:cNvCxnSpPr>
          <p:nvPr/>
        </p:nvCxnSpPr>
        <p:spPr>
          <a:xfrm rot="5400000">
            <a:off x="5170448" y="4529603"/>
            <a:ext cx="851004" cy="1425378"/>
          </a:xfrm>
          <a:prstGeom prst="straightConnector1">
            <a:avLst/>
          </a:prstGeom>
          <a:ln w="19050">
            <a:tailEnd type="arrow"/>
          </a:ln>
        </p:spPr>
        <p:style>
          <a:lnRef idx="1">
            <a:schemeClr val="accent6"/>
          </a:lnRef>
          <a:fillRef idx="0">
            <a:schemeClr val="accent6"/>
          </a:fillRef>
          <a:effectRef idx="0">
            <a:schemeClr val="accent6"/>
          </a:effectRef>
          <a:fontRef idx="minor">
            <a:schemeClr val="tx1"/>
          </a:fontRef>
        </p:style>
      </p:cxnSp>
      <p:cxnSp>
        <p:nvCxnSpPr>
          <p:cNvPr id="29" name="直線單箭頭接點 28"/>
          <p:cNvCxnSpPr>
            <a:endCxn id="24" idx="0"/>
          </p:cNvCxnSpPr>
          <p:nvPr/>
        </p:nvCxnSpPr>
        <p:spPr>
          <a:xfrm rot="16200000" flipH="1">
            <a:off x="2254757" y="3039291"/>
            <a:ext cx="3404015" cy="185299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直線單箭頭接點 29"/>
          <p:cNvCxnSpPr/>
          <p:nvPr/>
        </p:nvCxnSpPr>
        <p:spPr>
          <a:xfrm flipV="1">
            <a:off x="6156176" y="5183377"/>
            <a:ext cx="432048" cy="117831"/>
          </a:xfrm>
          <a:prstGeom prst="straightConnector1">
            <a:avLst/>
          </a:prstGeom>
          <a:ln w="19050">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36512" y="2780928"/>
            <a:ext cx="2088232" cy="707886"/>
          </a:xfrm>
          <a:prstGeom prst="rect">
            <a:avLst/>
          </a:prstGeom>
          <a:noFill/>
          <a:ln>
            <a:noFill/>
          </a:ln>
        </p:spPr>
        <p:txBody>
          <a:bodyPr wrap="square" lIns="91440" tIns="45720" rIns="91440" bIns="45720">
            <a:spAutoFit/>
          </a:bodyPr>
          <a:lstStyle/>
          <a:p>
            <a:pPr algn="ctr"/>
            <a:r>
              <a:rPr lang="en-US" altLang="zh-TW" sz="4000" b="1" cap="none" spc="0"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rPr>
              <a:t>Memory</a:t>
            </a:r>
            <a:endParaRPr lang="zh-TW" altLang="en-US" sz="4000" b="1" cap="none" spc="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endParaRPr>
          </a:p>
        </p:txBody>
      </p:sp>
      <p:sp>
        <p:nvSpPr>
          <p:cNvPr id="32" name="矩形 31"/>
          <p:cNvSpPr/>
          <p:nvPr/>
        </p:nvSpPr>
        <p:spPr>
          <a:xfrm>
            <a:off x="407573" y="3376631"/>
            <a:ext cx="778043" cy="643533"/>
          </a:xfrm>
          <a:prstGeom prst="rect">
            <a:avLst/>
          </a:prstGeom>
          <a:noFill/>
          <a:ln>
            <a:noFill/>
          </a:ln>
        </p:spPr>
        <p:txBody>
          <a:bodyPr wrap="none" lIns="91440" tIns="45720" rIns="91440" bIns="45720">
            <a:spAutoFit/>
          </a:bodyPr>
          <a:lstStyle/>
          <a:p>
            <a:pPr algn="ctr"/>
            <a:r>
              <a:rPr lang="en-US" altLang="zh-TW" sz="4000" b="1" cap="none" spc="0"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rPr>
              <a:t>GFS</a:t>
            </a:r>
            <a:endParaRPr lang="zh-TW" altLang="en-US" sz="4000" b="1" cap="none" spc="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endParaRPr>
          </a:p>
        </p:txBody>
      </p:sp>
      <p:sp>
        <p:nvSpPr>
          <p:cNvPr id="35" name="矩形 34"/>
          <p:cNvSpPr/>
          <p:nvPr/>
        </p:nvSpPr>
        <p:spPr>
          <a:xfrm>
            <a:off x="6876256" y="4509120"/>
            <a:ext cx="1940403" cy="369332"/>
          </a:xfrm>
          <a:prstGeom prst="rect">
            <a:avLst/>
          </a:prstGeom>
        </p:spPr>
        <p:txBody>
          <a:bodyPr wrap="none">
            <a:spAutoFit/>
          </a:bodyPr>
          <a:lstStyle/>
          <a:p>
            <a:r>
              <a:rPr lang="en-US" altLang="zh-TW" b="1" dirty="0" smtClean="0">
                <a:solidFill>
                  <a:srgbClr val="FF0000"/>
                </a:solidFill>
              </a:rPr>
              <a:t>Major compaction</a:t>
            </a:r>
            <a:endParaRPr lang="zh-TW" altLang="en-US" dirty="0">
              <a:solidFill>
                <a:srgbClr val="FF0000"/>
              </a:solidFill>
            </a:endParaRPr>
          </a:p>
        </p:txBody>
      </p:sp>
      <p:sp>
        <p:nvSpPr>
          <p:cNvPr id="36" name="矩形 35"/>
          <p:cNvSpPr/>
          <p:nvPr/>
        </p:nvSpPr>
        <p:spPr>
          <a:xfrm>
            <a:off x="6660232" y="4798893"/>
            <a:ext cx="2483768" cy="646331"/>
          </a:xfrm>
          <a:prstGeom prst="rect">
            <a:avLst/>
          </a:prstGeom>
        </p:spPr>
        <p:txBody>
          <a:bodyPr wrap="square">
            <a:spAutoFit/>
          </a:bodyPr>
          <a:lstStyle/>
          <a:p>
            <a:pPr algn="ctr"/>
            <a:r>
              <a:rPr lang="en-US" altLang="zh-TW" dirty="0" err="1" smtClean="0"/>
              <a:t>Memtable</a:t>
            </a:r>
            <a:r>
              <a:rPr lang="en-US" altLang="zh-TW" dirty="0" smtClean="0"/>
              <a:t> + </a:t>
            </a:r>
            <a:r>
              <a:rPr lang="en-US" altLang="zh-TW" dirty="0" smtClean="0">
                <a:solidFill>
                  <a:srgbClr val="0000FF"/>
                </a:solidFill>
              </a:rPr>
              <a:t>all</a:t>
            </a:r>
            <a:r>
              <a:rPr lang="en-US" altLang="zh-TW" dirty="0" smtClean="0"/>
              <a:t> </a:t>
            </a:r>
            <a:r>
              <a:rPr lang="en-US" altLang="zh-TW" dirty="0" err="1" smtClean="0"/>
              <a:t>SSTables</a:t>
            </a:r>
            <a:endParaRPr lang="en-US" altLang="zh-TW" dirty="0" smtClean="0"/>
          </a:p>
          <a:p>
            <a:pPr algn="ctr"/>
            <a:r>
              <a:rPr lang="en-US" altLang="zh-TW" dirty="0" smtClean="0"/>
              <a:t>-&gt; to one </a:t>
            </a:r>
            <a:r>
              <a:rPr lang="en-US" altLang="zh-TW" dirty="0" err="1" smtClean="0"/>
              <a:t>SSTable</a:t>
            </a:r>
            <a:endParaRPr lang="zh-TW" altLang="en-US" dirty="0"/>
          </a:p>
        </p:txBody>
      </p:sp>
      <p:sp>
        <p:nvSpPr>
          <p:cNvPr id="40" name="矩形 39"/>
          <p:cNvSpPr/>
          <p:nvPr/>
        </p:nvSpPr>
        <p:spPr>
          <a:xfrm>
            <a:off x="6516216" y="5661248"/>
            <a:ext cx="2627784" cy="646331"/>
          </a:xfrm>
          <a:prstGeom prst="rect">
            <a:avLst/>
          </a:prstGeom>
        </p:spPr>
        <p:txBody>
          <a:bodyPr wrap="square">
            <a:spAutoFit/>
          </a:bodyPr>
          <a:lstStyle/>
          <a:p>
            <a:pPr algn="ctr"/>
            <a:r>
              <a:rPr lang="en-US" altLang="zh-TW" dirty="0" smtClean="0"/>
              <a:t>Deleted data are removed </a:t>
            </a:r>
          </a:p>
          <a:p>
            <a:pPr algn="ctr"/>
            <a:r>
              <a:rPr lang="en-US" altLang="zh-TW" dirty="0" smtClean="0"/>
              <a:t>Storage can be re-used</a:t>
            </a:r>
            <a:endParaRPr lang="zh-TW" altLang="en-US" dirty="0"/>
          </a:p>
        </p:txBody>
      </p:sp>
      <p:sp>
        <p:nvSpPr>
          <p:cNvPr id="41" name="矩形 40"/>
          <p:cNvSpPr/>
          <p:nvPr/>
        </p:nvSpPr>
        <p:spPr>
          <a:xfrm>
            <a:off x="6463962" y="4798893"/>
            <a:ext cx="2753544" cy="646331"/>
          </a:xfrm>
          <a:prstGeom prst="rect">
            <a:avLst/>
          </a:prstGeom>
        </p:spPr>
        <p:txBody>
          <a:bodyPr wrap="square">
            <a:spAutoFit/>
          </a:bodyPr>
          <a:lstStyle/>
          <a:p>
            <a:pPr algn="ctr"/>
            <a:r>
              <a:rPr lang="en-US" altLang="zh-TW" dirty="0" err="1" smtClean="0"/>
              <a:t>Memtable</a:t>
            </a:r>
            <a:r>
              <a:rPr lang="en-US" altLang="zh-TW" dirty="0" smtClean="0"/>
              <a:t> + </a:t>
            </a:r>
            <a:r>
              <a:rPr lang="en-US" altLang="zh-TW" dirty="0" smtClean="0">
                <a:solidFill>
                  <a:srgbClr val="0000FF"/>
                </a:solidFill>
              </a:rPr>
              <a:t>a few </a:t>
            </a:r>
            <a:r>
              <a:rPr lang="en-US" altLang="zh-TW" dirty="0" err="1" smtClean="0"/>
              <a:t>SSTables</a:t>
            </a:r>
            <a:endParaRPr lang="en-US" altLang="zh-TW" dirty="0" smtClean="0"/>
          </a:p>
          <a:p>
            <a:pPr algn="ctr"/>
            <a:r>
              <a:rPr lang="en-US" altLang="zh-TW" dirty="0" smtClean="0"/>
              <a:t>-&gt; A new </a:t>
            </a:r>
            <a:r>
              <a:rPr lang="en-US" altLang="zh-TW" dirty="0" err="1" smtClean="0"/>
              <a:t>SSTable</a:t>
            </a:r>
            <a:endParaRPr lang="zh-TW" altLang="en-US" dirty="0"/>
          </a:p>
        </p:txBody>
      </p:sp>
      <p:sp>
        <p:nvSpPr>
          <p:cNvPr id="42" name="矩形 41"/>
          <p:cNvSpPr/>
          <p:nvPr/>
        </p:nvSpPr>
        <p:spPr>
          <a:xfrm>
            <a:off x="6804248" y="4509120"/>
            <a:ext cx="2154116" cy="369332"/>
          </a:xfrm>
          <a:prstGeom prst="rect">
            <a:avLst/>
          </a:prstGeom>
        </p:spPr>
        <p:txBody>
          <a:bodyPr wrap="none">
            <a:spAutoFit/>
          </a:bodyPr>
          <a:lstStyle/>
          <a:p>
            <a:pPr algn="ctr"/>
            <a:r>
              <a:rPr lang="en-US" altLang="zh-TW" b="1" dirty="0" smtClean="0">
                <a:solidFill>
                  <a:srgbClr val="FF0000"/>
                </a:solidFill>
              </a:rPr>
              <a:t>Merging compaction</a:t>
            </a:r>
            <a:endParaRPr lang="zh-TW" altLang="en-US" dirty="0">
              <a:solidFill>
                <a:srgbClr val="FF0000"/>
              </a:solidFill>
            </a:endParaRPr>
          </a:p>
        </p:txBody>
      </p:sp>
      <p:sp>
        <p:nvSpPr>
          <p:cNvPr id="43" name="矩形 42"/>
          <p:cNvSpPr/>
          <p:nvPr/>
        </p:nvSpPr>
        <p:spPr>
          <a:xfrm>
            <a:off x="6490927" y="5661248"/>
            <a:ext cx="2646040" cy="646331"/>
          </a:xfrm>
          <a:prstGeom prst="rect">
            <a:avLst/>
          </a:prstGeom>
        </p:spPr>
        <p:txBody>
          <a:bodyPr wrap="square">
            <a:spAutoFit/>
          </a:bodyPr>
          <a:lstStyle/>
          <a:p>
            <a:pPr algn="ctr"/>
            <a:r>
              <a:rPr lang="en-US" altLang="zh-TW" dirty="0" smtClean="0"/>
              <a:t>Periodically done.</a:t>
            </a:r>
          </a:p>
          <a:p>
            <a:pPr algn="ctr"/>
            <a:r>
              <a:rPr lang="en-US" altLang="zh-TW" dirty="0" smtClean="0"/>
              <a:t>Deleted data are still alive.</a:t>
            </a:r>
            <a:endParaRPr lang="zh-TW" altLang="en-US" dirty="0"/>
          </a:p>
        </p:txBody>
      </p:sp>
      <p:sp>
        <p:nvSpPr>
          <p:cNvPr id="49" name="矩形 48"/>
          <p:cNvSpPr/>
          <p:nvPr/>
        </p:nvSpPr>
        <p:spPr>
          <a:xfrm>
            <a:off x="2195736" y="1331476"/>
            <a:ext cx="607859" cy="369332"/>
          </a:xfrm>
          <a:prstGeom prst="rect">
            <a:avLst/>
          </a:prstGeom>
        </p:spPr>
        <p:txBody>
          <a:bodyPr wrap="none">
            <a:spAutoFit/>
          </a:bodyPr>
          <a:lstStyle/>
          <a:p>
            <a:r>
              <a:rPr lang="en-US" altLang="zh-TW" dirty="0" smtClean="0"/>
              <a:t>V5.0</a:t>
            </a:r>
            <a:endParaRPr lang="zh-TW" altLang="en-US" dirty="0"/>
          </a:p>
        </p:txBody>
      </p:sp>
      <p:sp>
        <p:nvSpPr>
          <p:cNvPr id="44" name="弧形向右箭號 43"/>
          <p:cNvSpPr/>
          <p:nvPr/>
        </p:nvSpPr>
        <p:spPr>
          <a:xfrm rot="2482816">
            <a:off x="1306388" y="1446655"/>
            <a:ext cx="288032" cy="576064"/>
          </a:xfrm>
          <a:prstGeom prst="curved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TW" altLang="en-US">
              <a:solidFill>
                <a:schemeClr val="tx1"/>
              </a:solidFill>
            </a:endParaRPr>
          </a:p>
        </p:txBody>
      </p:sp>
      <p:sp>
        <p:nvSpPr>
          <p:cNvPr id="45" name="文字方塊 44"/>
          <p:cNvSpPr txBox="1"/>
          <p:nvPr/>
        </p:nvSpPr>
        <p:spPr>
          <a:xfrm>
            <a:off x="1043608" y="1187460"/>
            <a:ext cx="720080" cy="369332"/>
          </a:xfrm>
          <a:prstGeom prst="rect">
            <a:avLst/>
          </a:prstGeom>
          <a:noFill/>
        </p:spPr>
        <p:txBody>
          <a:bodyPr wrap="square" rtlCol="0">
            <a:spAutoFit/>
          </a:bodyPr>
          <a:lstStyle/>
          <a:p>
            <a:pPr algn="ctr"/>
            <a:r>
              <a:rPr lang="en-US" altLang="zh-TW" dirty="0" smtClean="0"/>
              <a:t>Full</a:t>
            </a:r>
            <a:endParaRPr lang="zh-TW" altLang="en-US" dirty="0"/>
          </a:p>
        </p:txBody>
      </p:sp>
      <p:sp>
        <p:nvSpPr>
          <p:cNvPr id="47" name="矩形 46"/>
          <p:cNvSpPr/>
          <p:nvPr/>
        </p:nvSpPr>
        <p:spPr>
          <a:xfrm>
            <a:off x="1835696" y="1628800"/>
            <a:ext cx="1305858" cy="654618"/>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altLang="zh-TW" dirty="0" smtClean="0"/>
              <a:t>A new </a:t>
            </a:r>
            <a:r>
              <a:rPr lang="en-US" altLang="zh-TW" dirty="0" err="1" smtClean="0"/>
              <a:t>memtable</a:t>
            </a:r>
            <a:endParaRPr lang="zh-TW" altLang="en-US" dirty="0"/>
          </a:p>
        </p:txBody>
      </p:sp>
      <p:cxnSp>
        <p:nvCxnSpPr>
          <p:cNvPr id="10" name="直線單箭頭接點 9"/>
          <p:cNvCxnSpPr/>
          <p:nvPr/>
        </p:nvCxnSpPr>
        <p:spPr>
          <a:xfrm rot="5400000" flipH="1" flipV="1">
            <a:off x="1136099" y="3245800"/>
            <a:ext cx="1963855" cy="125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200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20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2000"/>
                                        <p:tgtEl>
                                          <p:spTgt spid="21"/>
                                        </p:tgtEl>
                                      </p:cBhvr>
                                    </p:animEffect>
                                  </p:childTnLst>
                                </p:cTn>
                              </p:par>
                              <p:par>
                                <p:cTn id="19" presetID="10"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20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nodeType="clickEffect">
                                  <p:stCondLst>
                                    <p:cond delay="0"/>
                                  </p:stCondLst>
                                  <p:childTnLst>
                                    <p:animEffect transition="out" filter="fade">
                                      <p:cBhvr>
                                        <p:cTn id="25" dur="2000"/>
                                        <p:tgtEl>
                                          <p:spTgt spid="22"/>
                                        </p:tgtEl>
                                      </p:cBhvr>
                                    </p:animEffect>
                                    <p:set>
                                      <p:cBhvr>
                                        <p:cTn id="26" dur="1" fill="hold">
                                          <p:stCondLst>
                                            <p:cond delay="1999"/>
                                          </p:stCondLst>
                                        </p:cTn>
                                        <p:tgtEl>
                                          <p:spTgt spid="22"/>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28" dur="2000"/>
                                        <p:tgtEl>
                                          <p:spTgt spid="21"/>
                                        </p:tgtEl>
                                      </p:cBhvr>
                                    </p:animEffect>
                                    <p:set>
                                      <p:cBhvr>
                                        <p:cTn id="29" dur="1" fill="hold">
                                          <p:stCondLst>
                                            <p:cond delay="1999"/>
                                          </p:stCondLst>
                                        </p:cTn>
                                        <p:tgtEl>
                                          <p:spTgt spid="21"/>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2000"/>
                                        <p:tgtEl>
                                          <p:spTgt spid="20"/>
                                        </p:tgtEl>
                                      </p:cBhvr>
                                    </p:animEffect>
                                    <p:set>
                                      <p:cBhvr>
                                        <p:cTn id="32" dur="1" fill="hold">
                                          <p:stCondLst>
                                            <p:cond delay="1999"/>
                                          </p:stCondLst>
                                        </p:cTn>
                                        <p:tgtEl>
                                          <p:spTgt spid="20"/>
                                        </p:tgtEl>
                                        <p:attrNameLst>
                                          <p:attrName>style.visibility</p:attrName>
                                        </p:attrNameLst>
                                      </p:cBhvr>
                                      <p:to>
                                        <p:strVal val="hidden"/>
                                      </p:to>
                                    </p:set>
                                  </p:childTnLst>
                                </p:cTn>
                              </p:par>
                              <p:par>
                                <p:cTn id="33" presetID="10" presetClass="exit" presetSubtype="0" fill="hold" nodeType="withEffect">
                                  <p:stCondLst>
                                    <p:cond delay="0"/>
                                  </p:stCondLst>
                                  <p:childTnLst>
                                    <p:animEffect transition="out" filter="fade">
                                      <p:cBhvr>
                                        <p:cTn id="34" dur="2000"/>
                                        <p:tgtEl>
                                          <p:spTgt spid="11"/>
                                        </p:tgtEl>
                                      </p:cBhvr>
                                    </p:animEffect>
                                    <p:set>
                                      <p:cBhvr>
                                        <p:cTn id="35" dur="1" fill="hold">
                                          <p:stCondLst>
                                            <p:cond delay="1999"/>
                                          </p:stCondLst>
                                        </p:cTn>
                                        <p:tgtEl>
                                          <p:spTgt spid="11"/>
                                        </p:tgtEl>
                                        <p:attrNameLst>
                                          <p:attrName>style.visibility</p:attrName>
                                        </p:attrNameLst>
                                      </p:cBhvr>
                                      <p:to>
                                        <p:strVal val="hidden"/>
                                      </p:to>
                                    </p:set>
                                  </p:childTnLst>
                                </p:cTn>
                              </p:par>
                              <p:par>
                                <p:cTn id="36" presetID="10" presetClass="exit" presetSubtype="0" fill="hold" grpId="1" nodeType="withEffect">
                                  <p:stCondLst>
                                    <p:cond delay="0"/>
                                  </p:stCondLst>
                                  <p:childTnLst>
                                    <p:animEffect transition="out" filter="fade">
                                      <p:cBhvr>
                                        <p:cTn id="37" dur="2000"/>
                                        <p:tgtEl>
                                          <p:spTgt spid="5"/>
                                        </p:tgtEl>
                                      </p:cBhvr>
                                    </p:animEffect>
                                    <p:set>
                                      <p:cBhvr>
                                        <p:cTn id="38" dur="1" fill="hold">
                                          <p:stCondLst>
                                            <p:cond delay="1999"/>
                                          </p:stCondLst>
                                        </p:cTn>
                                        <p:tgtEl>
                                          <p:spTgt spid="5"/>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fade">
                                      <p:cBhvr>
                                        <p:cTn id="43" dur="2000"/>
                                        <p:tgtEl>
                                          <p:spTgt spid="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20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2000"/>
                                        <p:tgtEl>
                                          <p:spTgt spid="1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4"/>
                                        </p:tgtEl>
                                        <p:attrNameLst>
                                          <p:attrName>style.visibility</p:attrName>
                                        </p:attrNameLst>
                                      </p:cBhvr>
                                      <p:to>
                                        <p:strVal val="visible"/>
                                      </p:to>
                                    </p:set>
                                    <p:animEffect transition="in" filter="fade">
                                      <p:cBhvr>
                                        <p:cTn id="58" dur="2000"/>
                                        <p:tgtEl>
                                          <p:spTgt spid="4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2000"/>
                                        <p:tgtEl>
                                          <p:spTgt spid="1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5"/>
                                        </p:tgtEl>
                                        <p:attrNameLst>
                                          <p:attrName>style.visibility</p:attrName>
                                        </p:attrNameLst>
                                      </p:cBhvr>
                                      <p:to>
                                        <p:strVal val="visible"/>
                                      </p:to>
                                    </p:set>
                                    <p:animEffect transition="in" filter="fade">
                                      <p:cBhvr>
                                        <p:cTn id="64" dur="2000"/>
                                        <p:tgtEl>
                                          <p:spTgt spid="45"/>
                                        </p:tgtEl>
                                      </p:cBhvr>
                                    </p:animEffect>
                                  </p:childTnLst>
                                </p:cTn>
                              </p:par>
                              <p:par>
                                <p:cTn id="65" presetID="10" presetClass="entr" presetSubtype="0" fill="hold" grpId="1" nodeType="with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fade">
                                      <p:cBhvr>
                                        <p:cTn id="67" dur="2000"/>
                                        <p:tgtEl>
                                          <p:spTgt spid="4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6"/>
                                        </p:tgtEl>
                                        <p:attrNameLst>
                                          <p:attrName>style.visibility</p:attrName>
                                        </p:attrNameLst>
                                      </p:cBhvr>
                                      <p:to>
                                        <p:strVal val="visible"/>
                                      </p:to>
                                    </p:set>
                                    <p:animEffect transition="in" filter="fade">
                                      <p:cBhvr>
                                        <p:cTn id="72" dur="2000"/>
                                        <p:tgtEl>
                                          <p:spTgt spid="16"/>
                                        </p:tgtEl>
                                      </p:cBhvr>
                                    </p:animEffect>
                                  </p:childTnLst>
                                </p:cTn>
                              </p:par>
                              <p:par>
                                <p:cTn id="73" presetID="10" presetClass="entr" presetSubtype="0" fill="hold" nodeType="with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fade">
                                      <p:cBhvr>
                                        <p:cTn id="75" dur="2000"/>
                                        <p:tgtEl>
                                          <p:spTgt spid="1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2000"/>
                                        <p:tgtEl>
                                          <p:spTgt spid="1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2"/>
                                        </p:tgtEl>
                                        <p:attrNameLst>
                                          <p:attrName>style.visibility</p:attrName>
                                        </p:attrNameLst>
                                      </p:cBhvr>
                                      <p:to>
                                        <p:strVal val="visible"/>
                                      </p:to>
                                    </p:set>
                                    <p:animEffect transition="in" filter="fade">
                                      <p:cBhvr>
                                        <p:cTn id="81" dur="2000"/>
                                        <p:tgtEl>
                                          <p:spTgt spid="12"/>
                                        </p:tgtEl>
                                      </p:cBhvr>
                                    </p:animEffect>
                                  </p:childTnLst>
                                </p:cTn>
                              </p:par>
                              <p:par>
                                <p:cTn id="82" presetID="10" presetClass="entr" presetSubtype="0" fill="hold" grpId="1" nodeType="withEffect">
                                  <p:stCondLst>
                                    <p:cond delay="0"/>
                                  </p:stCondLst>
                                  <p:childTnLst>
                                    <p:set>
                                      <p:cBhvr>
                                        <p:cTn id="83" dur="1" fill="hold">
                                          <p:stCondLst>
                                            <p:cond delay="0"/>
                                          </p:stCondLst>
                                        </p:cTn>
                                        <p:tgtEl>
                                          <p:spTgt spid="49"/>
                                        </p:tgtEl>
                                        <p:attrNameLst>
                                          <p:attrName>style.visibility</p:attrName>
                                        </p:attrNameLst>
                                      </p:cBhvr>
                                      <p:to>
                                        <p:strVal val="visible"/>
                                      </p:to>
                                    </p:set>
                                    <p:animEffect transition="in" filter="fade">
                                      <p:cBhvr>
                                        <p:cTn id="84" dur="2000"/>
                                        <p:tgtEl>
                                          <p:spTgt spid="49"/>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25"/>
                                        </p:tgtEl>
                                        <p:attrNameLst>
                                          <p:attrName>style.visibility</p:attrName>
                                        </p:attrNameLst>
                                      </p:cBhvr>
                                      <p:to>
                                        <p:strVal val="visible"/>
                                      </p:to>
                                    </p:set>
                                    <p:animEffect transition="in" filter="fade">
                                      <p:cBhvr>
                                        <p:cTn id="89" dur="2000"/>
                                        <p:tgtEl>
                                          <p:spTgt spid="25"/>
                                        </p:tgtEl>
                                      </p:cBhvr>
                                    </p:animEffect>
                                  </p:childTnLst>
                                </p:cTn>
                              </p:par>
                              <p:par>
                                <p:cTn id="90" presetID="10" presetClass="entr" presetSubtype="0" fill="hold" nodeType="withEffect">
                                  <p:stCondLst>
                                    <p:cond delay="0"/>
                                  </p:stCondLst>
                                  <p:childTnLst>
                                    <p:set>
                                      <p:cBhvr>
                                        <p:cTn id="91" dur="1" fill="hold">
                                          <p:stCondLst>
                                            <p:cond delay="0"/>
                                          </p:stCondLst>
                                        </p:cTn>
                                        <p:tgtEl>
                                          <p:spTgt spid="26"/>
                                        </p:tgtEl>
                                        <p:attrNameLst>
                                          <p:attrName>style.visibility</p:attrName>
                                        </p:attrNameLst>
                                      </p:cBhvr>
                                      <p:to>
                                        <p:strVal val="visible"/>
                                      </p:to>
                                    </p:set>
                                    <p:animEffect transition="in" filter="fade">
                                      <p:cBhvr>
                                        <p:cTn id="92" dur="2000"/>
                                        <p:tgtEl>
                                          <p:spTgt spid="26"/>
                                        </p:tgtEl>
                                      </p:cBhvr>
                                    </p:animEffect>
                                  </p:childTnLst>
                                </p:cTn>
                              </p:par>
                              <p:par>
                                <p:cTn id="93" presetID="10" presetClass="entr" presetSubtype="0" fill="hold" nodeType="withEffect">
                                  <p:stCondLst>
                                    <p:cond delay="0"/>
                                  </p:stCondLst>
                                  <p:childTnLst>
                                    <p:set>
                                      <p:cBhvr>
                                        <p:cTn id="94" dur="1" fill="hold">
                                          <p:stCondLst>
                                            <p:cond delay="0"/>
                                          </p:stCondLst>
                                        </p:cTn>
                                        <p:tgtEl>
                                          <p:spTgt spid="29"/>
                                        </p:tgtEl>
                                        <p:attrNameLst>
                                          <p:attrName>style.visibility</p:attrName>
                                        </p:attrNameLst>
                                      </p:cBhvr>
                                      <p:to>
                                        <p:strVal val="visible"/>
                                      </p:to>
                                    </p:set>
                                    <p:animEffect transition="in" filter="fade">
                                      <p:cBhvr>
                                        <p:cTn id="95" dur="2000"/>
                                        <p:tgtEl>
                                          <p:spTgt spid="29"/>
                                        </p:tgtEl>
                                      </p:cBhvr>
                                    </p:animEffect>
                                  </p:childTnLst>
                                </p:cTn>
                              </p:par>
                              <p:par>
                                <p:cTn id="96" presetID="10" presetClass="entr" presetSubtype="0" fill="hold" nodeType="withEffect">
                                  <p:stCondLst>
                                    <p:cond delay="0"/>
                                  </p:stCondLst>
                                  <p:childTnLst>
                                    <p:set>
                                      <p:cBhvr>
                                        <p:cTn id="97" dur="1" fill="hold">
                                          <p:stCondLst>
                                            <p:cond delay="0"/>
                                          </p:stCondLst>
                                        </p:cTn>
                                        <p:tgtEl>
                                          <p:spTgt spid="27"/>
                                        </p:tgtEl>
                                        <p:attrNameLst>
                                          <p:attrName>style.visibility</p:attrName>
                                        </p:attrNameLst>
                                      </p:cBhvr>
                                      <p:to>
                                        <p:strVal val="visible"/>
                                      </p:to>
                                    </p:set>
                                    <p:animEffect transition="in" filter="fade">
                                      <p:cBhvr>
                                        <p:cTn id="98" dur="2000"/>
                                        <p:tgtEl>
                                          <p:spTgt spid="27"/>
                                        </p:tgtEl>
                                      </p:cBhvr>
                                    </p:animEffect>
                                  </p:childTnLst>
                                </p:cTn>
                              </p:par>
                              <p:par>
                                <p:cTn id="99" presetID="10" presetClass="entr" presetSubtype="0" fill="hold" nodeType="withEffect">
                                  <p:stCondLst>
                                    <p:cond delay="0"/>
                                  </p:stCondLst>
                                  <p:childTnLst>
                                    <p:set>
                                      <p:cBhvr>
                                        <p:cTn id="100" dur="1" fill="hold">
                                          <p:stCondLst>
                                            <p:cond delay="0"/>
                                          </p:stCondLst>
                                        </p:cTn>
                                        <p:tgtEl>
                                          <p:spTgt spid="28"/>
                                        </p:tgtEl>
                                        <p:attrNameLst>
                                          <p:attrName>style.visibility</p:attrName>
                                        </p:attrNameLst>
                                      </p:cBhvr>
                                      <p:to>
                                        <p:strVal val="visible"/>
                                      </p:to>
                                    </p:set>
                                    <p:animEffect transition="in" filter="fade">
                                      <p:cBhvr>
                                        <p:cTn id="101" dur="2000"/>
                                        <p:tgtEl>
                                          <p:spTgt spid="28"/>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24"/>
                                        </p:tgtEl>
                                        <p:attrNameLst>
                                          <p:attrName>style.visibility</p:attrName>
                                        </p:attrNameLst>
                                      </p:cBhvr>
                                      <p:to>
                                        <p:strVal val="visible"/>
                                      </p:to>
                                    </p:set>
                                    <p:animEffect transition="in" filter="fade">
                                      <p:cBhvr>
                                        <p:cTn id="104" dur="2000"/>
                                        <p:tgtEl>
                                          <p:spTgt spid="24"/>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6"/>
                                        </p:tgtEl>
                                        <p:attrNameLst>
                                          <p:attrName>style.visibility</p:attrName>
                                        </p:attrNameLst>
                                      </p:cBhvr>
                                      <p:to>
                                        <p:strVal val="visible"/>
                                      </p:to>
                                    </p:set>
                                    <p:animEffect transition="in" filter="fade">
                                      <p:cBhvr>
                                        <p:cTn id="107" dur="2000"/>
                                        <p:tgtEl>
                                          <p:spTgt spid="36"/>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5"/>
                                        </p:tgtEl>
                                        <p:attrNameLst>
                                          <p:attrName>style.visibility</p:attrName>
                                        </p:attrNameLst>
                                      </p:cBhvr>
                                      <p:to>
                                        <p:strVal val="visible"/>
                                      </p:to>
                                    </p:set>
                                    <p:animEffect transition="in" filter="fade">
                                      <p:cBhvr>
                                        <p:cTn id="110" dur="2000"/>
                                        <p:tgtEl>
                                          <p:spTgt spid="35"/>
                                        </p:tgtEl>
                                      </p:cBhvr>
                                    </p:animEffect>
                                  </p:childTnLst>
                                </p:cTn>
                              </p:par>
                              <p:par>
                                <p:cTn id="111" presetID="10" presetClass="entr" presetSubtype="0" fill="hold" nodeType="withEffect">
                                  <p:stCondLst>
                                    <p:cond delay="0"/>
                                  </p:stCondLst>
                                  <p:childTnLst>
                                    <p:set>
                                      <p:cBhvr>
                                        <p:cTn id="112" dur="1" fill="hold">
                                          <p:stCondLst>
                                            <p:cond delay="0"/>
                                          </p:stCondLst>
                                        </p:cTn>
                                        <p:tgtEl>
                                          <p:spTgt spid="30"/>
                                        </p:tgtEl>
                                        <p:attrNameLst>
                                          <p:attrName>style.visibility</p:attrName>
                                        </p:attrNameLst>
                                      </p:cBhvr>
                                      <p:to>
                                        <p:strVal val="visible"/>
                                      </p:to>
                                    </p:set>
                                    <p:animEffect transition="in" filter="fade">
                                      <p:cBhvr>
                                        <p:cTn id="113" dur="2000"/>
                                        <p:tgtEl>
                                          <p:spTgt spid="30"/>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0"/>
                                        </p:tgtEl>
                                        <p:attrNameLst>
                                          <p:attrName>style.visibility</p:attrName>
                                        </p:attrNameLst>
                                      </p:cBhvr>
                                      <p:to>
                                        <p:strVal val="visible"/>
                                      </p:to>
                                    </p:set>
                                    <p:animEffect transition="in" filter="fade">
                                      <p:cBhvr>
                                        <p:cTn id="116" dur="2000"/>
                                        <p:tgtEl>
                                          <p:spTgt spid="40"/>
                                        </p:tgtEl>
                                      </p:cBhvr>
                                    </p:animEffect>
                                  </p:childTnLst>
                                </p:cTn>
                              </p:par>
                              <p:par>
                                <p:cTn id="117" presetID="10" presetClass="exit" presetSubtype="0" fill="hold" nodeType="withEffect">
                                  <p:stCondLst>
                                    <p:cond delay="0"/>
                                  </p:stCondLst>
                                  <p:childTnLst>
                                    <p:animEffect transition="out" filter="fade">
                                      <p:cBhvr>
                                        <p:cTn id="118" dur="2000"/>
                                        <p:tgtEl>
                                          <p:spTgt spid="16"/>
                                        </p:tgtEl>
                                      </p:cBhvr>
                                    </p:animEffect>
                                    <p:set>
                                      <p:cBhvr>
                                        <p:cTn id="119" dur="1" fill="hold">
                                          <p:stCondLst>
                                            <p:cond delay="1999"/>
                                          </p:stCondLst>
                                        </p:cTn>
                                        <p:tgtEl>
                                          <p:spTgt spid="16"/>
                                        </p:tgtEl>
                                        <p:attrNameLst>
                                          <p:attrName>style.visibility</p:attrName>
                                        </p:attrNameLst>
                                      </p:cBhvr>
                                      <p:to>
                                        <p:strVal val="hidden"/>
                                      </p:to>
                                    </p:set>
                                  </p:childTnLst>
                                </p:cTn>
                              </p:par>
                              <p:par>
                                <p:cTn id="120" presetID="10" presetClass="exit" presetSubtype="0" fill="hold" nodeType="withEffect">
                                  <p:stCondLst>
                                    <p:cond delay="0"/>
                                  </p:stCondLst>
                                  <p:childTnLst>
                                    <p:animEffect transition="out" filter="fade">
                                      <p:cBhvr>
                                        <p:cTn id="121" dur="2000"/>
                                        <p:tgtEl>
                                          <p:spTgt spid="17"/>
                                        </p:tgtEl>
                                      </p:cBhvr>
                                    </p:animEffect>
                                    <p:set>
                                      <p:cBhvr>
                                        <p:cTn id="122" dur="1" fill="hold">
                                          <p:stCondLst>
                                            <p:cond delay="1999"/>
                                          </p:stCondLst>
                                        </p:cTn>
                                        <p:tgtEl>
                                          <p:spTgt spid="17"/>
                                        </p:tgtEl>
                                        <p:attrNameLst>
                                          <p:attrName>style.visibility</p:attrName>
                                        </p:attrNameLst>
                                      </p:cBhvr>
                                      <p:to>
                                        <p:strVal val="hidden"/>
                                      </p:to>
                                    </p:set>
                                  </p:childTnLst>
                                </p:cTn>
                              </p:par>
                              <p:par>
                                <p:cTn id="123" presetID="10" presetClass="exit" presetSubtype="0" fill="hold" grpId="1" nodeType="withEffect">
                                  <p:stCondLst>
                                    <p:cond delay="0"/>
                                  </p:stCondLst>
                                  <p:childTnLst>
                                    <p:animEffect transition="out" filter="fade">
                                      <p:cBhvr>
                                        <p:cTn id="124" dur="2000"/>
                                        <p:tgtEl>
                                          <p:spTgt spid="18"/>
                                        </p:tgtEl>
                                      </p:cBhvr>
                                    </p:animEffect>
                                    <p:set>
                                      <p:cBhvr>
                                        <p:cTn id="125" dur="1" fill="hold">
                                          <p:stCondLst>
                                            <p:cond delay="1999"/>
                                          </p:stCondLst>
                                        </p:cTn>
                                        <p:tgtEl>
                                          <p:spTgt spid="18"/>
                                        </p:tgtEl>
                                        <p:attrNameLst>
                                          <p:attrName>style.visibility</p:attrName>
                                        </p:attrNameLst>
                                      </p:cBhvr>
                                      <p:to>
                                        <p:strVal val="hidden"/>
                                      </p:to>
                                    </p:set>
                                  </p:childTnLst>
                                </p:cTn>
                              </p:par>
                              <p:par>
                                <p:cTn id="126" presetID="10" presetClass="exit" presetSubtype="0" fill="hold" grpId="1" nodeType="withEffect">
                                  <p:stCondLst>
                                    <p:cond delay="0"/>
                                  </p:stCondLst>
                                  <p:childTnLst>
                                    <p:animEffect transition="out" filter="fade">
                                      <p:cBhvr>
                                        <p:cTn id="127" dur="2000"/>
                                        <p:tgtEl>
                                          <p:spTgt spid="44"/>
                                        </p:tgtEl>
                                      </p:cBhvr>
                                    </p:animEffect>
                                    <p:set>
                                      <p:cBhvr>
                                        <p:cTn id="128" dur="1" fill="hold">
                                          <p:stCondLst>
                                            <p:cond delay="1999"/>
                                          </p:stCondLst>
                                        </p:cTn>
                                        <p:tgtEl>
                                          <p:spTgt spid="44"/>
                                        </p:tgtEl>
                                        <p:attrNameLst>
                                          <p:attrName>style.visibility</p:attrName>
                                        </p:attrNameLst>
                                      </p:cBhvr>
                                      <p:to>
                                        <p:strVal val="hidden"/>
                                      </p:to>
                                    </p:set>
                                  </p:childTnLst>
                                </p:cTn>
                              </p:par>
                              <p:par>
                                <p:cTn id="129" presetID="10" presetClass="exit" presetSubtype="0" fill="hold" grpId="1" nodeType="withEffect">
                                  <p:stCondLst>
                                    <p:cond delay="0"/>
                                  </p:stCondLst>
                                  <p:childTnLst>
                                    <p:animEffect transition="out" filter="fade">
                                      <p:cBhvr>
                                        <p:cTn id="130" dur="2000"/>
                                        <p:tgtEl>
                                          <p:spTgt spid="19"/>
                                        </p:tgtEl>
                                      </p:cBhvr>
                                    </p:animEffect>
                                    <p:set>
                                      <p:cBhvr>
                                        <p:cTn id="131" dur="1" fill="hold">
                                          <p:stCondLst>
                                            <p:cond delay="1999"/>
                                          </p:stCondLst>
                                        </p:cTn>
                                        <p:tgtEl>
                                          <p:spTgt spid="19"/>
                                        </p:tgtEl>
                                        <p:attrNameLst>
                                          <p:attrName>style.visibility</p:attrName>
                                        </p:attrNameLst>
                                      </p:cBhvr>
                                      <p:to>
                                        <p:strVal val="hidden"/>
                                      </p:to>
                                    </p:set>
                                  </p:childTnLst>
                                </p:cTn>
                              </p:par>
                              <p:par>
                                <p:cTn id="132" presetID="10" presetClass="exit" presetSubtype="0" fill="hold" grpId="1" nodeType="withEffect">
                                  <p:stCondLst>
                                    <p:cond delay="0"/>
                                  </p:stCondLst>
                                  <p:childTnLst>
                                    <p:animEffect transition="out" filter="fade">
                                      <p:cBhvr>
                                        <p:cTn id="133" dur="2000"/>
                                        <p:tgtEl>
                                          <p:spTgt spid="45"/>
                                        </p:tgtEl>
                                      </p:cBhvr>
                                    </p:animEffect>
                                    <p:set>
                                      <p:cBhvr>
                                        <p:cTn id="134" dur="1" fill="hold">
                                          <p:stCondLst>
                                            <p:cond delay="1999"/>
                                          </p:stCondLst>
                                        </p:cTn>
                                        <p:tgtEl>
                                          <p:spTgt spid="45"/>
                                        </p:tgtEl>
                                        <p:attrNameLst>
                                          <p:attrName>style.visibility</p:attrName>
                                        </p:attrNameLst>
                                      </p:cBhvr>
                                      <p:to>
                                        <p:strVal val="hidden"/>
                                      </p:to>
                                    </p:set>
                                  </p:childTnLst>
                                </p:cTn>
                              </p:par>
                              <p:par>
                                <p:cTn id="135" presetID="10" presetClass="exit" presetSubtype="0" fill="hold" grpId="1" nodeType="withEffect">
                                  <p:stCondLst>
                                    <p:cond delay="0"/>
                                  </p:stCondLst>
                                  <p:childTnLst>
                                    <p:animEffect transition="out" filter="fade">
                                      <p:cBhvr>
                                        <p:cTn id="136" dur="2000"/>
                                        <p:tgtEl>
                                          <p:spTgt spid="6"/>
                                        </p:tgtEl>
                                      </p:cBhvr>
                                    </p:animEffect>
                                    <p:set>
                                      <p:cBhvr>
                                        <p:cTn id="137" dur="1" fill="hold">
                                          <p:stCondLst>
                                            <p:cond delay="1999"/>
                                          </p:stCondLst>
                                        </p:cTn>
                                        <p:tgtEl>
                                          <p:spTgt spid="6"/>
                                        </p:tgtEl>
                                        <p:attrNameLst>
                                          <p:attrName>style.visibility</p:attrName>
                                        </p:attrNameLst>
                                      </p:cBhvr>
                                      <p:to>
                                        <p:strVal val="hidden"/>
                                      </p:to>
                                    </p:set>
                                  </p:childTnLst>
                                </p:cTn>
                              </p:par>
                              <p:par>
                                <p:cTn id="138" presetID="10" presetClass="exit" presetSubtype="0" fill="hold" nodeType="withEffect">
                                  <p:stCondLst>
                                    <p:cond delay="0"/>
                                  </p:stCondLst>
                                  <p:childTnLst>
                                    <p:animEffect transition="out" filter="fade">
                                      <p:cBhvr>
                                        <p:cTn id="139" dur="2000"/>
                                        <p:tgtEl>
                                          <p:spTgt spid="9"/>
                                        </p:tgtEl>
                                      </p:cBhvr>
                                    </p:animEffect>
                                    <p:set>
                                      <p:cBhvr>
                                        <p:cTn id="140" dur="1" fill="hold">
                                          <p:stCondLst>
                                            <p:cond delay="1999"/>
                                          </p:stCondLst>
                                        </p:cTn>
                                        <p:tgtEl>
                                          <p:spTgt spid="9"/>
                                        </p:tgtEl>
                                        <p:attrNameLst>
                                          <p:attrName>style.visibility</p:attrName>
                                        </p:attrNameLst>
                                      </p:cBhvr>
                                      <p:to>
                                        <p:strVal val="hidden"/>
                                      </p:to>
                                    </p:set>
                                  </p:childTnLst>
                                </p:cTn>
                              </p:par>
                              <p:par>
                                <p:cTn id="141" presetID="10" presetClass="exit" presetSubtype="0" fill="hold" nodeType="withEffect">
                                  <p:stCondLst>
                                    <p:cond delay="0"/>
                                  </p:stCondLst>
                                  <p:childTnLst>
                                    <p:animEffect transition="out" filter="fade">
                                      <p:cBhvr>
                                        <p:cTn id="142" dur="2000"/>
                                        <p:tgtEl>
                                          <p:spTgt spid="10"/>
                                        </p:tgtEl>
                                      </p:cBhvr>
                                    </p:animEffect>
                                    <p:set>
                                      <p:cBhvr>
                                        <p:cTn id="143" dur="1" fill="hold">
                                          <p:stCondLst>
                                            <p:cond delay="1999"/>
                                          </p:stCondLst>
                                        </p:cTn>
                                        <p:tgtEl>
                                          <p:spTgt spid="10"/>
                                        </p:tgtEl>
                                        <p:attrNameLst>
                                          <p:attrName>style.visibility</p:attrName>
                                        </p:attrNameLst>
                                      </p:cBhvr>
                                      <p:to>
                                        <p:strVal val="hidden"/>
                                      </p:to>
                                    </p:se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grpId="0" nodeType="clickEffect">
                                  <p:stCondLst>
                                    <p:cond delay="0"/>
                                  </p:stCondLst>
                                  <p:childTnLst>
                                    <p:set>
                                      <p:cBhvr>
                                        <p:cTn id="147" dur="1" fill="hold">
                                          <p:stCondLst>
                                            <p:cond delay="0"/>
                                          </p:stCondLst>
                                        </p:cTn>
                                        <p:tgtEl>
                                          <p:spTgt spid="42"/>
                                        </p:tgtEl>
                                        <p:attrNameLst>
                                          <p:attrName>style.visibility</p:attrName>
                                        </p:attrNameLst>
                                      </p:cBhvr>
                                      <p:to>
                                        <p:strVal val="visible"/>
                                      </p:to>
                                    </p:set>
                                    <p:animEffect transition="in" filter="fade">
                                      <p:cBhvr>
                                        <p:cTn id="148" dur="2000"/>
                                        <p:tgtEl>
                                          <p:spTgt spid="42"/>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41"/>
                                        </p:tgtEl>
                                        <p:attrNameLst>
                                          <p:attrName>style.visibility</p:attrName>
                                        </p:attrNameLst>
                                      </p:cBhvr>
                                      <p:to>
                                        <p:strVal val="visible"/>
                                      </p:to>
                                    </p:set>
                                    <p:animEffect transition="in" filter="fade">
                                      <p:cBhvr>
                                        <p:cTn id="151" dur="2000"/>
                                        <p:tgtEl>
                                          <p:spTgt spid="41"/>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43"/>
                                        </p:tgtEl>
                                        <p:attrNameLst>
                                          <p:attrName>style.visibility</p:attrName>
                                        </p:attrNameLst>
                                      </p:cBhvr>
                                      <p:to>
                                        <p:strVal val="visible"/>
                                      </p:to>
                                    </p:set>
                                    <p:animEffect transition="in" filter="fade">
                                      <p:cBhvr>
                                        <p:cTn id="154" dur="2000"/>
                                        <p:tgtEl>
                                          <p:spTgt spid="43"/>
                                        </p:tgtEl>
                                      </p:cBhvr>
                                    </p:animEffect>
                                  </p:childTnLst>
                                </p:cTn>
                              </p:par>
                              <p:par>
                                <p:cTn id="155" presetID="10" presetClass="exit" presetSubtype="0" fill="hold" nodeType="withEffect">
                                  <p:stCondLst>
                                    <p:cond delay="0"/>
                                  </p:stCondLst>
                                  <p:childTnLst>
                                    <p:animEffect transition="out" filter="fade">
                                      <p:cBhvr>
                                        <p:cTn id="156" dur="2000"/>
                                        <p:tgtEl>
                                          <p:spTgt spid="27"/>
                                        </p:tgtEl>
                                      </p:cBhvr>
                                    </p:animEffect>
                                    <p:set>
                                      <p:cBhvr>
                                        <p:cTn id="157" dur="1" fill="hold">
                                          <p:stCondLst>
                                            <p:cond delay="1999"/>
                                          </p:stCondLst>
                                        </p:cTn>
                                        <p:tgtEl>
                                          <p:spTgt spid="27"/>
                                        </p:tgtEl>
                                        <p:attrNameLst>
                                          <p:attrName>style.visibility</p:attrName>
                                        </p:attrNameLst>
                                      </p:cBhvr>
                                      <p:to>
                                        <p:strVal val="hidden"/>
                                      </p:to>
                                    </p:set>
                                  </p:childTnLst>
                                </p:cTn>
                              </p:par>
                              <p:par>
                                <p:cTn id="158" presetID="10" presetClass="exit" presetSubtype="0" fill="hold" nodeType="withEffect">
                                  <p:stCondLst>
                                    <p:cond delay="0"/>
                                  </p:stCondLst>
                                  <p:childTnLst>
                                    <p:animEffect transition="out" filter="fade">
                                      <p:cBhvr>
                                        <p:cTn id="159" dur="2000"/>
                                        <p:tgtEl>
                                          <p:spTgt spid="25"/>
                                        </p:tgtEl>
                                      </p:cBhvr>
                                    </p:animEffect>
                                    <p:set>
                                      <p:cBhvr>
                                        <p:cTn id="160" dur="1" fill="hold">
                                          <p:stCondLst>
                                            <p:cond delay="1999"/>
                                          </p:stCondLst>
                                        </p:cTn>
                                        <p:tgtEl>
                                          <p:spTgt spid="25"/>
                                        </p:tgtEl>
                                        <p:attrNameLst>
                                          <p:attrName>style.visibility</p:attrName>
                                        </p:attrNameLst>
                                      </p:cBhvr>
                                      <p:to>
                                        <p:strVal val="hidden"/>
                                      </p:to>
                                    </p:set>
                                  </p:childTnLst>
                                </p:cTn>
                              </p:par>
                              <p:par>
                                <p:cTn id="161" presetID="10" presetClass="exit" presetSubtype="0" fill="hold" grpId="1" nodeType="withEffect">
                                  <p:stCondLst>
                                    <p:cond delay="0"/>
                                  </p:stCondLst>
                                  <p:childTnLst>
                                    <p:animEffect transition="out" filter="fade">
                                      <p:cBhvr>
                                        <p:cTn id="162" dur="2000"/>
                                        <p:tgtEl>
                                          <p:spTgt spid="36"/>
                                        </p:tgtEl>
                                      </p:cBhvr>
                                    </p:animEffect>
                                    <p:set>
                                      <p:cBhvr>
                                        <p:cTn id="163" dur="1" fill="hold">
                                          <p:stCondLst>
                                            <p:cond delay="1999"/>
                                          </p:stCondLst>
                                        </p:cTn>
                                        <p:tgtEl>
                                          <p:spTgt spid="36"/>
                                        </p:tgtEl>
                                        <p:attrNameLst>
                                          <p:attrName>style.visibility</p:attrName>
                                        </p:attrNameLst>
                                      </p:cBhvr>
                                      <p:to>
                                        <p:strVal val="hidden"/>
                                      </p:to>
                                    </p:set>
                                  </p:childTnLst>
                                </p:cTn>
                              </p:par>
                              <p:par>
                                <p:cTn id="164" presetID="10" presetClass="exit" presetSubtype="0" fill="hold" grpId="1" nodeType="withEffect">
                                  <p:stCondLst>
                                    <p:cond delay="0"/>
                                  </p:stCondLst>
                                  <p:childTnLst>
                                    <p:animEffect transition="out" filter="fade">
                                      <p:cBhvr>
                                        <p:cTn id="165" dur="2000"/>
                                        <p:tgtEl>
                                          <p:spTgt spid="35"/>
                                        </p:tgtEl>
                                      </p:cBhvr>
                                    </p:animEffect>
                                    <p:set>
                                      <p:cBhvr>
                                        <p:cTn id="166" dur="1" fill="hold">
                                          <p:stCondLst>
                                            <p:cond delay="1999"/>
                                          </p:stCondLst>
                                        </p:cTn>
                                        <p:tgtEl>
                                          <p:spTgt spid="35"/>
                                        </p:tgtEl>
                                        <p:attrNameLst>
                                          <p:attrName>style.visibility</p:attrName>
                                        </p:attrNameLst>
                                      </p:cBhvr>
                                      <p:to>
                                        <p:strVal val="hidden"/>
                                      </p:to>
                                    </p:set>
                                  </p:childTnLst>
                                </p:cTn>
                              </p:par>
                              <p:par>
                                <p:cTn id="167" presetID="10" presetClass="exit" presetSubtype="0" fill="hold" grpId="1" nodeType="withEffect">
                                  <p:stCondLst>
                                    <p:cond delay="0"/>
                                  </p:stCondLst>
                                  <p:childTnLst>
                                    <p:animEffect transition="out" filter="fade">
                                      <p:cBhvr>
                                        <p:cTn id="168" dur="2000"/>
                                        <p:tgtEl>
                                          <p:spTgt spid="40"/>
                                        </p:tgtEl>
                                      </p:cBhvr>
                                    </p:animEffect>
                                    <p:set>
                                      <p:cBhvr>
                                        <p:cTn id="169" dur="1" fill="hold">
                                          <p:stCondLst>
                                            <p:cond delay="1999"/>
                                          </p:stCondLst>
                                        </p:cTn>
                                        <p:tgtEl>
                                          <p:spTgt spid="40"/>
                                        </p:tgtEl>
                                        <p:attrNameLst>
                                          <p:attrName>style.visibility</p:attrName>
                                        </p:attrNameLst>
                                      </p:cBhvr>
                                      <p:to>
                                        <p:strVal val="hidden"/>
                                      </p:to>
                                    </p:set>
                                  </p:childTnLst>
                                </p:cTn>
                              </p:par>
                            </p:childTnLst>
                          </p:cTn>
                        </p:par>
                        <p:par>
                          <p:cTn id="170" fill="hold">
                            <p:stCondLst>
                              <p:cond delay="2000"/>
                            </p:stCondLst>
                            <p:childTnLst>
                              <p:par>
                                <p:cTn id="171" presetID="10" presetClass="exit" presetSubtype="0" fill="hold" grpId="0" nodeType="afterEffect">
                                  <p:stCondLst>
                                    <p:cond delay="0"/>
                                  </p:stCondLst>
                                  <p:childTnLst>
                                    <p:animEffect transition="out" filter="fade">
                                      <p:cBhvr>
                                        <p:cTn id="172" dur="2000"/>
                                        <p:tgtEl>
                                          <p:spTgt spid="15"/>
                                        </p:tgtEl>
                                      </p:cBhvr>
                                    </p:animEffect>
                                    <p:set>
                                      <p:cBhvr>
                                        <p:cTn id="173" dur="1" fill="hold">
                                          <p:stCondLst>
                                            <p:cond delay="1999"/>
                                          </p:stCondLst>
                                        </p:cTn>
                                        <p:tgtEl>
                                          <p:spTgt spid="15"/>
                                        </p:tgtEl>
                                        <p:attrNameLst>
                                          <p:attrName>style.visibility</p:attrName>
                                        </p:attrNameLst>
                                      </p:cBhvr>
                                      <p:to>
                                        <p:strVal val="hidden"/>
                                      </p:to>
                                    </p:set>
                                  </p:childTnLst>
                                </p:cTn>
                              </p:par>
                              <p:par>
                                <p:cTn id="174" presetID="10" presetClass="exit" presetSubtype="0" fill="hold" grpId="0" nodeType="withEffect">
                                  <p:stCondLst>
                                    <p:cond delay="0"/>
                                  </p:stCondLst>
                                  <p:childTnLst>
                                    <p:animEffect transition="out" filter="fade">
                                      <p:cBhvr>
                                        <p:cTn id="175" dur="2000"/>
                                        <p:tgtEl>
                                          <p:spTgt spid="13"/>
                                        </p:tgtEl>
                                      </p:cBhvr>
                                    </p:animEffect>
                                    <p:set>
                                      <p:cBhvr>
                                        <p:cTn id="176" dur="1" fill="hold">
                                          <p:stCondLst>
                                            <p:cond delay="1999"/>
                                          </p:stCondLst>
                                        </p:cTn>
                                        <p:tgtEl>
                                          <p:spTgt spid="13"/>
                                        </p:tgtEl>
                                        <p:attrNameLst>
                                          <p:attrName>style.visibility</p:attrName>
                                        </p:attrNameLst>
                                      </p:cBhvr>
                                      <p:to>
                                        <p:strVal val="hidden"/>
                                      </p:to>
                                    </p:set>
                                  </p:childTnLst>
                                </p:cTn>
                              </p:par>
                              <p:par>
                                <p:cTn id="177" presetID="10" presetClass="exit" presetSubtype="0" fill="hold" nodeType="withEffect">
                                  <p:stCondLst>
                                    <p:cond delay="0"/>
                                  </p:stCondLst>
                                  <p:childTnLst>
                                    <p:animEffect transition="out" filter="fade">
                                      <p:cBhvr>
                                        <p:cTn id="178" dur="2000"/>
                                        <p:tgtEl>
                                          <p:spTgt spid="28"/>
                                        </p:tgtEl>
                                      </p:cBhvr>
                                    </p:animEffect>
                                    <p:set>
                                      <p:cBhvr>
                                        <p:cTn id="179" dur="1" fill="hold">
                                          <p:stCondLst>
                                            <p:cond delay="1999"/>
                                          </p:stCondLst>
                                        </p:cTn>
                                        <p:tgtEl>
                                          <p:spTgt spid="28"/>
                                        </p:tgtEl>
                                        <p:attrNameLst>
                                          <p:attrName>style.visibility</p:attrName>
                                        </p:attrNameLst>
                                      </p:cBhvr>
                                      <p:to>
                                        <p:strVal val="hidden"/>
                                      </p:to>
                                    </p:set>
                                  </p:childTnLst>
                                </p:cTn>
                              </p:par>
                              <p:par>
                                <p:cTn id="180" presetID="10" presetClass="exit" presetSubtype="0" fill="hold" nodeType="withEffect">
                                  <p:stCondLst>
                                    <p:cond delay="0"/>
                                  </p:stCondLst>
                                  <p:childTnLst>
                                    <p:animEffect transition="out" filter="fade">
                                      <p:cBhvr>
                                        <p:cTn id="181" dur="2000"/>
                                        <p:tgtEl>
                                          <p:spTgt spid="26"/>
                                        </p:tgtEl>
                                      </p:cBhvr>
                                    </p:animEffect>
                                    <p:set>
                                      <p:cBhvr>
                                        <p:cTn id="182" dur="1" fill="hold">
                                          <p:stCondLst>
                                            <p:cond delay="1999"/>
                                          </p:stCondLst>
                                        </p:cTn>
                                        <p:tgtEl>
                                          <p:spTgt spid="26"/>
                                        </p:tgtEl>
                                        <p:attrNameLst>
                                          <p:attrName>style.visibility</p:attrName>
                                        </p:attrNameLst>
                                      </p:cBhvr>
                                      <p:to>
                                        <p:strVal val="hidden"/>
                                      </p:to>
                                    </p:set>
                                  </p:childTnLst>
                                </p:cTn>
                              </p:par>
                              <p:par>
                                <p:cTn id="183" presetID="10" presetClass="exit" presetSubtype="0" fill="hold" nodeType="withEffect">
                                  <p:stCondLst>
                                    <p:cond delay="0"/>
                                  </p:stCondLst>
                                  <p:childTnLst>
                                    <p:animEffect transition="out" filter="fade">
                                      <p:cBhvr>
                                        <p:cTn id="184" dur="2000"/>
                                        <p:tgtEl>
                                          <p:spTgt spid="29"/>
                                        </p:tgtEl>
                                      </p:cBhvr>
                                    </p:animEffect>
                                    <p:set>
                                      <p:cBhvr>
                                        <p:cTn id="185" dur="1" fill="hold">
                                          <p:stCondLst>
                                            <p:cond delay="1999"/>
                                          </p:stCondLst>
                                        </p:cTn>
                                        <p:tgtEl>
                                          <p:spTgt spid="29"/>
                                        </p:tgtEl>
                                        <p:attrNameLst>
                                          <p:attrName>style.visibility</p:attrName>
                                        </p:attrNameLst>
                                      </p:cBhvr>
                                      <p:to>
                                        <p:strVal val="hidden"/>
                                      </p:to>
                                    </p:set>
                                  </p:childTnLst>
                                </p:cTn>
                              </p:par>
                              <p:par>
                                <p:cTn id="186" presetID="10" presetClass="exit" presetSubtype="0" fill="hold" grpId="0" nodeType="withEffect">
                                  <p:stCondLst>
                                    <p:cond delay="0"/>
                                  </p:stCondLst>
                                  <p:childTnLst>
                                    <p:animEffect transition="out" filter="fade">
                                      <p:cBhvr>
                                        <p:cTn id="187" dur="2000"/>
                                        <p:tgtEl>
                                          <p:spTgt spid="8"/>
                                        </p:tgtEl>
                                      </p:cBhvr>
                                    </p:animEffect>
                                    <p:set>
                                      <p:cBhvr>
                                        <p:cTn id="188" dur="1" fill="hold">
                                          <p:stCondLst>
                                            <p:cond delay="1999"/>
                                          </p:stCondLst>
                                        </p:cTn>
                                        <p:tgtEl>
                                          <p:spTgt spid="8"/>
                                        </p:tgtEl>
                                        <p:attrNameLst>
                                          <p:attrName>style.visibility</p:attrName>
                                        </p:attrNameLst>
                                      </p:cBhvr>
                                      <p:to>
                                        <p:strVal val="hidden"/>
                                      </p:to>
                                    </p:set>
                                  </p:childTnLst>
                                </p:cTn>
                              </p:par>
                              <p:par>
                                <p:cTn id="189" presetID="10" presetClass="exit" presetSubtype="0" fill="hold" grpId="0" nodeType="withEffect">
                                  <p:stCondLst>
                                    <p:cond delay="0"/>
                                  </p:stCondLst>
                                  <p:childTnLst>
                                    <p:animEffect transition="out" filter="fade">
                                      <p:cBhvr>
                                        <p:cTn id="190" dur="2000"/>
                                        <p:tgtEl>
                                          <p:spTgt spid="49"/>
                                        </p:tgtEl>
                                      </p:cBhvr>
                                    </p:animEffect>
                                    <p:set>
                                      <p:cBhvr>
                                        <p:cTn id="191" dur="1" fill="hold">
                                          <p:stCondLst>
                                            <p:cond delay="1999"/>
                                          </p:stCondLst>
                                        </p:cTn>
                                        <p:tgtEl>
                                          <p:spTgt spid="49"/>
                                        </p:tgtEl>
                                        <p:attrNameLst>
                                          <p:attrName>style.visibility</p:attrName>
                                        </p:attrNameLst>
                                      </p:cBhvr>
                                      <p:to>
                                        <p:strVal val="hidden"/>
                                      </p:to>
                                    </p:set>
                                  </p:childTnLst>
                                </p:cTn>
                              </p:par>
                              <p:par>
                                <p:cTn id="192" presetID="10" presetClass="exit" presetSubtype="0" fill="hold" grpId="0" nodeType="withEffect">
                                  <p:stCondLst>
                                    <p:cond delay="0"/>
                                  </p:stCondLst>
                                  <p:childTnLst>
                                    <p:animEffect transition="out" filter="fade">
                                      <p:cBhvr>
                                        <p:cTn id="193" dur="2000"/>
                                        <p:tgtEl>
                                          <p:spTgt spid="47"/>
                                        </p:tgtEl>
                                      </p:cBhvr>
                                    </p:animEffect>
                                    <p:set>
                                      <p:cBhvr>
                                        <p:cTn id="194" dur="1" fill="hold">
                                          <p:stCondLst>
                                            <p:cond delay="1999"/>
                                          </p:stCondLst>
                                        </p:cTn>
                                        <p:tgtEl>
                                          <p:spTgt spid="4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8" grpId="0" animBg="1"/>
      <p:bldP spid="12" grpId="0" animBg="1"/>
      <p:bldP spid="13" grpId="0" animBg="1"/>
      <p:bldP spid="15" grpId="0" animBg="1"/>
      <p:bldP spid="18" grpId="0"/>
      <p:bldP spid="18" grpId="1"/>
      <p:bldP spid="19" grpId="0" animBg="1"/>
      <p:bldP spid="19" grpId="1" animBg="1"/>
      <p:bldP spid="24" grpId="0" animBg="1"/>
      <p:bldP spid="35" grpId="0"/>
      <p:bldP spid="35" grpId="1"/>
      <p:bldP spid="36" grpId="0"/>
      <p:bldP spid="36" grpId="1"/>
      <p:bldP spid="40" grpId="0"/>
      <p:bldP spid="40" grpId="1"/>
      <p:bldP spid="41" grpId="0"/>
      <p:bldP spid="42" grpId="0"/>
      <p:bldP spid="43" grpId="0"/>
      <p:bldP spid="49" grpId="0"/>
      <p:bldP spid="49" grpId="1"/>
      <p:bldP spid="44" grpId="0" animBg="1"/>
      <p:bldP spid="44" grpId="1" animBg="1"/>
      <p:bldP spid="45" grpId="0"/>
      <p:bldP spid="45" grpId="1"/>
      <p:bldP spid="47" grpId="0" animBg="1"/>
      <p:bldP spid="47" grpId="1"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Details</a:t>
            </a:r>
            <a:br>
              <a:rPr lang="en-US" altLang="zh-TW" dirty="0" smtClean="0"/>
            </a:br>
            <a:endParaRPr lang="zh-TW" altLang="en-US" dirty="0"/>
          </a:p>
        </p:txBody>
      </p:sp>
      <p:sp>
        <p:nvSpPr>
          <p:cNvPr id="3" name="文字版面配置區 2"/>
          <p:cNvSpPr>
            <a:spLocks noGrp="1"/>
          </p:cNvSpPr>
          <p:nvPr>
            <p:ph type="body" idx="1"/>
          </p:nvPr>
        </p:nvSpPr>
        <p:spPr/>
        <p:txBody>
          <a:bodyPr/>
          <a:lstStyle/>
          <a:p>
            <a:r>
              <a:rPr lang="en-US" altLang="zh-TW" dirty="0" smtClean="0"/>
              <a:t>Locality groups</a:t>
            </a:r>
          </a:p>
          <a:p>
            <a:r>
              <a:rPr lang="en-US" altLang="zh-TW" dirty="0" smtClean="0">
                <a:solidFill>
                  <a:schemeClr val="bg1">
                    <a:lumMod val="50000"/>
                  </a:schemeClr>
                </a:solidFill>
              </a:rPr>
              <a:t>Compression</a:t>
            </a:r>
          </a:p>
          <a:p>
            <a:r>
              <a:rPr lang="en-US" altLang="zh-TW" dirty="0" smtClean="0">
                <a:solidFill>
                  <a:schemeClr val="bg1">
                    <a:lumMod val="50000"/>
                  </a:schemeClr>
                </a:solidFill>
              </a:rPr>
              <a:t>Replication</a:t>
            </a:r>
            <a:endParaRPr lang="zh-TW" altLang="en-US" dirty="0">
              <a:solidFill>
                <a:schemeClr val="bg1">
                  <a:lumMod val="50000"/>
                </a:schemeClr>
              </a:solidFill>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Locality Groups(1/2)</a:t>
            </a:r>
            <a:endParaRPr lang="zh-TW" altLang="en-US" dirty="0"/>
          </a:p>
        </p:txBody>
      </p:sp>
      <p:sp>
        <p:nvSpPr>
          <p:cNvPr id="5" name="矩形 4"/>
          <p:cNvSpPr/>
          <p:nvPr/>
        </p:nvSpPr>
        <p:spPr>
          <a:xfrm>
            <a:off x="1907704" y="1916832"/>
            <a:ext cx="2943497" cy="149787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dirty="0"/>
          </a:p>
        </p:txBody>
      </p:sp>
      <p:cxnSp>
        <p:nvCxnSpPr>
          <p:cNvPr id="6" name="直線接點 5"/>
          <p:cNvCxnSpPr/>
          <p:nvPr/>
        </p:nvCxnSpPr>
        <p:spPr>
          <a:xfrm>
            <a:off x="1907704" y="2556195"/>
            <a:ext cx="2952328"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a:off x="1907704" y="2826809"/>
            <a:ext cx="2952328"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10" name="直線接點 9"/>
          <p:cNvCxnSpPr/>
          <p:nvPr/>
        </p:nvCxnSpPr>
        <p:spPr>
          <a:xfrm rot="5400000">
            <a:off x="2159732" y="2672916"/>
            <a:ext cx="1512168"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11" name="直線接點 10"/>
          <p:cNvCxnSpPr/>
          <p:nvPr/>
        </p:nvCxnSpPr>
        <p:spPr>
          <a:xfrm rot="5400000">
            <a:off x="3311860" y="2672916"/>
            <a:ext cx="1512168"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2915816" y="2547486"/>
            <a:ext cx="1152128" cy="2880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“&lt;html&gt;…”</a:t>
            </a:r>
            <a:endParaRPr lang="zh-TW" altLang="en-US" dirty="0">
              <a:solidFill>
                <a:schemeClr val="tx1"/>
              </a:solidFill>
            </a:endParaRPr>
          </a:p>
        </p:txBody>
      </p:sp>
      <p:cxnSp>
        <p:nvCxnSpPr>
          <p:cNvPr id="14" name="直線單箭頭接點 13"/>
          <p:cNvCxnSpPr/>
          <p:nvPr/>
        </p:nvCxnSpPr>
        <p:spPr>
          <a:xfrm rot="5400000">
            <a:off x="3275066" y="1916836"/>
            <a:ext cx="432841" cy="7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p:nvPr/>
        </p:nvCxnSpPr>
        <p:spPr>
          <a:xfrm>
            <a:off x="1691680" y="2697875"/>
            <a:ext cx="36004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2871305" y="1386649"/>
            <a:ext cx="1242520" cy="369332"/>
          </a:xfrm>
          <a:prstGeom prst="rect">
            <a:avLst/>
          </a:prstGeom>
        </p:spPr>
        <p:txBody>
          <a:bodyPr wrap="none">
            <a:spAutoFit/>
          </a:bodyPr>
          <a:lstStyle/>
          <a:p>
            <a:r>
              <a:rPr lang="en-US" altLang="zh-TW" dirty="0" smtClean="0"/>
              <a:t>“contents:”</a:t>
            </a:r>
            <a:endParaRPr lang="zh-TW" altLang="en-US" dirty="0"/>
          </a:p>
        </p:txBody>
      </p:sp>
      <p:sp>
        <p:nvSpPr>
          <p:cNvPr id="19" name="矩形 18"/>
          <p:cNvSpPr/>
          <p:nvPr/>
        </p:nvSpPr>
        <p:spPr>
          <a:xfrm>
            <a:off x="0" y="2492896"/>
            <a:ext cx="1718291" cy="369332"/>
          </a:xfrm>
          <a:prstGeom prst="rect">
            <a:avLst/>
          </a:prstGeom>
        </p:spPr>
        <p:txBody>
          <a:bodyPr wrap="none">
            <a:spAutoFit/>
          </a:bodyPr>
          <a:lstStyle/>
          <a:p>
            <a:r>
              <a:rPr lang="en-US" altLang="zh-TW" dirty="0" smtClean="0"/>
              <a:t>“www.cnn.com”</a:t>
            </a:r>
            <a:endParaRPr lang="zh-TW" altLang="en-US" dirty="0"/>
          </a:p>
        </p:txBody>
      </p:sp>
      <p:sp>
        <p:nvSpPr>
          <p:cNvPr id="20" name="文字方塊 19"/>
          <p:cNvSpPr txBox="1"/>
          <p:nvPr/>
        </p:nvSpPr>
        <p:spPr>
          <a:xfrm>
            <a:off x="3218930" y="3610188"/>
            <a:ext cx="864096" cy="369332"/>
          </a:xfrm>
          <a:prstGeom prst="rect">
            <a:avLst/>
          </a:prstGeom>
          <a:noFill/>
        </p:spPr>
        <p:txBody>
          <a:bodyPr wrap="square" rtlCol="0">
            <a:spAutoFit/>
          </a:bodyPr>
          <a:lstStyle/>
          <a:p>
            <a:r>
              <a:rPr lang="en-US" altLang="zh-TW" dirty="0" smtClean="0"/>
              <a:t>…</a:t>
            </a:r>
            <a:endParaRPr lang="zh-TW" altLang="en-US" dirty="0"/>
          </a:p>
        </p:txBody>
      </p:sp>
      <p:sp>
        <p:nvSpPr>
          <p:cNvPr id="21" name="矩形 20"/>
          <p:cNvSpPr/>
          <p:nvPr/>
        </p:nvSpPr>
        <p:spPr>
          <a:xfrm>
            <a:off x="1907704" y="4221088"/>
            <a:ext cx="2943497" cy="99381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dirty="0"/>
          </a:p>
        </p:txBody>
      </p:sp>
      <p:sp>
        <p:nvSpPr>
          <p:cNvPr id="22" name="矩形 21"/>
          <p:cNvSpPr/>
          <p:nvPr/>
        </p:nvSpPr>
        <p:spPr>
          <a:xfrm>
            <a:off x="1907704" y="5589240"/>
            <a:ext cx="2943497" cy="99381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dirty="0"/>
          </a:p>
        </p:txBody>
      </p:sp>
      <p:sp>
        <p:nvSpPr>
          <p:cNvPr id="23" name="矩形 22"/>
          <p:cNvSpPr/>
          <p:nvPr/>
        </p:nvSpPr>
        <p:spPr>
          <a:xfrm>
            <a:off x="1763688" y="1772816"/>
            <a:ext cx="3240360" cy="496855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27"/>
          <p:cNvSpPr/>
          <p:nvPr/>
        </p:nvSpPr>
        <p:spPr>
          <a:xfrm>
            <a:off x="4211960" y="1124744"/>
            <a:ext cx="1786579" cy="400110"/>
          </a:xfrm>
          <a:prstGeom prst="rect">
            <a:avLst/>
          </a:prstGeom>
        </p:spPr>
        <p:txBody>
          <a:bodyPr wrap="none">
            <a:spAutoFit/>
          </a:bodyPr>
          <a:lstStyle/>
          <a:p>
            <a:r>
              <a:rPr lang="en-US" altLang="zh-TW" sz="2000" dirty="0" smtClean="0">
                <a:solidFill>
                  <a:srgbClr val="FF0000"/>
                </a:solidFill>
              </a:rPr>
              <a:t>Locality Groups</a:t>
            </a:r>
            <a:endParaRPr lang="zh-TW" altLang="en-US" sz="2000" dirty="0">
              <a:solidFill>
                <a:srgbClr val="FF0000"/>
              </a:solidFill>
            </a:endParaRPr>
          </a:p>
        </p:txBody>
      </p:sp>
      <p:sp>
        <p:nvSpPr>
          <p:cNvPr id="29" name="矩形 28"/>
          <p:cNvSpPr/>
          <p:nvPr/>
        </p:nvSpPr>
        <p:spPr>
          <a:xfrm>
            <a:off x="5660951" y="1916832"/>
            <a:ext cx="2943497" cy="149787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dirty="0"/>
          </a:p>
        </p:txBody>
      </p:sp>
      <p:sp>
        <p:nvSpPr>
          <p:cNvPr id="30" name="矩形 29"/>
          <p:cNvSpPr/>
          <p:nvPr/>
        </p:nvSpPr>
        <p:spPr>
          <a:xfrm>
            <a:off x="5660951" y="4221088"/>
            <a:ext cx="2943497" cy="99381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dirty="0"/>
          </a:p>
        </p:txBody>
      </p:sp>
      <p:sp>
        <p:nvSpPr>
          <p:cNvPr id="31" name="矩形 30"/>
          <p:cNvSpPr/>
          <p:nvPr/>
        </p:nvSpPr>
        <p:spPr>
          <a:xfrm>
            <a:off x="5660951" y="5589240"/>
            <a:ext cx="2943497" cy="99381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dirty="0"/>
          </a:p>
        </p:txBody>
      </p:sp>
      <p:cxnSp>
        <p:nvCxnSpPr>
          <p:cNvPr id="32" name="直線接點 31"/>
          <p:cNvCxnSpPr/>
          <p:nvPr/>
        </p:nvCxnSpPr>
        <p:spPr>
          <a:xfrm rot="5400000">
            <a:off x="5472100" y="2672916"/>
            <a:ext cx="1512168"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33" name="直線接點 32"/>
          <p:cNvCxnSpPr/>
          <p:nvPr/>
        </p:nvCxnSpPr>
        <p:spPr>
          <a:xfrm>
            <a:off x="5652120" y="2556195"/>
            <a:ext cx="2952328"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34" name="直線接點 33"/>
          <p:cNvCxnSpPr/>
          <p:nvPr/>
        </p:nvCxnSpPr>
        <p:spPr>
          <a:xfrm>
            <a:off x="5652120" y="2833182"/>
            <a:ext cx="2952328"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35" name="直線接點 34"/>
          <p:cNvCxnSpPr/>
          <p:nvPr/>
        </p:nvCxnSpPr>
        <p:spPr>
          <a:xfrm rot="5400000">
            <a:off x="6768244" y="2672916"/>
            <a:ext cx="1512168"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36" name="直線接點 35"/>
          <p:cNvCxnSpPr/>
          <p:nvPr/>
        </p:nvCxnSpPr>
        <p:spPr>
          <a:xfrm rot="5400000">
            <a:off x="5910521" y="2672916"/>
            <a:ext cx="1512168"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sp>
        <p:nvSpPr>
          <p:cNvPr id="37" name="文字方塊 36"/>
          <p:cNvSpPr txBox="1"/>
          <p:nvPr/>
        </p:nvSpPr>
        <p:spPr>
          <a:xfrm>
            <a:off x="6232221" y="2503941"/>
            <a:ext cx="504056" cy="369332"/>
          </a:xfrm>
          <a:prstGeom prst="rect">
            <a:avLst/>
          </a:prstGeom>
          <a:noFill/>
        </p:spPr>
        <p:txBody>
          <a:bodyPr wrap="square" rtlCol="0">
            <a:spAutoFit/>
          </a:bodyPr>
          <a:lstStyle/>
          <a:p>
            <a:r>
              <a:rPr lang="en-US" altLang="zh-TW" dirty="0" smtClean="0"/>
              <a:t>EN</a:t>
            </a:r>
            <a:endParaRPr lang="zh-TW" altLang="en-US" dirty="0"/>
          </a:p>
        </p:txBody>
      </p:sp>
      <p:sp>
        <p:nvSpPr>
          <p:cNvPr id="38" name="矩形 37"/>
          <p:cNvSpPr/>
          <p:nvPr/>
        </p:nvSpPr>
        <p:spPr>
          <a:xfrm>
            <a:off x="6234557" y="2547486"/>
            <a:ext cx="432048" cy="2880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矩形 38"/>
          <p:cNvSpPr/>
          <p:nvPr/>
        </p:nvSpPr>
        <p:spPr>
          <a:xfrm>
            <a:off x="7524328" y="2547486"/>
            <a:ext cx="504056" cy="2880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0.5</a:t>
            </a:r>
            <a:endParaRPr lang="zh-TW" altLang="en-US" dirty="0">
              <a:solidFill>
                <a:schemeClr val="tx1"/>
              </a:solidFill>
            </a:endParaRPr>
          </a:p>
        </p:txBody>
      </p:sp>
      <p:cxnSp>
        <p:nvCxnSpPr>
          <p:cNvPr id="40" name="直線接點 39"/>
          <p:cNvCxnSpPr/>
          <p:nvPr/>
        </p:nvCxnSpPr>
        <p:spPr>
          <a:xfrm rot="5400000">
            <a:off x="7272300" y="2672916"/>
            <a:ext cx="1512168" cy="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p:nvPr/>
        </p:nvCxnSpPr>
        <p:spPr>
          <a:xfrm rot="5400000">
            <a:off x="6228182" y="1916834"/>
            <a:ext cx="432841" cy="7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直線單箭頭接點 41"/>
          <p:cNvCxnSpPr/>
          <p:nvPr/>
        </p:nvCxnSpPr>
        <p:spPr>
          <a:xfrm rot="5400000">
            <a:off x="7571754" y="1916834"/>
            <a:ext cx="432841" cy="7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5796136" y="1386649"/>
            <a:ext cx="1288814" cy="369332"/>
          </a:xfrm>
          <a:prstGeom prst="rect">
            <a:avLst/>
          </a:prstGeom>
        </p:spPr>
        <p:txBody>
          <a:bodyPr wrap="none">
            <a:spAutoFit/>
          </a:bodyPr>
          <a:lstStyle/>
          <a:p>
            <a:r>
              <a:rPr lang="en-US" altLang="zh-TW" dirty="0" smtClean="0"/>
              <a:t>“language:”</a:t>
            </a:r>
            <a:endParaRPr lang="zh-TW" altLang="en-US" dirty="0"/>
          </a:p>
        </p:txBody>
      </p:sp>
      <p:sp>
        <p:nvSpPr>
          <p:cNvPr id="44" name="矩形 43"/>
          <p:cNvSpPr/>
          <p:nvPr/>
        </p:nvSpPr>
        <p:spPr>
          <a:xfrm>
            <a:off x="7153920" y="1386649"/>
            <a:ext cx="1306512" cy="369332"/>
          </a:xfrm>
          <a:prstGeom prst="rect">
            <a:avLst/>
          </a:prstGeom>
        </p:spPr>
        <p:txBody>
          <a:bodyPr wrap="none">
            <a:spAutoFit/>
          </a:bodyPr>
          <a:lstStyle/>
          <a:p>
            <a:r>
              <a:rPr lang="en-US" altLang="zh-TW" dirty="0" smtClean="0"/>
              <a:t>“</a:t>
            </a:r>
            <a:r>
              <a:rPr lang="en-US" altLang="zh-TW" dirty="0" err="1" smtClean="0"/>
              <a:t>pagerank</a:t>
            </a:r>
            <a:r>
              <a:rPr lang="en-US" altLang="zh-TW" dirty="0" smtClean="0"/>
              <a:t>:”</a:t>
            </a:r>
            <a:endParaRPr lang="zh-TW" altLang="en-US" dirty="0"/>
          </a:p>
        </p:txBody>
      </p:sp>
      <p:sp>
        <p:nvSpPr>
          <p:cNvPr id="45" name="矩形 44"/>
          <p:cNvSpPr/>
          <p:nvPr/>
        </p:nvSpPr>
        <p:spPr>
          <a:xfrm>
            <a:off x="5508104" y="1772816"/>
            <a:ext cx="3240360" cy="496855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文字方塊 45"/>
          <p:cNvSpPr txBox="1"/>
          <p:nvPr/>
        </p:nvSpPr>
        <p:spPr>
          <a:xfrm>
            <a:off x="6941891" y="3610188"/>
            <a:ext cx="864096" cy="369332"/>
          </a:xfrm>
          <a:prstGeom prst="rect">
            <a:avLst/>
          </a:prstGeom>
          <a:noFill/>
        </p:spPr>
        <p:txBody>
          <a:bodyPr wrap="square" rtlCol="0">
            <a:spAutoFit/>
          </a:bodyPr>
          <a:lstStyle/>
          <a:p>
            <a:r>
              <a:rPr lang="en-US" altLang="zh-TW" dirty="0" smtClean="0"/>
              <a:t>…</a:t>
            </a:r>
            <a:endParaRPr lang="zh-TW" alt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Locality Groups(2/2)</a:t>
            </a:r>
            <a:endParaRPr lang="zh-TW" altLang="en-US" dirty="0"/>
          </a:p>
        </p:txBody>
      </p:sp>
      <p:sp>
        <p:nvSpPr>
          <p:cNvPr id="3" name="內容版面配置區 2"/>
          <p:cNvSpPr>
            <a:spLocks noGrp="1"/>
          </p:cNvSpPr>
          <p:nvPr>
            <p:ph idx="1"/>
          </p:nvPr>
        </p:nvSpPr>
        <p:spPr>
          <a:xfrm>
            <a:off x="457200" y="1600200"/>
            <a:ext cx="8229600" cy="4709120"/>
          </a:xfrm>
        </p:spPr>
        <p:txBody>
          <a:bodyPr>
            <a:normAutofit/>
          </a:bodyPr>
          <a:lstStyle/>
          <a:p>
            <a:r>
              <a:rPr lang="en-US" altLang="zh-TW" dirty="0" smtClean="0">
                <a:latin typeface="+mj-lt"/>
              </a:rPr>
              <a:t>Dynamic fragmentation of column families</a:t>
            </a:r>
          </a:p>
          <a:p>
            <a:pPr lvl="1"/>
            <a:r>
              <a:rPr lang="en-US" altLang="zh-TW" dirty="0" smtClean="0">
                <a:latin typeface="+mj-lt"/>
              </a:rPr>
              <a:t>Segregates data within a tablet</a:t>
            </a:r>
          </a:p>
          <a:p>
            <a:pPr lvl="1"/>
            <a:r>
              <a:rPr lang="en-US" altLang="zh-TW" dirty="0" smtClean="0">
                <a:latin typeface="+mj-lt"/>
              </a:rPr>
              <a:t>Different locality groups → different </a:t>
            </a:r>
            <a:r>
              <a:rPr lang="en-US" altLang="zh-TW" dirty="0" err="1" smtClean="0">
                <a:latin typeface="+mj-lt"/>
              </a:rPr>
              <a:t>SSTable</a:t>
            </a:r>
            <a:r>
              <a:rPr lang="en-US" altLang="zh-TW" dirty="0" smtClean="0">
                <a:latin typeface="+mj-lt"/>
              </a:rPr>
              <a:t> files on GFS</a:t>
            </a:r>
          </a:p>
          <a:p>
            <a:pPr lvl="1"/>
            <a:r>
              <a:rPr lang="en-US" altLang="zh-TW" dirty="0" smtClean="0">
                <a:latin typeface="+mj-lt"/>
              </a:rPr>
              <a:t>Scans over one locality group are O(</a:t>
            </a:r>
            <a:r>
              <a:rPr lang="en-US" altLang="zh-TW" dirty="0" err="1" smtClean="0">
                <a:latin typeface="+mj-lt"/>
              </a:rPr>
              <a:t>bytes_in_locality_group</a:t>
            </a:r>
            <a:r>
              <a:rPr lang="en-US" altLang="zh-TW" dirty="0" smtClean="0">
                <a:latin typeface="+mj-lt"/>
              </a:rPr>
              <a:t>) , not O(</a:t>
            </a:r>
            <a:r>
              <a:rPr lang="en-US" altLang="zh-TW" dirty="0" err="1" smtClean="0">
                <a:latin typeface="+mj-lt"/>
              </a:rPr>
              <a:t>bytes_in_table</a:t>
            </a:r>
            <a:r>
              <a:rPr lang="en-US" altLang="zh-TW" dirty="0" smtClean="0">
                <a:latin typeface="+mj-lt"/>
              </a:rPr>
              <a:t>)</a:t>
            </a:r>
          </a:p>
          <a:p>
            <a:r>
              <a:rPr lang="en-US" altLang="zh-TW" dirty="0" smtClean="0">
                <a:latin typeface="+mj-lt"/>
              </a:rPr>
              <a:t>Provides control over storage layout</a:t>
            </a:r>
          </a:p>
          <a:p>
            <a:pPr lvl="1"/>
            <a:r>
              <a:rPr lang="en-US" altLang="zh-TW" dirty="0" smtClean="0">
                <a:latin typeface="+mj-lt"/>
              </a:rPr>
              <a:t>Memory mapping of locality groups</a:t>
            </a:r>
          </a:p>
          <a:p>
            <a:pPr lvl="1"/>
            <a:r>
              <a:rPr lang="en-US" altLang="zh-TW" dirty="0" smtClean="0">
                <a:latin typeface="+mj-lt"/>
              </a:rPr>
              <a:t>Choice of compression algorithms</a:t>
            </a:r>
          </a:p>
          <a:p>
            <a:pPr lvl="1"/>
            <a:r>
              <a:rPr lang="en-US" altLang="zh-TW" dirty="0" smtClean="0">
                <a:latin typeface="+mj-lt"/>
              </a:rPr>
              <a:t>Client-controlled block size</a:t>
            </a:r>
            <a:endParaRPr lang="zh-TW" altLang="en-US" dirty="0">
              <a:latin typeface="+mj-lt"/>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Details</a:t>
            </a:r>
            <a:br>
              <a:rPr lang="en-US" altLang="zh-TW" dirty="0" smtClean="0"/>
            </a:br>
            <a:endParaRPr lang="zh-TW" altLang="en-US" dirty="0"/>
          </a:p>
        </p:txBody>
      </p:sp>
      <p:sp>
        <p:nvSpPr>
          <p:cNvPr id="3" name="文字版面配置區 2"/>
          <p:cNvSpPr>
            <a:spLocks noGrp="1"/>
          </p:cNvSpPr>
          <p:nvPr>
            <p:ph type="body" idx="1"/>
          </p:nvPr>
        </p:nvSpPr>
        <p:spPr/>
        <p:txBody>
          <a:bodyPr/>
          <a:lstStyle/>
          <a:p>
            <a:r>
              <a:rPr lang="en-US" altLang="zh-TW" dirty="0" smtClean="0">
                <a:solidFill>
                  <a:schemeClr val="bg1">
                    <a:lumMod val="50000"/>
                  </a:schemeClr>
                </a:solidFill>
              </a:rPr>
              <a:t>Locality groups</a:t>
            </a:r>
          </a:p>
          <a:p>
            <a:r>
              <a:rPr lang="en-US" altLang="zh-TW" dirty="0" smtClean="0"/>
              <a:t>Compression</a:t>
            </a:r>
          </a:p>
          <a:p>
            <a:r>
              <a:rPr lang="en-US" altLang="zh-TW" dirty="0" smtClean="0">
                <a:solidFill>
                  <a:schemeClr val="bg1">
                    <a:lumMod val="50000"/>
                  </a:schemeClr>
                </a:solidFill>
              </a:rPr>
              <a:t>Replication</a:t>
            </a:r>
            <a:endParaRPr lang="zh-TW" altLang="en-US" dirty="0" smtClean="0">
              <a:solidFill>
                <a:schemeClr val="bg1">
                  <a:lumMod val="50000"/>
                </a:schemeClr>
              </a:solidFill>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Compression(1/2)</a:t>
            </a:r>
            <a:endParaRPr lang="zh-TW" altLang="en-US" dirty="0"/>
          </a:p>
        </p:txBody>
      </p:sp>
      <p:sp>
        <p:nvSpPr>
          <p:cNvPr id="3" name="內容版面配置區 2"/>
          <p:cNvSpPr>
            <a:spLocks noGrp="1"/>
          </p:cNvSpPr>
          <p:nvPr>
            <p:ph idx="1"/>
          </p:nvPr>
        </p:nvSpPr>
        <p:spPr/>
        <p:txBody>
          <a:bodyPr>
            <a:normAutofit lnSpcReduction="10000"/>
          </a:bodyPr>
          <a:lstStyle/>
          <a:p>
            <a:r>
              <a:rPr lang="en-US" altLang="zh-TW" dirty="0" smtClean="0">
                <a:latin typeface="+mj-lt"/>
              </a:rPr>
              <a:t>Keys:</a:t>
            </a:r>
          </a:p>
          <a:p>
            <a:pPr lvl="1"/>
            <a:r>
              <a:rPr lang="en-US" altLang="zh-TW" dirty="0" smtClean="0">
                <a:latin typeface="+mj-lt"/>
              </a:rPr>
              <a:t>Sorted strings of (Row, Column, Timestamp): prefix compression</a:t>
            </a:r>
          </a:p>
          <a:p>
            <a:r>
              <a:rPr lang="en-US" altLang="zh-TW" dirty="0" smtClean="0">
                <a:latin typeface="+mj-lt"/>
              </a:rPr>
              <a:t>Values:</a:t>
            </a:r>
          </a:p>
          <a:p>
            <a:pPr lvl="1"/>
            <a:r>
              <a:rPr lang="en-US" altLang="zh-TW" dirty="0" smtClean="0">
                <a:latin typeface="+mj-lt"/>
              </a:rPr>
              <a:t>Group together values by “type” (e.g. column family name)</a:t>
            </a:r>
          </a:p>
          <a:p>
            <a:pPr lvl="1"/>
            <a:r>
              <a:rPr lang="en-US" altLang="zh-TW" dirty="0" err="1" smtClean="0">
                <a:latin typeface="+mj-lt"/>
              </a:rPr>
              <a:t>BMDiff</a:t>
            </a:r>
            <a:r>
              <a:rPr lang="en-US" altLang="zh-TW" dirty="0" smtClean="0">
                <a:latin typeface="+mj-lt"/>
              </a:rPr>
              <a:t> across all values in one family</a:t>
            </a:r>
          </a:p>
          <a:p>
            <a:pPr lvl="2"/>
            <a:r>
              <a:rPr lang="en-US" altLang="zh-TW" dirty="0" err="1" smtClean="0">
                <a:latin typeface="+mj-lt"/>
              </a:rPr>
              <a:t>BMDiff</a:t>
            </a:r>
            <a:r>
              <a:rPr lang="en-US" altLang="zh-TW" dirty="0" smtClean="0">
                <a:latin typeface="+mj-lt"/>
              </a:rPr>
              <a:t> output for values 1..N is dictionary for value N+1</a:t>
            </a:r>
          </a:p>
          <a:p>
            <a:r>
              <a:rPr lang="en-US" altLang="zh-TW" dirty="0" smtClean="0">
                <a:latin typeface="+mj-lt"/>
              </a:rPr>
              <a:t>Zippy as final pass over whole block</a:t>
            </a:r>
          </a:p>
          <a:p>
            <a:pPr lvl="1"/>
            <a:r>
              <a:rPr lang="en-US" altLang="zh-TW" dirty="0" smtClean="0">
                <a:latin typeface="+mj-lt"/>
              </a:rPr>
              <a:t>Catches more localized repetitions</a:t>
            </a:r>
          </a:p>
          <a:p>
            <a:pPr lvl="1"/>
            <a:r>
              <a:rPr lang="en-US" altLang="zh-TW" dirty="0" smtClean="0">
                <a:latin typeface="+mj-lt"/>
              </a:rPr>
              <a:t>Also catches cross-column-family repetition, compresses keys</a:t>
            </a:r>
            <a:endParaRPr lang="zh-TW" altLang="en-US" dirty="0">
              <a:latin typeface="+mj-lt"/>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Compression(2/2)</a:t>
            </a:r>
            <a:endParaRPr lang="zh-TW" altLang="en-US" dirty="0"/>
          </a:p>
        </p:txBody>
      </p:sp>
      <p:sp>
        <p:nvSpPr>
          <p:cNvPr id="3" name="內容版面配置區 2"/>
          <p:cNvSpPr>
            <a:spLocks noGrp="1"/>
          </p:cNvSpPr>
          <p:nvPr>
            <p:ph idx="1"/>
          </p:nvPr>
        </p:nvSpPr>
        <p:spPr>
          <a:xfrm>
            <a:off x="457200" y="1600200"/>
            <a:ext cx="8229600" cy="4565104"/>
          </a:xfrm>
        </p:spPr>
        <p:txBody>
          <a:bodyPr>
            <a:normAutofit fontScale="92500"/>
          </a:bodyPr>
          <a:lstStyle/>
          <a:p>
            <a:r>
              <a:rPr lang="en-US" altLang="zh-TW" dirty="0" smtClean="0">
                <a:latin typeface="+mj-lt"/>
              </a:rPr>
              <a:t>Many opportunities for compression</a:t>
            </a:r>
          </a:p>
          <a:p>
            <a:pPr lvl="1"/>
            <a:r>
              <a:rPr lang="en-US" altLang="zh-TW" dirty="0" smtClean="0">
                <a:latin typeface="+mj-lt"/>
              </a:rPr>
              <a:t>Similar values in the same row/column at different timestamps</a:t>
            </a:r>
          </a:p>
          <a:p>
            <a:pPr lvl="1"/>
            <a:r>
              <a:rPr lang="en-US" altLang="zh-TW" dirty="0" smtClean="0">
                <a:latin typeface="+mj-lt"/>
              </a:rPr>
              <a:t>Similar values in different columns</a:t>
            </a:r>
          </a:p>
          <a:p>
            <a:pPr lvl="1"/>
            <a:r>
              <a:rPr lang="en-US" altLang="zh-TW" dirty="0" smtClean="0">
                <a:latin typeface="+mj-lt"/>
              </a:rPr>
              <a:t>Similar values across adjacent rows</a:t>
            </a:r>
          </a:p>
          <a:p>
            <a:r>
              <a:rPr lang="en-US" altLang="zh-TW" dirty="0" smtClean="0">
                <a:latin typeface="+mj-lt"/>
              </a:rPr>
              <a:t>Within each </a:t>
            </a:r>
            <a:r>
              <a:rPr lang="en-US" altLang="zh-TW" dirty="0" err="1" smtClean="0">
                <a:latin typeface="+mj-lt"/>
              </a:rPr>
              <a:t>SSTable</a:t>
            </a:r>
            <a:r>
              <a:rPr lang="en-US" altLang="zh-TW" dirty="0" smtClean="0">
                <a:latin typeface="+mj-lt"/>
              </a:rPr>
              <a:t> for a locality group, encode compressed blocks</a:t>
            </a:r>
          </a:p>
          <a:p>
            <a:pPr lvl="1"/>
            <a:r>
              <a:rPr lang="en-US" altLang="zh-TW" dirty="0" smtClean="0">
                <a:latin typeface="+mj-lt"/>
              </a:rPr>
              <a:t>Keep blocks small for random access (~64KB compressed data)</a:t>
            </a:r>
          </a:p>
          <a:p>
            <a:pPr lvl="1"/>
            <a:r>
              <a:rPr lang="en-US" altLang="zh-TW" dirty="0" smtClean="0">
                <a:latin typeface="+mj-lt"/>
              </a:rPr>
              <a:t>Exploit fact that many values very similar</a:t>
            </a:r>
          </a:p>
          <a:p>
            <a:pPr lvl="1"/>
            <a:r>
              <a:rPr lang="en-US" altLang="zh-TW" dirty="0" smtClean="0">
                <a:latin typeface="+mj-lt"/>
              </a:rPr>
              <a:t>Needs to be low CPU cost for encoding/decoding</a:t>
            </a:r>
          </a:p>
          <a:p>
            <a:r>
              <a:rPr lang="en-US" altLang="zh-TW" dirty="0" smtClean="0">
                <a:latin typeface="+mj-lt"/>
              </a:rPr>
              <a:t>Two building blocks: </a:t>
            </a:r>
            <a:r>
              <a:rPr lang="en-US" altLang="zh-TW" dirty="0" err="1" smtClean="0">
                <a:latin typeface="+mj-lt"/>
              </a:rPr>
              <a:t>BMDiff</a:t>
            </a:r>
            <a:r>
              <a:rPr lang="en-US" altLang="zh-TW" dirty="0" smtClean="0">
                <a:latin typeface="+mj-lt"/>
              </a:rPr>
              <a:t>, Zippy</a:t>
            </a:r>
            <a:endParaRPr lang="zh-TW" altLang="en-US" dirty="0">
              <a:latin typeface="+mj-lt"/>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Details</a:t>
            </a:r>
            <a:br>
              <a:rPr lang="en-US" altLang="zh-TW" dirty="0" smtClean="0"/>
            </a:br>
            <a:endParaRPr lang="zh-TW" altLang="en-US" dirty="0"/>
          </a:p>
        </p:txBody>
      </p:sp>
      <p:sp>
        <p:nvSpPr>
          <p:cNvPr id="3" name="文字版面配置區 2"/>
          <p:cNvSpPr>
            <a:spLocks noGrp="1"/>
          </p:cNvSpPr>
          <p:nvPr>
            <p:ph type="body" idx="1"/>
          </p:nvPr>
        </p:nvSpPr>
        <p:spPr/>
        <p:txBody>
          <a:bodyPr/>
          <a:lstStyle/>
          <a:p>
            <a:r>
              <a:rPr lang="en-US" altLang="zh-TW" dirty="0" smtClean="0">
                <a:solidFill>
                  <a:schemeClr val="bg1">
                    <a:lumMod val="50000"/>
                  </a:schemeClr>
                </a:solidFill>
              </a:rPr>
              <a:t>Locality groups</a:t>
            </a:r>
          </a:p>
          <a:p>
            <a:r>
              <a:rPr lang="en-US" altLang="zh-TW" dirty="0" smtClean="0">
                <a:solidFill>
                  <a:schemeClr val="bg1">
                    <a:lumMod val="50000"/>
                  </a:schemeClr>
                </a:solidFill>
              </a:rPr>
              <a:t>Compression</a:t>
            </a:r>
          </a:p>
          <a:p>
            <a:r>
              <a:rPr lang="en-US" altLang="zh-TW" dirty="0" smtClean="0"/>
              <a:t>Replication</a:t>
            </a:r>
            <a:endParaRPr lang="zh-TW" altLang="en-US" dirty="0" smtClean="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Replication</a:t>
            </a:r>
            <a:endParaRPr lang="zh-TW" altLang="en-US" dirty="0"/>
          </a:p>
        </p:txBody>
      </p:sp>
      <p:sp>
        <p:nvSpPr>
          <p:cNvPr id="3" name="內容版面配置區 2"/>
          <p:cNvSpPr>
            <a:spLocks noGrp="1"/>
          </p:cNvSpPr>
          <p:nvPr>
            <p:ph idx="1"/>
          </p:nvPr>
        </p:nvSpPr>
        <p:spPr>
          <a:xfrm>
            <a:off x="457200" y="1600200"/>
            <a:ext cx="8229600" cy="4997152"/>
          </a:xfrm>
        </p:spPr>
        <p:txBody>
          <a:bodyPr>
            <a:normAutofit/>
          </a:bodyPr>
          <a:lstStyle/>
          <a:p>
            <a:r>
              <a:rPr lang="en-US" altLang="zh-TW" dirty="0" smtClean="0">
                <a:latin typeface="+mj-lt"/>
              </a:rPr>
              <a:t>Often want updates replicated to many </a:t>
            </a:r>
            <a:r>
              <a:rPr lang="en-US" altLang="zh-TW" dirty="0" err="1" smtClean="0">
                <a:latin typeface="+mj-lt"/>
              </a:rPr>
              <a:t>BigTable</a:t>
            </a:r>
            <a:r>
              <a:rPr lang="en-US" altLang="zh-TW" dirty="0" smtClean="0">
                <a:latin typeface="+mj-lt"/>
              </a:rPr>
              <a:t> cells in different datacenters</a:t>
            </a:r>
          </a:p>
          <a:p>
            <a:pPr lvl="1"/>
            <a:r>
              <a:rPr lang="en-US" altLang="zh-TW" dirty="0" smtClean="0">
                <a:latin typeface="+mj-lt"/>
              </a:rPr>
              <a:t>Low-latency access from anywhere in world</a:t>
            </a:r>
          </a:p>
          <a:p>
            <a:pPr lvl="1"/>
            <a:r>
              <a:rPr lang="en-US" altLang="zh-TW" dirty="0" smtClean="0">
                <a:latin typeface="+mj-lt"/>
              </a:rPr>
              <a:t>Disaster tolerance</a:t>
            </a:r>
          </a:p>
          <a:p>
            <a:r>
              <a:rPr lang="en-US" altLang="zh-TW" dirty="0" smtClean="0">
                <a:latin typeface="+mj-lt"/>
              </a:rPr>
              <a:t>Optimistic replication scheme</a:t>
            </a:r>
          </a:p>
          <a:p>
            <a:pPr lvl="1"/>
            <a:r>
              <a:rPr lang="en-US" altLang="zh-TW" dirty="0" smtClean="0">
                <a:latin typeface="+mj-lt"/>
              </a:rPr>
              <a:t>Writes in any of the on-line replicas eventually propagated to other replica clusters</a:t>
            </a:r>
          </a:p>
          <a:p>
            <a:pPr lvl="2"/>
            <a:r>
              <a:rPr lang="en-US" altLang="zh-TW" dirty="0" smtClean="0">
                <a:latin typeface="+mj-lt"/>
              </a:rPr>
              <a:t>99.9% of writes replicated immediately (speed of light)</a:t>
            </a:r>
          </a:p>
          <a:p>
            <a:pPr lvl="1"/>
            <a:r>
              <a:rPr lang="en-US" altLang="zh-TW" dirty="0" smtClean="0">
                <a:latin typeface="+mj-lt"/>
              </a:rPr>
              <a:t>Currently a thin layer above </a:t>
            </a:r>
            <a:r>
              <a:rPr lang="en-US" altLang="zh-TW" dirty="0" err="1" smtClean="0">
                <a:latin typeface="+mj-lt"/>
              </a:rPr>
              <a:t>BigTable</a:t>
            </a:r>
            <a:r>
              <a:rPr lang="en-US" altLang="zh-TW" dirty="0" smtClean="0">
                <a:latin typeface="+mj-lt"/>
              </a:rPr>
              <a:t> client library</a:t>
            </a:r>
          </a:p>
          <a:p>
            <a:pPr lvl="2"/>
            <a:r>
              <a:rPr lang="en-US" altLang="zh-TW" dirty="0" smtClean="0">
                <a:latin typeface="+mj-lt"/>
              </a:rPr>
              <a:t>Working to move support inside </a:t>
            </a:r>
            <a:r>
              <a:rPr lang="en-US" altLang="zh-TW" dirty="0" err="1" smtClean="0">
                <a:latin typeface="+mj-lt"/>
              </a:rPr>
              <a:t>BigTable</a:t>
            </a:r>
            <a:r>
              <a:rPr lang="en-US" altLang="zh-TW" dirty="0" smtClean="0">
                <a:latin typeface="+mj-lt"/>
              </a:rPr>
              <a:t> system</a:t>
            </a:r>
            <a:endParaRPr lang="zh-TW" altLang="en-US" dirty="0">
              <a:latin typeface="+mj-lt"/>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Summary of </a:t>
            </a:r>
            <a:r>
              <a:rPr lang="en-US" altLang="zh-TW" dirty="0" err="1" smtClean="0"/>
              <a:t>Bigtable</a:t>
            </a:r>
            <a:endParaRPr lang="zh-TW" altLang="en-US" dirty="0"/>
          </a:p>
        </p:txBody>
      </p:sp>
      <p:sp>
        <p:nvSpPr>
          <p:cNvPr id="3" name="內容版面配置區 2"/>
          <p:cNvSpPr>
            <a:spLocks noGrp="1"/>
          </p:cNvSpPr>
          <p:nvPr>
            <p:ph idx="1"/>
          </p:nvPr>
        </p:nvSpPr>
        <p:spPr/>
        <p:txBody>
          <a:bodyPr>
            <a:normAutofit/>
          </a:bodyPr>
          <a:lstStyle/>
          <a:p>
            <a:r>
              <a:rPr lang="en-US" altLang="zh-TW" dirty="0" smtClean="0">
                <a:latin typeface="+mj-lt"/>
              </a:rPr>
              <a:t>Data model applicable to broad range of clients</a:t>
            </a:r>
          </a:p>
          <a:p>
            <a:pPr lvl="1"/>
            <a:r>
              <a:rPr lang="en-US" altLang="zh-TW" dirty="0" smtClean="0">
                <a:latin typeface="+mj-lt"/>
              </a:rPr>
              <a:t>Actively deployed in many of Google’s services</a:t>
            </a:r>
          </a:p>
          <a:p>
            <a:r>
              <a:rPr lang="en-US" altLang="zh-TW" dirty="0" smtClean="0">
                <a:latin typeface="+mj-lt"/>
              </a:rPr>
              <a:t>System provides high performance storage system on a large scale</a:t>
            </a:r>
          </a:p>
          <a:p>
            <a:pPr lvl="1"/>
            <a:r>
              <a:rPr lang="en-US" altLang="zh-TW" dirty="0" smtClean="0">
                <a:latin typeface="+mj-lt"/>
              </a:rPr>
              <a:t>Self-managing</a:t>
            </a:r>
          </a:p>
          <a:p>
            <a:pPr lvl="1"/>
            <a:r>
              <a:rPr lang="en-US" altLang="zh-TW" dirty="0" smtClean="0">
                <a:latin typeface="+mj-lt"/>
              </a:rPr>
              <a:t>Thousands of servers</a:t>
            </a:r>
          </a:p>
          <a:p>
            <a:pPr lvl="1"/>
            <a:r>
              <a:rPr lang="en-US" altLang="zh-TW" dirty="0" smtClean="0">
                <a:latin typeface="+mj-lt"/>
              </a:rPr>
              <a:t>Millions of ops/second</a:t>
            </a:r>
          </a:p>
          <a:p>
            <a:pPr lvl="1"/>
            <a:r>
              <a:rPr lang="en-US" altLang="zh-TW" dirty="0" smtClean="0">
                <a:latin typeface="+mj-lt"/>
              </a:rPr>
              <a:t>Multiple GB/s reading/writing</a:t>
            </a:r>
            <a:endParaRPr lang="zh-TW" altLang="en-US" dirty="0">
              <a:latin typeface="+mj-lt"/>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Storage System for Structured Data</a:t>
            </a:r>
            <a:endParaRPr lang="zh-TW" altLang="en-US" dirty="0"/>
          </a:p>
        </p:txBody>
      </p:sp>
      <p:sp>
        <p:nvSpPr>
          <p:cNvPr id="5" name="文字版面配置區 4"/>
          <p:cNvSpPr>
            <a:spLocks noGrp="1"/>
          </p:cNvSpPr>
          <p:nvPr>
            <p:ph type="body" idx="1"/>
          </p:nvPr>
        </p:nvSpPr>
        <p:spPr/>
        <p:txBody>
          <a:bodyPr>
            <a:normAutofit fontScale="92500" lnSpcReduction="20000"/>
          </a:bodyPr>
          <a:lstStyle/>
          <a:p>
            <a:r>
              <a:rPr lang="en-US" altLang="zh-TW" dirty="0" smtClean="0">
                <a:solidFill>
                  <a:schemeClr val="bg1">
                    <a:lumMod val="50000"/>
                  </a:schemeClr>
                </a:solidFill>
              </a:rPr>
              <a:t>Database Overview</a:t>
            </a:r>
          </a:p>
          <a:p>
            <a:r>
              <a:rPr lang="en-US" altLang="zh-TW" dirty="0">
                <a:solidFill>
                  <a:schemeClr val="bg1">
                    <a:lumMod val="50000"/>
                  </a:schemeClr>
                </a:solidFill>
              </a:rPr>
              <a:t>Relational Database (SQL)</a:t>
            </a:r>
          </a:p>
          <a:p>
            <a:r>
              <a:rPr lang="en-US" altLang="zh-TW" dirty="0">
                <a:solidFill>
                  <a:schemeClr val="bg1">
                    <a:lumMod val="50000"/>
                  </a:schemeClr>
                </a:solidFill>
              </a:rPr>
              <a:t>Non-relational Database </a:t>
            </a:r>
            <a:r>
              <a:rPr lang="en-US" altLang="zh-TW" dirty="0" smtClean="0">
                <a:solidFill>
                  <a:schemeClr val="bg1">
                    <a:lumMod val="50000"/>
                  </a:schemeClr>
                </a:solidFill>
              </a:rPr>
              <a:t>Introduction (NOSQL/</a:t>
            </a:r>
            <a:r>
              <a:rPr lang="en-US" altLang="zh-TW" dirty="0" err="1" smtClean="0">
                <a:solidFill>
                  <a:schemeClr val="bg1">
                    <a:lumMod val="50000"/>
                  </a:schemeClr>
                </a:solidFill>
              </a:rPr>
              <a:t>NoREL</a:t>
            </a:r>
            <a:r>
              <a:rPr lang="en-US" altLang="zh-TW" dirty="0" smtClean="0">
                <a:solidFill>
                  <a:schemeClr val="bg1">
                    <a:lumMod val="50000"/>
                  </a:schemeClr>
                </a:solidFill>
              </a:rPr>
              <a:t>)</a:t>
            </a:r>
          </a:p>
          <a:p>
            <a:r>
              <a:rPr lang="en-US" altLang="zh-TW" sz="2100" dirty="0">
                <a:solidFill>
                  <a:schemeClr val="bg1">
                    <a:lumMod val="50000"/>
                  </a:schemeClr>
                </a:solidFill>
              </a:rPr>
              <a:t>Google </a:t>
            </a:r>
            <a:r>
              <a:rPr lang="en-US" altLang="zh-TW" sz="2100" dirty="0" err="1">
                <a:solidFill>
                  <a:schemeClr val="bg1">
                    <a:lumMod val="50000"/>
                  </a:schemeClr>
                </a:solidFill>
              </a:rPr>
              <a:t>Bigtable</a:t>
            </a:r>
            <a:endParaRPr lang="en-US" altLang="zh-TW" sz="2100" dirty="0">
              <a:solidFill>
                <a:schemeClr val="bg1">
                  <a:lumMod val="50000"/>
                </a:schemeClr>
              </a:solidFill>
            </a:endParaRPr>
          </a:p>
          <a:p>
            <a:r>
              <a:rPr lang="en-US" altLang="zh-TW" sz="2100" dirty="0" err="1"/>
              <a:t>Hadoop</a:t>
            </a:r>
            <a:r>
              <a:rPr lang="en-US" altLang="zh-TW" sz="2100" dirty="0"/>
              <a:t> </a:t>
            </a:r>
            <a:r>
              <a:rPr lang="en-US" altLang="zh-TW" sz="2100" dirty="0" err="1" smtClean="0"/>
              <a:t>Hbase</a:t>
            </a:r>
            <a:endParaRPr lang="zh-TW" altLang="en-US" sz="2100" dirty="0"/>
          </a:p>
        </p:txBody>
      </p:sp>
    </p:spTree>
    <p:extLst>
      <p:ext uri="{BB962C8B-B14F-4D97-AF65-F5344CB8AC3E}">
        <p14:creationId xmlns="" xmlns:p14="http://schemas.microsoft.com/office/powerpoint/2010/main" val="160458881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Hbase</a:t>
            </a:r>
            <a:endParaRPr lang="zh-TW" altLang="en-US" dirty="0"/>
          </a:p>
        </p:txBody>
      </p:sp>
      <p:sp>
        <p:nvSpPr>
          <p:cNvPr id="3" name="內容版面配置區 2"/>
          <p:cNvSpPr>
            <a:spLocks noGrp="1"/>
          </p:cNvSpPr>
          <p:nvPr>
            <p:ph idx="1"/>
          </p:nvPr>
        </p:nvSpPr>
        <p:spPr/>
        <p:txBody>
          <a:bodyPr/>
          <a:lstStyle/>
          <a:p>
            <a:r>
              <a:rPr lang="en-US" altLang="zh-TW" dirty="0" smtClean="0">
                <a:latin typeface="+mj-lt"/>
              </a:rPr>
              <a:t>Overview</a:t>
            </a:r>
          </a:p>
          <a:p>
            <a:r>
              <a:rPr lang="en-US" altLang="zh-TW" dirty="0" smtClean="0">
                <a:solidFill>
                  <a:schemeClr val="bg1">
                    <a:lumMod val="50000"/>
                  </a:schemeClr>
                </a:solidFill>
                <a:latin typeface="+mj-lt"/>
              </a:rPr>
              <a:t>Architecture</a:t>
            </a:r>
          </a:p>
          <a:p>
            <a:r>
              <a:rPr lang="en-US" altLang="zh-TW" dirty="0" smtClean="0">
                <a:solidFill>
                  <a:schemeClr val="bg1">
                    <a:lumMod val="50000"/>
                  </a:schemeClr>
                </a:solidFill>
                <a:latin typeface="+mj-lt"/>
              </a:rPr>
              <a:t>Data Model</a:t>
            </a:r>
          </a:p>
          <a:p>
            <a:r>
              <a:rPr lang="en-US" altLang="zh-TW" dirty="0" smtClean="0">
                <a:solidFill>
                  <a:schemeClr val="bg1">
                    <a:lumMod val="50000"/>
                  </a:schemeClr>
                </a:solidFill>
                <a:latin typeface="+mj-lt"/>
              </a:rPr>
              <a:t>Different from </a:t>
            </a:r>
            <a:r>
              <a:rPr lang="en-US" altLang="zh-TW" dirty="0" err="1" smtClean="0">
                <a:solidFill>
                  <a:schemeClr val="bg1">
                    <a:lumMod val="50000"/>
                  </a:schemeClr>
                </a:solidFill>
                <a:latin typeface="+mj-lt"/>
              </a:rPr>
              <a:t>Bigtable</a:t>
            </a:r>
            <a:endParaRPr lang="en-US" altLang="zh-TW" dirty="0" smtClean="0">
              <a:solidFill>
                <a:schemeClr val="bg1">
                  <a:lumMod val="50000"/>
                </a:schemeClr>
              </a:solidFill>
              <a:latin typeface="+mj-lt"/>
            </a:endParaRPr>
          </a:p>
          <a:p>
            <a:endParaRPr lang="zh-TW" altLang="en-US" dirty="0">
              <a:latin typeface="+mj-lt"/>
            </a:endParaRPr>
          </a:p>
        </p:txBody>
      </p:sp>
    </p:spTree>
    <p:extLst>
      <p:ext uri="{BB962C8B-B14F-4D97-AF65-F5344CB8AC3E}">
        <p14:creationId xmlns="" xmlns:p14="http://schemas.microsoft.com/office/powerpoint/2010/main" val="339558892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What’s </a:t>
            </a:r>
            <a:r>
              <a:rPr lang="en-US" altLang="zh-TW" dirty="0" err="1" smtClean="0"/>
              <a:t>Hbase</a:t>
            </a:r>
            <a:endParaRPr lang="zh-TW" altLang="en-US" dirty="0"/>
          </a:p>
        </p:txBody>
      </p:sp>
      <p:sp>
        <p:nvSpPr>
          <p:cNvPr id="3" name="內容版面配置區 2"/>
          <p:cNvSpPr>
            <a:spLocks noGrp="1"/>
          </p:cNvSpPr>
          <p:nvPr>
            <p:ph idx="1"/>
          </p:nvPr>
        </p:nvSpPr>
        <p:spPr>
          <a:xfrm>
            <a:off x="457200" y="1600200"/>
            <a:ext cx="4762872" cy="4781128"/>
          </a:xfrm>
        </p:spPr>
        <p:txBody>
          <a:bodyPr/>
          <a:lstStyle/>
          <a:p>
            <a:r>
              <a:rPr lang="en-US" altLang="zh-TW" dirty="0" smtClean="0">
                <a:latin typeface="+mj-lt"/>
                <a:ea typeface="新細明體" charset="-120"/>
              </a:rPr>
              <a:t>Distributed Database modeled on column-oriented rows</a:t>
            </a:r>
          </a:p>
          <a:p>
            <a:r>
              <a:rPr lang="en-US" altLang="zh-TW" dirty="0" smtClean="0">
                <a:latin typeface="+mj-lt"/>
                <a:ea typeface="新細明體" charset="-120"/>
              </a:rPr>
              <a:t>Tables of column- oriented rows</a:t>
            </a:r>
          </a:p>
          <a:p>
            <a:r>
              <a:rPr lang="en-US" altLang="zh-TW" dirty="0" smtClean="0">
                <a:latin typeface="+mj-lt"/>
                <a:ea typeface="新細明體" charset="-120"/>
              </a:rPr>
              <a:t>Scalable data store(scales horizontally)</a:t>
            </a:r>
          </a:p>
          <a:p>
            <a:r>
              <a:rPr lang="en-US" altLang="zh-TW" dirty="0" smtClean="0">
                <a:latin typeface="+mj-lt"/>
                <a:ea typeface="新細明體" charset="-120"/>
              </a:rPr>
              <a:t>Apache </a:t>
            </a:r>
            <a:r>
              <a:rPr lang="en-US" altLang="zh-TW" dirty="0" err="1" smtClean="0">
                <a:latin typeface="+mj-lt"/>
                <a:ea typeface="新細明體" charset="-120"/>
              </a:rPr>
              <a:t>Hadoop</a:t>
            </a:r>
            <a:r>
              <a:rPr lang="en-US" altLang="zh-TW" dirty="0" smtClean="0">
                <a:latin typeface="+mj-lt"/>
                <a:ea typeface="新細明體" charset="-120"/>
              </a:rPr>
              <a:t> subproject since 2008</a:t>
            </a:r>
          </a:p>
          <a:p>
            <a:endParaRPr lang="zh-TW" altLang="en-US" dirty="0">
              <a:latin typeface="+mj-lt"/>
            </a:endParaRPr>
          </a:p>
        </p:txBody>
      </p:sp>
      <p:grpSp>
        <p:nvGrpSpPr>
          <p:cNvPr id="11" name="群組 12"/>
          <p:cNvGrpSpPr/>
          <p:nvPr/>
        </p:nvGrpSpPr>
        <p:grpSpPr>
          <a:xfrm>
            <a:off x="5148064" y="1700808"/>
            <a:ext cx="3816424" cy="4680520"/>
            <a:chOff x="4998915" y="2636912"/>
            <a:chExt cx="3816424" cy="4680520"/>
          </a:xfrm>
        </p:grpSpPr>
        <p:sp>
          <p:nvSpPr>
            <p:cNvPr id="12" name="圓角矩形 11"/>
            <p:cNvSpPr/>
            <p:nvPr/>
          </p:nvSpPr>
          <p:spPr>
            <a:xfrm>
              <a:off x="4998915" y="5013176"/>
              <a:ext cx="3811485" cy="936199"/>
            </a:xfrm>
            <a:prstGeom prst="roundRect">
              <a:avLst/>
            </a:prstGeom>
            <a:solidFill>
              <a:srgbClr val="3276C8"/>
            </a:solidFill>
            <a:ln>
              <a:solidFill>
                <a:srgbClr val="3276C8"/>
              </a:solidFill>
            </a:ln>
            <a:effectLst>
              <a:outerShdw blurRad="50800" dist="38100" algn="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dirty="0" err="1" smtClean="0"/>
                <a:t>Hadoop</a:t>
              </a:r>
              <a:r>
                <a:rPr lang="en-US" altLang="zh-TW" dirty="0" smtClean="0"/>
                <a:t> Distributed</a:t>
              </a:r>
              <a:br>
                <a:rPr lang="en-US" altLang="zh-TW" dirty="0" smtClean="0"/>
              </a:br>
              <a:r>
                <a:rPr lang="en-US" altLang="zh-TW" dirty="0" smtClean="0"/>
                <a:t>File System (HDFS)</a:t>
              </a:r>
              <a:endParaRPr lang="zh-TW" altLang="en-US" dirty="0"/>
            </a:p>
          </p:txBody>
        </p:sp>
        <p:sp>
          <p:nvSpPr>
            <p:cNvPr id="14" name="圓角矩形 13"/>
            <p:cNvSpPr/>
            <p:nvPr/>
          </p:nvSpPr>
          <p:spPr>
            <a:xfrm>
              <a:off x="4998915" y="3933056"/>
              <a:ext cx="2304256" cy="735585"/>
            </a:xfrm>
            <a:prstGeom prst="roundRect">
              <a:avLst/>
            </a:prstGeom>
            <a:solidFill>
              <a:schemeClr val="tx2">
                <a:lumMod val="60000"/>
                <a:lumOff val="40000"/>
              </a:schemeClr>
            </a:solidFill>
            <a:ln>
              <a:solidFill>
                <a:schemeClr val="tx2">
                  <a:lumMod val="60000"/>
                  <a:lumOff val="40000"/>
                </a:schemeClr>
              </a:solidFill>
            </a:ln>
            <a:effectLst>
              <a:outerShdw blurRad="50800" dist="38100" algn="l" rotWithShape="0">
                <a:prstClr val="black">
                  <a:alpha val="40000"/>
                </a:prstClr>
              </a:outerShdw>
              <a:softEdge rad="31750"/>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dirty="0" err="1" smtClean="0"/>
                <a:t>MapReduce</a:t>
              </a:r>
              <a:endParaRPr lang="zh-TW" altLang="en-US" dirty="0"/>
            </a:p>
          </p:txBody>
        </p:sp>
        <p:sp>
          <p:nvSpPr>
            <p:cNvPr id="15" name="圓角矩形 14"/>
            <p:cNvSpPr/>
            <p:nvPr/>
          </p:nvSpPr>
          <p:spPr>
            <a:xfrm>
              <a:off x="7009913" y="4997671"/>
              <a:ext cx="1800488" cy="735585"/>
            </a:xfrm>
            <a:prstGeom prst="roundRect">
              <a:avLst/>
            </a:prstGeom>
            <a:solidFill>
              <a:schemeClr val="tx2">
                <a:lumMod val="60000"/>
                <a:lumOff val="40000"/>
              </a:schemeClr>
            </a:solidFill>
            <a:ln>
              <a:solidFill>
                <a:schemeClr val="tx2">
                  <a:lumMod val="60000"/>
                  <a:lumOff val="40000"/>
                </a:schemeClr>
              </a:solidFill>
            </a:ln>
            <a:effectLst>
              <a:outerShdw blurRad="50800" dist="38100" algn="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err="1" smtClean="0"/>
                <a:t>Hbase</a:t>
              </a:r>
              <a:endParaRPr lang="zh-TW" altLang="en-US" dirty="0"/>
            </a:p>
          </p:txBody>
        </p:sp>
        <p:sp>
          <p:nvSpPr>
            <p:cNvPr id="16" name="圓角矩形 15"/>
            <p:cNvSpPr/>
            <p:nvPr/>
          </p:nvSpPr>
          <p:spPr>
            <a:xfrm>
              <a:off x="4998915" y="6381233"/>
              <a:ext cx="3811485" cy="936199"/>
            </a:xfrm>
            <a:prstGeom prst="roundRect">
              <a:avLst/>
            </a:prstGeom>
            <a:solidFill>
              <a:srgbClr val="396499"/>
            </a:solidFill>
            <a:ln>
              <a:solidFill>
                <a:srgbClr val="396499"/>
              </a:solidFill>
            </a:ln>
            <a:effectLst>
              <a:outerShdw blurRad="50800" dist="38100" algn="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A Cluster of Machines</a:t>
              </a:r>
              <a:endParaRPr lang="zh-TW" altLang="en-US" dirty="0"/>
            </a:p>
          </p:txBody>
        </p:sp>
        <p:sp>
          <p:nvSpPr>
            <p:cNvPr id="17" name="圓角矩形 16"/>
            <p:cNvSpPr/>
            <p:nvPr/>
          </p:nvSpPr>
          <p:spPr>
            <a:xfrm>
              <a:off x="5003854" y="2636912"/>
              <a:ext cx="3811485" cy="936199"/>
            </a:xfrm>
            <a:prstGeom prst="roundRect">
              <a:avLst/>
            </a:prstGeom>
            <a:solidFill>
              <a:schemeClr val="tx2">
                <a:lumMod val="40000"/>
                <a:lumOff val="60000"/>
              </a:schemeClr>
            </a:solidFill>
            <a:ln>
              <a:solidFill>
                <a:schemeClr val="tx2">
                  <a:lumMod val="40000"/>
                  <a:lumOff val="60000"/>
                </a:schemeClr>
              </a:solidFill>
            </a:ln>
            <a:effectLst>
              <a:outerShdw blurRad="50800" dist="38100" algn="l" rotWithShape="0">
                <a:prstClr val="black">
                  <a:alpha val="40000"/>
                </a:prstClr>
              </a:outerShdw>
              <a:softEdge rad="31750"/>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dirty="0" smtClean="0"/>
                <a:t>Cloud Applications</a:t>
              </a:r>
              <a:endParaRPr lang="zh-TW" altLang="en-US" dirty="0"/>
            </a:p>
          </p:txBody>
        </p:sp>
      </p:grpSp>
      <p:cxnSp>
        <p:nvCxnSpPr>
          <p:cNvPr id="18" name="直線單箭頭接點 17"/>
          <p:cNvCxnSpPr/>
          <p:nvPr/>
        </p:nvCxnSpPr>
        <p:spPr>
          <a:xfrm rot="16200000" flipV="1">
            <a:off x="5842995" y="2806078"/>
            <a:ext cx="347469" cy="9139"/>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19" name="直線單箭頭接點 18"/>
          <p:cNvCxnSpPr/>
          <p:nvPr/>
        </p:nvCxnSpPr>
        <p:spPr>
          <a:xfrm rot="16200000" flipV="1">
            <a:off x="5847566" y="3881627"/>
            <a:ext cx="338331" cy="9143"/>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20" name="直線單箭頭接點 19"/>
          <p:cNvCxnSpPr>
            <a:stCxn id="16" idx="0"/>
            <a:endCxn id="12" idx="2"/>
          </p:cNvCxnSpPr>
          <p:nvPr/>
        </p:nvCxnSpPr>
        <p:spPr>
          <a:xfrm rot="5400000" flipH="1" flipV="1">
            <a:off x="6837878" y="5229200"/>
            <a:ext cx="431858" cy="1588"/>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21" name="直線單箭頭接點 20"/>
          <p:cNvCxnSpPr/>
          <p:nvPr/>
        </p:nvCxnSpPr>
        <p:spPr>
          <a:xfrm rot="16200000" flipV="1">
            <a:off x="7143710" y="3881626"/>
            <a:ext cx="338331" cy="9143"/>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22" name="直線單箭頭接點 21"/>
          <p:cNvCxnSpPr/>
          <p:nvPr/>
        </p:nvCxnSpPr>
        <p:spPr>
          <a:xfrm rot="16200000" flipV="1">
            <a:off x="7323730" y="3341566"/>
            <a:ext cx="1418452" cy="9144"/>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23" name="矩形 22"/>
          <p:cNvSpPr/>
          <p:nvPr/>
        </p:nvSpPr>
        <p:spPr>
          <a:xfrm>
            <a:off x="7092280" y="4005063"/>
            <a:ext cx="1964880" cy="886307"/>
          </a:xfrm>
          <a:prstGeom prst="rect">
            <a:avLst/>
          </a:prstGeom>
          <a:solidFill>
            <a:schemeClr val="lt1">
              <a:alpha val="0"/>
            </a:schemeClr>
          </a:solidFill>
          <a:ln w="57150"/>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Tree>
    <p:extLst>
      <p:ext uri="{BB962C8B-B14F-4D97-AF65-F5344CB8AC3E}">
        <p14:creationId xmlns="" xmlns:p14="http://schemas.microsoft.com/office/powerpoint/2010/main" val="232785518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Hbase</a:t>
            </a:r>
            <a:endParaRPr lang="zh-TW" altLang="en-US" dirty="0"/>
          </a:p>
        </p:txBody>
      </p:sp>
      <p:sp>
        <p:nvSpPr>
          <p:cNvPr id="3" name="內容版面配置區 2"/>
          <p:cNvSpPr>
            <a:spLocks noGrp="1"/>
          </p:cNvSpPr>
          <p:nvPr>
            <p:ph idx="1"/>
          </p:nvPr>
        </p:nvSpPr>
        <p:spPr/>
        <p:txBody>
          <a:bodyPr/>
          <a:lstStyle/>
          <a:p>
            <a:r>
              <a:rPr lang="en-US" altLang="zh-TW" dirty="0" smtClean="0">
                <a:solidFill>
                  <a:schemeClr val="bg1">
                    <a:lumMod val="50000"/>
                  </a:schemeClr>
                </a:solidFill>
                <a:latin typeface="+mj-lt"/>
              </a:rPr>
              <a:t>Overview</a:t>
            </a:r>
          </a:p>
          <a:p>
            <a:r>
              <a:rPr lang="en-US" altLang="zh-TW" dirty="0">
                <a:latin typeface="+mj-lt"/>
              </a:rPr>
              <a:t>Architecture</a:t>
            </a:r>
          </a:p>
          <a:p>
            <a:r>
              <a:rPr lang="en-US" altLang="zh-TW" dirty="0" smtClean="0">
                <a:solidFill>
                  <a:schemeClr val="bg1">
                    <a:lumMod val="50000"/>
                  </a:schemeClr>
                </a:solidFill>
                <a:latin typeface="+mj-lt"/>
              </a:rPr>
              <a:t>Data Model</a:t>
            </a:r>
          </a:p>
          <a:p>
            <a:r>
              <a:rPr lang="en-US" altLang="zh-TW" dirty="0" smtClean="0">
                <a:solidFill>
                  <a:schemeClr val="bg1">
                    <a:lumMod val="50000"/>
                  </a:schemeClr>
                </a:solidFill>
                <a:latin typeface="+mj-lt"/>
              </a:rPr>
              <a:t>Different from </a:t>
            </a:r>
            <a:r>
              <a:rPr lang="en-US" altLang="zh-TW" dirty="0" err="1" smtClean="0">
                <a:solidFill>
                  <a:schemeClr val="bg1">
                    <a:lumMod val="50000"/>
                  </a:schemeClr>
                </a:solidFill>
                <a:latin typeface="+mj-lt"/>
              </a:rPr>
              <a:t>Bigtable</a:t>
            </a:r>
            <a:endParaRPr lang="en-US" altLang="zh-TW" dirty="0" smtClean="0">
              <a:solidFill>
                <a:schemeClr val="bg1">
                  <a:lumMod val="50000"/>
                </a:schemeClr>
              </a:solidFill>
              <a:latin typeface="+mj-lt"/>
            </a:endParaRPr>
          </a:p>
          <a:p>
            <a:endParaRPr lang="zh-TW" altLang="en-US" dirty="0">
              <a:latin typeface="+mj-lt"/>
            </a:endParaRPr>
          </a:p>
        </p:txBody>
      </p:sp>
    </p:spTree>
    <p:extLst>
      <p:ext uri="{BB962C8B-B14F-4D97-AF65-F5344CB8AC3E}">
        <p14:creationId xmlns="" xmlns:p14="http://schemas.microsoft.com/office/powerpoint/2010/main" val="3992344393"/>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Hbase</a:t>
            </a:r>
            <a:r>
              <a:rPr lang="en-US" altLang="zh-TW" dirty="0" smtClean="0"/>
              <a:t> Architecture</a:t>
            </a:r>
            <a:endParaRPr lang="zh-TW" altLang="en-US" dirty="0"/>
          </a:p>
        </p:txBody>
      </p:sp>
      <p:pic>
        <p:nvPicPr>
          <p:cNvPr id="3" name="Picture 2"/>
          <p:cNvPicPr>
            <a:picLocks noChangeAspect="1" noChangeArrowheads="1"/>
          </p:cNvPicPr>
          <p:nvPr/>
        </p:nvPicPr>
        <p:blipFill>
          <a:blip r:embed="rId3" cstate="print"/>
          <a:srcRect/>
          <a:stretch>
            <a:fillRect/>
          </a:stretch>
        </p:blipFill>
        <p:spPr bwMode="auto">
          <a:xfrm>
            <a:off x="251520" y="1559280"/>
            <a:ext cx="8615708" cy="4822048"/>
          </a:xfrm>
          <a:prstGeom prst="rect">
            <a:avLst/>
          </a:prstGeom>
          <a:noFill/>
          <a:ln w="9525">
            <a:noFill/>
            <a:miter lim="800000"/>
            <a:headEnd/>
            <a:tailEnd/>
          </a:ln>
        </p:spPr>
      </p:pic>
    </p:spTree>
    <p:extLst>
      <p:ext uri="{BB962C8B-B14F-4D97-AF65-F5344CB8AC3E}">
        <p14:creationId xmlns="" xmlns:p14="http://schemas.microsoft.com/office/powerpoint/2010/main" val="30496616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How does </a:t>
            </a:r>
            <a:r>
              <a:rPr lang="en-US" altLang="zh-TW" dirty="0" err="1" smtClean="0"/>
              <a:t>Hbase</a:t>
            </a:r>
            <a:r>
              <a:rPr lang="en-US" altLang="zh-TW" dirty="0" smtClean="0"/>
              <a:t> work?</a:t>
            </a:r>
            <a:endParaRPr lang="zh-TW" altLang="en-US" dirty="0"/>
          </a:p>
        </p:txBody>
      </p:sp>
      <p:pic>
        <p:nvPicPr>
          <p:cNvPr id="2050" name="Picture 2"/>
          <p:cNvPicPr>
            <a:picLocks noChangeAspect="1" noChangeArrowheads="1"/>
          </p:cNvPicPr>
          <p:nvPr/>
        </p:nvPicPr>
        <p:blipFill>
          <a:blip r:embed="rId3" cstate="print"/>
          <a:srcRect/>
          <a:stretch>
            <a:fillRect/>
          </a:stretch>
        </p:blipFill>
        <p:spPr bwMode="auto">
          <a:xfrm>
            <a:off x="179512" y="1393234"/>
            <a:ext cx="8830716" cy="5088310"/>
          </a:xfrm>
          <a:prstGeom prst="rect">
            <a:avLst/>
          </a:prstGeom>
          <a:noFill/>
          <a:ln w="9525">
            <a:noFill/>
            <a:miter lim="800000"/>
            <a:headEnd/>
            <a:tailEnd/>
          </a:ln>
        </p:spPr>
      </p:pic>
    </p:spTree>
    <p:extLst>
      <p:ext uri="{BB962C8B-B14F-4D97-AF65-F5344CB8AC3E}">
        <p14:creationId xmlns="" xmlns:p14="http://schemas.microsoft.com/office/powerpoint/2010/main" val="2880655846"/>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Roles mapping</a:t>
            </a:r>
            <a:endParaRPr lang="zh-TW" altLang="en-US" dirty="0"/>
          </a:p>
        </p:txBody>
      </p:sp>
      <p:sp>
        <p:nvSpPr>
          <p:cNvPr id="3" name="內容版面配置區 2"/>
          <p:cNvSpPr>
            <a:spLocks noGrp="1"/>
          </p:cNvSpPr>
          <p:nvPr>
            <p:ph idx="1"/>
          </p:nvPr>
        </p:nvSpPr>
        <p:spPr/>
        <p:txBody>
          <a:bodyPr/>
          <a:lstStyle/>
          <a:p>
            <a:r>
              <a:rPr lang="en-US" altLang="zh-TW" dirty="0" err="1" smtClean="0">
                <a:latin typeface="+mj-lt"/>
              </a:rPr>
              <a:t>Bigtable</a:t>
            </a:r>
            <a:r>
              <a:rPr lang="en-US" altLang="zh-TW" dirty="0" smtClean="0">
                <a:latin typeface="+mj-lt"/>
              </a:rPr>
              <a:t> : </a:t>
            </a:r>
            <a:r>
              <a:rPr lang="en-US" altLang="zh-TW" dirty="0" err="1" smtClean="0">
                <a:latin typeface="+mj-lt"/>
              </a:rPr>
              <a:t>Hbase</a:t>
            </a:r>
            <a:endParaRPr lang="en-US" altLang="zh-TW" dirty="0" smtClean="0">
              <a:latin typeface="+mj-lt"/>
            </a:endParaRPr>
          </a:p>
          <a:p>
            <a:pPr lvl="1"/>
            <a:r>
              <a:rPr lang="en-US" altLang="zh-TW" dirty="0" smtClean="0">
                <a:latin typeface="+mj-lt"/>
              </a:rPr>
              <a:t>Master : (H)Master</a:t>
            </a:r>
          </a:p>
          <a:p>
            <a:pPr lvl="1"/>
            <a:r>
              <a:rPr lang="en-US" altLang="zh-TW" dirty="0" err="1" smtClean="0">
                <a:latin typeface="+mj-lt"/>
              </a:rPr>
              <a:t>Tabletserver</a:t>
            </a:r>
            <a:r>
              <a:rPr lang="en-US" altLang="zh-TW" dirty="0" smtClean="0">
                <a:latin typeface="+mj-lt"/>
              </a:rPr>
              <a:t> : (H)</a:t>
            </a:r>
            <a:r>
              <a:rPr lang="en-US" altLang="zh-TW" dirty="0" err="1" smtClean="0">
                <a:latin typeface="+mj-lt"/>
              </a:rPr>
              <a:t>Regionserver</a:t>
            </a:r>
            <a:endParaRPr lang="en-US" altLang="zh-TW" dirty="0" smtClean="0">
              <a:latin typeface="+mj-lt"/>
            </a:endParaRPr>
          </a:p>
          <a:p>
            <a:pPr lvl="2"/>
            <a:r>
              <a:rPr lang="en-US" altLang="zh-TW" sz="1800" dirty="0" smtClean="0"/>
              <a:t>Tablet : Region</a:t>
            </a:r>
            <a:endParaRPr lang="en-US" altLang="zh-TW" dirty="0" smtClean="0">
              <a:latin typeface="+mj-lt"/>
            </a:endParaRPr>
          </a:p>
          <a:p>
            <a:pPr lvl="1"/>
            <a:r>
              <a:rPr lang="en-US" altLang="zh-TW" dirty="0" smtClean="0">
                <a:latin typeface="+mj-lt"/>
              </a:rPr>
              <a:t>Google File System : </a:t>
            </a:r>
            <a:r>
              <a:rPr lang="en-US" altLang="zh-TW" dirty="0" err="1" smtClean="0">
                <a:latin typeface="+mj-lt"/>
              </a:rPr>
              <a:t>Hadoop</a:t>
            </a:r>
            <a:r>
              <a:rPr lang="en-US" altLang="zh-TW" dirty="0" smtClean="0">
                <a:latin typeface="+mj-lt"/>
              </a:rPr>
              <a:t> Distributed File System</a:t>
            </a:r>
          </a:p>
          <a:p>
            <a:pPr lvl="2"/>
            <a:r>
              <a:rPr lang="en-US" altLang="zh-TW" dirty="0" err="1" smtClean="0">
                <a:latin typeface="+mj-lt"/>
              </a:rPr>
              <a:t>SSTable</a:t>
            </a:r>
            <a:r>
              <a:rPr lang="en-US" altLang="zh-TW" dirty="0" smtClean="0">
                <a:latin typeface="+mj-lt"/>
              </a:rPr>
              <a:t> : </a:t>
            </a:r>
            <a:r>
              <a:rPr lang="en-US" altLang="zh-TW" dirty="0" err="1" smtClean="0">
                <a:latin typeface="+mj-lt"/>
              </a:rPr>
              <a:t>HFile</a:t>
            </a:r>
            <a:endParaRPr lang="en-US" altLang="zh-TW" dirty="0" smtClean="0">
              <a:latin typeface="+mj-lt"/>
            </a:endParaRPr>
          </a:p>
          <a:p>
            <a:pPr lvl="1"/>
            <a:r>
              <a:rPr lang="en-US" altLang="zh-TW" dirty="0" smtClean="0">
                <a:latin typeface="+mj-lt"/>
              </a:rPr>
              <a:t>Chubby : Zookeeper</a:t>
            </a:r>
          </a:p>
          <a:p>
            <a:endParaRPr lang="en-US" altLang="zh-TW" dirty="0" smtClean="0">
              <a:latin typeface="+mj-lt"/>
            </a:endParaRPr>
          </a:p>
          <a:p>
            <a:pPr lvl="1"/>
            <a:endParaRPr lang="zh-TW" altLang="en-US" dirty="0">
              <a:latin typeface="+mj-lt"/>
            </a:endParaRPr>
          </a:p>
        </p:txBody>
      </p:sp>
    </p:spTree>
    <p:extLst>
      <p:ext uri="{BB962C8B-B14F-4D97-AF65-F5344CB8AC3E}">
        <p14:creationId xmlns="" xmlns:p14="http://schemas.microsoft.com/office/powerpoint/2010/main" val="2421965341"/>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Roles in </a:t>
            </a:r>
            <a:r>
              <a:rPr lang="en-US" altLang="zh-TW" dirty="0" err="1" smtClean="0"/>
              <a:t>Hbase</a:t>
            </a:r>
            <a:r>
              <a:rPr lang="en-US" altLang="zh-TW" dirty="0" smtClean="0"/>
              <a:t>(1/2)</a:t>
            </a:r>
            <a:endParaRPr lang="zh-TW" altLang="en-US" dirty="0"/>
          </a:p>
        </p:txBody>
      </p:sp>
      <p:sp>
        <p:nvSpPr>
          <p:cNvPr id="3" name="內容版面配置區 2"/>
          <p:cNvSpPr>
            <a:spLocks noGrp="1"/>
          </p:cNvSpPr>
          <p:nvPr>
            <p:ph idx="1"/>
          </p:nvPr>
        </p:nvSpPr>
        <p:spPr>
          <a:xfrm>
            <a:off x="457200" y="1412776"/>
            <a:ext cx="8229600" cy="5141168"/>
          </a:xfrm>
        </p:spPr>
        <p:txBody>
          <a:bodyPr>
            <a:normAutofit fontScale="92500" lnSpcReduction="20000"/>
          </a:bodyPr>
          <a:lstStyle/>
          <a:p>
            <a:r>
              <a:rPr lang="en-US" altLang="zh-TW" dirty="0" smtClean="0">
                <a:latin typeface="+mj-lt"/>
              </a:rPr>
              <a:t>Master</a:t>
            </a:r>
          </a:p>
          <a:p>
            <a:pPr lvl="1"/>
            <a:r>
              <a:rPr lang="en-US" altLang="zh-TW" dirty="0" smtClean="0">
                <a:latin typeface="+mj-lt"/>
              </a:rPr>
              <a:t>Cluster initialization</a:t>
            </a:r>
          </a:p>
          <a:p>
            <a:pPr lvl="1"/>
            <a:r>
              <a:rPr lang="en-US" altLang="zh-TW" dirty="0" smtClean="0">
                <a:latin typeface="+mj-lt"/>
              </a:rPr>
              <a:t>Assigning/</a:t>
            </a:r>
            <a:r>
              <a:rPr lang="en-US" altLang="zh-TW" dirty="0" err="1" smtClean="0">
                <a:latin typeface="+mj-lt"/>
              </a:rPr>
              <a:t>unassigning</a:t>
            </a:r>
            <a:r>
              <a:rPr lang="en-US" altLang="zh-TW" dirty="0" smtClean="0">
                <a:latin typeface="+mj-lt"/>
              </a:rPr>
              <a:t> regions to/from </a:t>
            </a:r>
            <a:r>
              <a:rPr lang="en-US" altLang="zh-TW" dirty="0" err="1" smtClean="0">
                <a:latin typeface="+mj-lt"/>
              </a:rPr>
              <a:t>Regionservers</a:t>
            </a:r>
            <a:r>
              <a:rPr lang="en-US" altLang="zh-TW" dirty="0" smtClean="0">
                <a:latin typeface="+mj-lt"/>
              </a:rPr>
              <a:t> (</a:t>
            </a:r>
            <a:r>
              <a:rPr lang="en-US" altLang="zh-TW" dirty="0" err="1" smtClean="0">
                <a:latin typeface="+mj-lt"/>
              </a:rPr>
              <a:t>unassigning</a:t>
            </a:r>
            <a:r>
              <a:rPr lang="en-US" altLang="zh-TW" dirty="0" smtClean="0">
                <a:latin typeface="+mj-lt"/>
              </a:rPr>
              <a:t> is for load balance) </a:t>
            </a:r>
          </a:p>
          <a:p>
            <a:pPr lvl="1"/>
            <a:r>
              <a:rPr lang="en-US" altLang="zh-TW" dirty="0" smtClean="0">
                <a:latin typeface="+mj-lt"/>
              </a:rPr>
              <a:t>Monitor the health and load of each </a:t>
            </a:r>
            <a:r>
              <a:rPr lang="en-US" altLang="zh-TW" dirty="0" err="1" smtClean="0">
                <a:latin typeface="+mj-lt"/>
              </a:rPr>
              <a:t>Regionserver</a:t>
            </a:r>
            <a:endParaRPr lang="en-US" altLang="zh-TW" dirty="0" smtClean="0">
              <a:latin typeface="+mj-lt"/>
            </a:endParaRPr>
          </a:p>
          <a:p>
            <a:pPr lvl="1"/>
            <a:r>
              <a:rPr lang="en-US" altLang="zh-TW" dirty="0" smtClean="0">
                <a:latin typeface="+mj-lt"/>
              </a:rPr>
              <a:t>Changes to the table schema and handling table administrative functions</a:t>
            </a:r>
          </a:p>
          <a:p>
            <a:pPr lvl="1"/>
            <a:r>
              <a:rPr lang="en-US" altLang="zh-TW" dirty="0" smtClean="0">
                <a:latin typeface="+mj-lt"/>
              </a:rPr>
              <a:t>Data localization</a:t>
            </a:r>
          </a:p>
          <a:p>
            <a:r>
              <a:rPr lang="en-US" altLang="zh-TW" dirty="0" err="1" smtClean="0">
                <a:latin typeface="+mj-lt"/>
              </a:rPr>
              <a:t>Regionservers</a:t>
            </a:r>
            <a:endParaRPr lang="en-US" altLang="zh-TW" dirty="0" smtClean="0">
              <a:latin typeface="+mj-lt"/>
            </a:endParaRPr>
          </a:p>
          <a:p>
            <a:pPr lvl="1"/>
            <a:r>
              <a:rPr lang="en-US" altLang="zh-TW" dirty="0" smtClean="0">
                <a:latin typeface="+mj-lt"/>
              </a:rPr>
              <a:t>Serving Regions assigned to </a:t>
            </a:r>
            <a:r>
              <a:rPr lang="en-US" altLang="zh-TW" dirty="0" err="1" smtClean="0">
                <a:latin typeface="+mj-lt"/>
              </a:rPr>
              <a:t>Regionserver</a:t>
            </a:r>
            <a:r>
              <a:rPr lang="en-US" altLang="zh-TW" dirty="0" smtClean="0">
                <a:latin typeface="+mj-lt"/>
              </a:rPr>
              <a:t> </a:t>
            </a:r>
          </a:p>
          <a:p>
            <a:pPr lvl="1"/>
            <a:r>
              <a:rPr lang="en-US" altLang="zh-TW" dirty="0" smtClean="0">
                <a:latin typeface="+mj-lt"/>
              </a:rPr>
              <a:t>Handling client read and write requests</a:t>
            </a:r>
          </a:p>
          <a:p>
            <a:pPr lvl="1"/>
            <a:r>
              <a:rPr lang="en-US" altLang="zh-TW" dirty="0" smtClean="0">
                <a:latin typeface="+mj-lt"/>
              </a:rPr>
              <a:t>Flushing cache to HDFS</a:t>
            </a:r>
          </a:p>
          <a:p>
            <a:pPr lvl="1"/>
            <a:r>
              <a:rPr lang="en-US" altLang="zh-TW" dirty="0" smtClean="0">
                <a:latin typeface="+mj-lt"/>
              </a:rPr>
              <a:t>Keeping </a:t>
            </a:r>
            <a:r>
              <a:rPr lang="en-US" altLang="zh-TW" dirty="0" err="1" smtClean="0">
                <a:latin typeface="+mj-lt"/>
              </a:rPr>
              <a:t>Hlog</a:t>
            </a:r>
            <a:endParaRPr lang="en-US" altLang="zh-TW" dirty="0" smtClean="0">
              <a:latin typeface="+mj-lt"/>
            </a:endParaRPr>
          </a:p>
          <a:p>
            <a:pPr lvl="1"/>
            <a:r>
              <a:rPr lang="en-US" altLang="zh-TW" dirty="0" smtClean="0">
                <a:latin typeface="+mj-lt"/>
              </a:rPr>
              <a:t>Compactions</a:t>
            </a:r>
          </a:p>
          <a:p>
            <a:pPr lvl="1"/>
            <a:r>
              <a:rPr lang="en-US" altLang="zh-TW" dirty="0" smtClean="0">
                <a:latin typeface="+mj-lt"/>
              </a:rPr>
              <a:t>Region Splits</a:t>
            </a:r>
            <a:endParaRPr lang="zh-TW" altLang="en-US" dirty="0">
              <a:latin typeface="+mj-lt"/>
            </a:endParaRPr>
          </a:p>
        </p:txBody>
      </p:sp>
    </p:spTree>
    <p:extLst>
      <p:ext uri="{BB962C8B-B14F-4D97-AF65-F5344CB8AC3E}">
        <p14:creationId xmlns="" xmlns:p14="http://schemas.microsoft.com/office/powerpoint/2010/main" val="103157556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Roles in </a:t>
            </a:r>
            <a:r>
              <a:rPr lang="en-US" altLang="zh-TW" dirty="0" err="1" smtClean="0"/>
              <a:t>Hbase</a:t>
            </a:r>
            <a:r>
              <a:rPr lang="en-US" altLang="zh-TW" dirty="0" smtClean="0"/>
              <a:t>(2/2)</a:t>
            </a:r>
            <a:endParaRPr lang="zh-TW" altLang="en-US" dirty="0"/>
          </a:p>
        </p:txBody>
      </p:sp>
      <p:sp>
        <p:nvSpPr>
          <p:cNvPr id="3" name="內容版面配置區 2"/>
          <p:cNvSpPr>
            <a:spLocks noGrp="1"/>
          </p:cNvSpPr>
          <p:nvPr>
            <p:ph idx="1"/>
          </p:nvPr>
        </p:nvSpPr>
        <p:spPr/>
        <p:txBody>
          <a:bodyPr/>
          <a:lstStyle/>
          <a:p>
            <a:r>
              <a:rPr lang="en-US" altLang="zh-TW" dirty="0" smtClean="0">
                <a:latin typeface="+mj-lt"/>
              </a:rPr>
              <a:t>Zookeeper</a:t>
            </a:r>
          </a:p>
          <a:p>
            <a:pPr lvl="1"/>
            <a:r>
              <a:rPr lang="en-US" altLang="zh-TW" dirty="0" smtClean="0">
                <a:latin typeface="+mj-lt"/>
              </a:rPr>
              <a:t>Master election and recovery</a:t>
            </a:r>
          </a:p>
          <a:p>
            <a:pPr lvl="1"/>
            <a:r>
              <a:rPr lang="en-US" altLang="zh-TW" dirty="0" smtClean="0">
                <a:latin typeface="+mj-lt"/>
              </a:rPr>
              <a:t>Store membership info</a:t>
            </a:r>
          </a:p>
          <a:p>
            <a:pPr lvl="1"/>
            <a:r>
              <a:rPr lang="en-US" altLang="zh-TW" dirty="0" smtClean="0">
                <a:latin typeface="+mj-lt"/>
              </a:rPr>
              <a:t>Locate </a:t>
            </a:r>
            <a:r>
              <a:rPr lang="en-US" altLang="zh-TW" sz="2000" dirty="0" smtClean="0">
                <a:latin typeface="+mj-lt"/>
              </a:rPr>
              <a:t>-</a:t>
            </a:r>
            <a:r>
              <a:rPr lang="en-US" altLang="zh-TW" dirty="0" smtClean="0">
                <a:latin typeface="+mj-lt"/>
              </a:rPr>
              <a:t>ROOT- region</a:t>
            </a:r>
            <a:endParaRPr lang="zh-TW" altLang="en-US" dirty="0" smtClean="0">
              <a:latin typeface="+mj-lt"/>
            </a:endParaRPr>
          </a:p>
          <a:p>
            <a:r>
              <a:rPr lang="en-US" altLang="zh-TW" dirty="0" smtClean="0">
                <a:latin typeface="+mj-lt"/>
              </a:rPr>
              <a:t>HDFS</a:t>
            </a:r>
          </a:p>
          <a:p>
            <a:pPr lvl="1"/>
            <a:r>
              <a:rPr lang="en-US" altLang="zh-TW" dirty="0" smtClean="0">
                <a:latin typeface="+mj-lt"/>
              </a:rPr>
              <a:t>All persistence </a:t>
            </a:r>
            <a:r>
              <a:rPr lang="en-US" altLang="zh-TW" dirty="0" err="1" smtClean="0">
                <a:latin typeface="+mj-lt"/>
              </a:rPr>
              <a:t>Hbase</a:t>
            </a:r>
            <a:r>
              <a:rPr lang="en-US" altLang="zh-TW" dirty="0" smtClean="0">
                <a:latin typeface="+mj-lt"/>
              </a:rPr>
              <a:t> storage is on HDFS(</a:t>
            </a:r>
            <a:r>
              <a:rPr lang="en-US" altLang="zh-TW" dirty="0" err="1" smtClean="0">
                <a:latin typeface="+mj-lt"/>
              </a:rPr>
              <a:t>HFile</a:t>
            </a:r>
            <a:r>
              <a:rPr lang="en-US" altLang="zh-TW" dirty="0" smtClean="0">
                <a:latin typeface="+mj-lt"/>
              </a:rPr>
              <a:t>,</a:t>
            </a:r>
            <a:r>
              <a:rPr lang="zh-TW" altLang="en-US" dirty="0" smtClean="0">
                <a:latin typeface="+mj-lt"/>
              </a:rPr>
              <a:t> </a:t>
            </a:r>
            <a:r>
              <a:rPr lang="en-US" altLang="zh-TW" dirty="0" smtClean="0">
                <a:latin typeface="+mj-lt"/>
              </a:rPr>
              <a:t>c.f.</a:t>
            </a:r>
            <a:r>
              <a:rPr lang="zh-TW" altLang="en-US" dirty="0" smtClean="0">
                <a:latin typeface="+mj-lt"/>
              </a:rPr>
              <a:t> </a:t>
            </a:r>
            <a:r>
              <a:rPr lang="en-US" altLang="zh-TW" dirty="0" err="1" smtClean="0">
                <a:latin typeface="+mj-lt"/>
              </a:rPr>
              <a:t>google</a:t>
            </a:r>
            <a:r>
              <a:rPr lang="en-US" altLang="zh-TW" dirty="0" smtClean="0">
                <a:latin typeface="+mj-lt"/>
              </a:rPr>
              <a:t> </a:t>
            </a:r>
            <a:r>
              <a:rPr lang="en-US" altLang="zh-TW" dirty="0" err="1" smtClean="0">
                <a:latin typeface="+mj-lt"/>
              </a:rPr>
              <a:t>Bigtable</a:t>
            </a:r>
            <a:r>
              <a:rPr lang="en-US" altLang="zh-TW" dirty="0" smtClean="0">
                <a:latin typeface="+mj-lt"/>
              </a:rPr>
              <a:t>, </a:t>
            </a:r>
            <a:r>
              <a:rPr lang="en-US" altLang="zh-TW" dirty="0" err="1" smtClean="0">
                <a:latin typeface="+mj-lt"/>
              </a:rPr>
              <a:t>SSTable</a:t>
            </a:r>
            <a:r>
              <a:rPr lang="en-US" altLang="zh-TW" dirty="0" smtClean="0">
                <a:latin typeface="+mj-lt"/>
              </a:rPr>
              <a:t>)</a:t>
            </a:r>
          </a:p>
          <a:p>
            <a:pPr lvl="1"/>
            <a:r>
              <a:rPr lang="en-US" altLang="zh-TW" dirty="0" smtClean="0">
                <a:latin typeface="+mj-lt"/>
              </a:rPr>
              <a:t>HDFS reliability and performance are key to </a:t>
            </a:r>
            <a:r>
              <a:rPr lang="en-US" altLang="zh-TW" dirty="0" err="1" smtClean="0">
                <a:latin typeface="+mj-lt"/>
              </a:rPr>
              <a:t>Hbase</a:t>
            </a:r>
            <a:r>
              <a:rPr lang="en-US" altLang="zh-TW" dirty="0" smtClean="0">
                <a:latin typeface="+mj-lt"/>
              </a:rPr>
              <a:t> reliability and performance</a:t>
            </a:r>
          </a:p>
          <a:p>
            <a:pPr lvl="1"/>
            <a:endParaRPr lang="zh-TW" altLang="en-US" dirty="0">
              <a:latin typeface="+mj-lt"/>
            </a:endParaRPr>
          </a:p>
        </p:txBody>
      </p:sp>
    </p:spTree>
    <p:extLst>
      <p:ext uri="{BB962C8B-B14F-4D97-AF65-F5344CB8AC3E}">
        <p14:creationId xmlns="" xmlns:p14="http://schemas.microsoft.com/office/powerpoint/2010/main" val="280579021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Table &amp; Region</a:t>
            </a:r>
            <a:endParaRPr lang="zh-TW" altLang="en-US" dirty="0"/>
          </a:p>
        </p:txBody>
      </p:sp>
      <p:sp>
        <p:nvSpPr>
          <p:cNvPr id="3" name="內容版面配置區 2"/>
          <p:cNvSpPr>
            <a:spLocks noGrp="1"/>
          </p:cNvSpPr>
          <p:nvPr>
            <p:ph idx="1"/>
          </p:nvPr>
        </p:nvSpPr>
        <p:spPr>
          <a:xfrm>
            <a:off x="457200" y="1855365"/>
            <a:ext cx="4330824" cy="4525963"/>
          </a:xfrm>
        </p:spPr>
        <p:txBody>
          <a:bodyPr/>
          <a:lstStyle/>
          <a:p>
            <a:r>
              <a:rPr lang="en-US" altLang="zh-TW" dirty="0" smtClean="0">
                <a:latin typeface="+mj-lt"/>
              </a:rPr>
              <a:t>Rows stored in byte‐lexicographic sorted order</a:t>
            </a:r>
          </a:p>
          <a:p>
            <a:r>
              <a:rPr lang="en-US" altLang="zh-TW" dirty="0" smtClean="0">
                <a:latin typeface="+mj-lt"/>
              </a:rPr>
              <a:t>Table dynamically split into “regions”</a:t>
            </a:r>
          </a:p>
          <a:p>
            <a:r>
              <a:rPr lang="en-US" altLang="zh-TW" dirty="0" smtClean="0">
                <a:latin typeface="+mj-lt"/>
              </a:rPr>
              <a:t>Each region contains values [</a:t>
            </a:r>
            <a:r>
              <a:rPr lang="en-US" altLang="zh-TW" dirty="0" err="1" smtClean="0">
                <a:latin typeface="+mj-lt"/>
              </a:rPr>
              <a:t>startKey</a:t>
            </a:r>
            <a:r>
              <a:rPr lang="en-US" altLang="zh-TW" dirty="0" smtClean="0">
                <a:latin typeface="+mj-lt"/>
              </a:rPr>
              <a:t>, </a:t>
            </a:r>
            <a:r>
              <a:rPr lang="en-US" altLang="zh-TW" dirty="0" err="1" smtClean="0">
                <a:latin typeface="+mj-lt"/>
              </a:rPr>
              <a:t>endKey</a:t>
            </a:r>
            <a:r>
              <a:rPr lang="en-US" altLang="zh-TW" dirty="0" smtClean="0">
                <a:latin typeface="+mj-lt"/>
              </a:rPr>
              <a:t>)</a:t>
            </a:r>
          </a:p>
          <a:p>
            <a:r>
              <a:rPr lang="en-US" altLang="zh-TW" dirty="0" smtClean="0">
                <a:latin typeface="+mj-lt"/>
              </a:rPr>
              <a:t>Regions hosted on a </a:t>
            </a:r>
            <a:r>
              <a:rPr lang="en-US" altLang="zh-TW" dirty="0" err="1" smtClean="0">
                <a:latin typeface="+mj-lt"/>
              </a:rPr>
              <a:t>regionserver</a:t>
            </a:r>
            <a:endParaRPr lang="en-US" altLang="zh-TW" dirty="0" smtClean="0">
              <a:latin typeface="+mj-lt"/>
            </a:endParaRPr>
          </a:p>
          <a:p>
            <a:endParaRPr lang="zh-TW" altLang="en-US" dirty="0">
              <a:latin typeface="+mj-lt"/>
            </a:endParaRPr>
          </a:p>
        </p:txBody>
      </p:sp>
      <p:pic>
        <p:nvPicPr>
          <p:cNvPr id="3074" name="Picture 2"/>
          <p:cNvPicPr>
            <a:picLocks noChangeAspect="1" noChangeArrowheads="1"/>
          </p:cNvPicPr>
          <p:nvPr/>
        </p:nvPicPr>
        <p:blipFill>
          <a:blip r:embed="rId3" cstate="print"/>
          <a:srcRect/>
          <a:stretch>
            <a:fillRect/>
          </a:stretch>
        </p:blipFill>
        <p:spPr bwMode="auto">
          <a:xfrm>
            <a:off x="4716016" y="1700808"/>
            <a:ext cx="4176464" cy="4661296"/>
          </a:xfrm>
          <a:prstGeom prst="rect">
            <a:avLst/>
          </a:prstGeom>
          <a:noFill/>
          <a:ln w="9525">
            <a:noFill/>
            <a:miter lim="800000"/>
            <a:headEnd/>
            <a:tailEnd/>
          </a:ln>
        </p:spPr>
      </p:pic>
    </p:spTree>
    <p:extLst>
      <p:ext uri="{BB962C8B-B14F-4D97-AF65-F5344CB8AC3E}">
        <p14:creationId xmlns="" xmlns:p14="http://schemas.microsoft.com/office/powerpoint/2010/main" val="274835329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Hbase</a:t>
            </a:r>
            <a:endParaRPr lang="zh-TW" altLang="en-US" dirty="0"/>
          </a:p>
        </p:txBody>
      </p:sp>
      <p:sp>
        <p:nvSpPr>
          <p:cNvPr id="3" name="內容版面配置區 2"/>
          <p:cNvSpPr>
            <a:spLocks noGrp="1"/>
          </p:cNvSpPr>
          <p:nvPr>
            <p:ph idx="1"/>
          </p:nvPr>
        </p:nvSpPr>
        <p:spPr/>
        <p:txBody>
          <a:bodyPr/>
          <a:lstStyle/>
          <a:p>
            <a:r>
              <a:rPr lang="en-US" altLang="zh-TW" dirty="0" smtClean="0">
                <a:solidFill>
                  <a:schemeClr val="bg1">
                    <a:lumMod val="50000"/>
                  </a:schemeClr>
                </a:solidFill>
                <a:latin typeface="+mj-lt"/>
              </a:rPr>
              <a:t>Overview</a:t>
            </a:r>
          </a:p>
          <a:p>
            <a:r>
              <a:rPr lang="en-US" altLang="zh-TW" dirty="0">
                <a:solidFill>
                  <a:schemeClr val="bg1">
                    <a:lumMod val="50000"/>
                  </a:schemeClr>
                </a:solidFill>
                <a:latin typeface="+mj-lt"/>
              </a:rPr>
              <a:t>Architecture</a:t>
            </a:r>
          </a:p>
          <a:p>
            <a:r>
              <a:rPr lang="en-US" altLang="zh-TW" dirty="0">
                <a:latin typeface="+mj-lt"/>
              </a:rPr>
              <a:t>Data Model</a:t>
            </a:r>
          </a:p>
          <a:p>
            <a:r>
              <a:rPr lang="en-US" altLang="zh-TW" dirty="0" smtClean="0">
                <a:solidFill>
                  <a:schemeClr val="bg1">
                    <a:lumMod val="50000"/>
                  </a:schemeClr>
                </a:solidFill>
                <a:latin typeface="+mj-lt"/>
              </a:rPr>
              <a:t>Different from </a:t>
            </a:r>
            <a:r>
              <a:rPr lang="en-US" altLang="zh-TW" dirty="0" err="1" smtClean="0">
                <a:solidFill>
                  <a:schemeClr val="bg1">
                    <a:lumMod val="50000"/>
                  </a:schemeClr>
                </a:solidFill>
                <a:latin typeface="+mj-lt"/>
              </a:rPr>
              <a:t>Bigtable</a:t>
            </a:r>
            <a:endParaRPr lang="en-US" altLang="zh-TW" dirty="0" smtClean="0">
              <a:solidFill>
                <a:schemeClr val="bg1">
                  <a:lumMod val="50000"/>
                </a:schemeClr>
              </a:solidFill>
              <a:latin typeface="+mj-lt"/>
            </a:endParaRPr>
          </a:p>
          <a:p>
            <a:endParaRPr lang="zh-TW" altLang="en-US" dirty="0">
              <a:latin typeface="+mj-lt"/>
            </a:endParaRPr>
          </a:p>
        </p:txBody>
      </p:sp>
    </p:spTree>
    <p:extLst>
      <p:ext uri="{BB962C8B-B14F-4D97-AF65-F5344CB8AC3E}">
        <p14:creationId xmlns="" xmlns:p14="http://schemas.microsoft.com/office/powerpoint/2010/main" val="287163510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Data Model</a:t>
            </a:r>
            <a:endParaRPr lang="zh-TW" altLang="en-US" dirty="0"/>
          </a:p>
        </p:txBody>
      </p:sp>
      <p:pic>
        <p:nvPicPr>
          <p:cNvPr id="2050" name="Picture 2"/>
          <p:cNvPicPr>
            <a:picLocks noChangeAspect="1" noChangeArrowheads="1"/>
          </p:cNvPicPr>
          <p:nvPr/>
        </p:nvPicPr>
        <p:blipFill>
          <a:blip r:embed="rId3" cstate="print"/>
          <a:srcRect/>
          <a:stretch>
            <a:fillRect/>
          </a:stretch>
        </p:blipFill>
        <p:spPr bwMode="auto">
          <a:xfrm>
            <a:off x="251520" y="1484784"/>
            <a:ext cx="4237394" cy="2160240"/>
          </a:xfrm>
          <a:prstGeom prst="rect">
            <a:avLst/>
          </a:prstGeom>
          <a:noFill/>
          <a:ln w="9525">
            <a:noFill/>
            <a:miter lim="800000"/>
            <a:headEnd/>
            <a:tailEnd/>
          </a:ln>
        </p:spPr>
      </p:pic>
      <p:pic>
        <p:nvPicPr>
          <p:cNvPr id="2051" name="Picture 3"/>
          <p:cNvPicPr>
            <a:picLocks noChangeAspect="1" noChangeArrowheads="1"/>
          </p:cNvPicPr>
          <p:nvPr/>
        </p:nvPicPr>
        <p:blipFill>
          <a:blip r:embed="rId4" cstate="print"/>
          <a:srcRect/>
          <a:stretch>
            <a:fillRect/>
          </a:stretch>
        </p:blipFill>
        <p:spPr bwMode="auto">
          <a:xfrm>
            <a:off x="3661251" y="4437112"/>
            <a:ext cx="5287010" cy="1872208"/>
          </a:xfrm>
          <a:prstGeom prst="rect">
            <a:avLst/>
          </a:prstGeom>
          <a:noFill/>
          <a:ln w="9525">
            <a:noFill/>
            <a:miter lim="800000"/>
            <a:headEnd/>
            <a:tailEnd/>
          </a:ln>
        </p:spPr>
      </p:pic>
      <p:sp>
        <p:nvSpPr>
          <p:cNvPr id="6" name="加號 5"/>
          <p:cNvSpPr/>
          <p:nvPr/>
        </p:nvSpPr>
        <p:spPr>
          <a:xfrm rot="18900000">
            <a:off x="766593" y="766591"/>
            <a:ext cx="3701432" cy="3701432"/>
          </a:xfrm>
          <a:prstGeom prst="mathPlus">
            <a:avLst>
              <a:gd name="adj1" fmla="val 13414"/>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a:p>
        </p:txBody>
      </p:sp>
      <p:sp>
        <p:nvSpPr>
          <p:cNvPr id="7" name="向右箭號 6"/>
          <p:cNvSpPr/>
          <p:nvPr/>
        </p:nvSpPr>
        <p:spPr>
          <a:xfrm rot="2853448">
            <a:off x="4112139" y="3701489"/>
            <a:ext cx="604257" cy="581173"/>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Tree>
    <p:extLst>
      <p:ext uri="{BB962C8B-B14F-4D97-AF65-F5344CB8AC3E}">
        <p14:creationId xmlns="" xmlns:p14="http://schemas.microsoft.com/office/powerpoint/2010/main" val="620944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000"/>
                                        <p:tgtEl>
                                          <p:spTgt spid="7"/>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2051"/>
                                        </p:tgtEl>
                                        <p:attrNameLst>
                                          <p:attrName>style.visibility</p:attrName>
                                        </p:attrNameLst>
                                      </p:cBhvr>
                                      <p:to>
                                        <p:strVal val="visible"/>
                                      </p:to>
                                    </p:set>
                                    <p:animEffect transition="in" filter="fade">
                                      <p:cBhvr>
                                        <p:cTn id="15" dur="10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Data Model (cont.)</a:t>
            </a:r>
            <a:endParaRPr lang="zh-TW" altLang="en-US" dirty="0"/>
          </a:p>
        </p:txBody>
      </p:sp>
      <p:sp>
        <p:nvSpPr>
          <p:cNvPr id="3" name="內容版面配置區 2"/>
          <p:cNvSpPr>
            <a:spLocks noGrp="1"/>
          </p:cNvSpPr>
          <p:nvPr>
            <p:ph idx="1"/>
          </p:nvPr>
        </p:nvSpPr>
        <p:spPr>
          <a:xfrm>
            <a:off x="457200" y="1600200"/>
            <a:ext cx="8229600" cy="4997152"/>
          </a:xfrm>
        </p:spPr>
        <p:txBody>
          <a:bodyPr>
            <a:normAutofit lnSpcReduction="10000"/>
          </a:bodyPr>
          <a:lstStyle/>
          <a:p>
            <a:r>
              <a:rPr lang="en-US" altLang="zh-TW" dirty="0" smtClean="0">
                <a:latin typeface="+mj-lt"/>
              </a:rPr>
              <a:t>Data are stored in tables of rows and columns</a:t>
            </a:r>
          </a:p>
          <a:p>
            <a:pPr lvl="1"/>
            <a:r>
              <a:rPr lang="en-US" altLang="zh-TW" dirty="0" smtClean="0">
                <a:latin typeface="+mj-lt"/>
              </a:rPr>
              <a:t>Columns are grouped into column families</a:t>
            </a:r>
          </a:p>
          <a:p>
            <a:pPr lvl="2"/>
            <a:r>
              <a:rPr lang="en-US" altLang="zh-TW" dirty="0" smtClean="0">
                <a:latin typeface="+mj-lt"/>
              </a:rPr>
              <a:t>A column name has the form “&lt;family&gt;:&lt;label&gt;”</a:t>
            </a:r>
          </a:p>
          <a:p>
            <a:pPr lvl="2"/>
            <a:r>
              <a:rPr lang="en-US" altLang="zh-TW" dirty="0" smtClean="0">
                <a:latin typeface="+mj-lt"/>
              </a:rPr>
              <a:t>Table consists of 1+ “column families”</a:t>
            </a:r>
          </a:p>
          <a:p>
            <a:pPr lvl="2"/>
            <a:r>
              <a:rPr lang="en-US" altLang="zh-TW" dirty="0" smtClean="0">
                <a:latin typeface="+mj-lt"/>
              </a:rPr>
              <a:t>Column family is unit of performance tuning</a:t>
            </a:r>
          </a:p>
          <a:p>
            <a:pPr lvl="1"/>
            <a:r>
              <a:rPr lang="en-US" altLang="zh-TW" dirty="0" smtClean="0">
                <a:latin typeface="+mj-lt"/>
              </a:rPr>
              <a:t>Rows are sorted by row key, the table's primary key</a:t>
            </a:r>
          </a:p>
          <a:p>
            <a:r>
              <a:rPr lang="en-US" altLang="zh-TW" dirty="0" smtClean="0">
                <a:latin typeface="+mj-lt"/>
              </a:rPr>
              <a:t>Cells are ”versioned”</a:t>
            </a:r>
          </a:p>
          <a:p>
            <a:pPr lvl="1"/>
            <a:r>
              <a:rPr lang="en-US" altLang="zh-TW" dirty="0" smtClean="0">
                <a:latin typeface="+mj-lt"/>
              </a:rPr>
              <a:t>Each row id + column – stored with timestamp</a:t>
            </a:r>
          </a:p>
          <a:p>
            <a:pPr lvl="2"/>
            <a:r>
              <a:rPr lang="en-US" altLang="zh-TW" dirty="0" err="1" smtClean="0"/>
              <a:t>Hbase</a:t>
            </a:r>
            <a:r>
              <a:rPr lang="en-US" altLang="zh-TW" dirty="0" smtClean="0"/>
              <a:t> stores multiple versions</a:t>
            </a:r>
            <a:endParaRPr lang="en-US" altLang="zh-TW" dirty="0" smtClean="0">
              <a:latin typeface="+mj-lt"/>
            </a:endParaRPr>
          </a:p>
          <a:p>
            <a:pPr lvl="2"/>
            <a:r>
              <a:rPr lang="en-US" altLang="zh-TW" sz="1800" dirty="0" smtClean="0">
                <a:latin typeface="+mj-lt"/>
              </a:rPr>
              <a:t>(table, row, &lt;family&gt;:&lt;label&gt;, timestamp) ⟶ value</a:t>
            </a:r>
            <a:endParaRPr lang="en-US" altLang="zh-TW" dirty="0" smtClean="0">
              <a:latin typeface="+mj-lt"/>
            </a:endParaRPr>
          </a:p>
          <a:p>
            <a:pPr lvl="1"/>
            <a:r>
              <a:rPr lang="en-US" altLang="zh-TW" dirty="0" smtClean="0">
                <a:latin typeface="+mj-lt"/>
              </a:rPr>
              <a:t>Can be useful to recover data due to bugs</a:t>
            </a:r>
          </a:p>
          <a:p>
            <a:pPr lvl="1"/>
            <a:r>
              <a:rPr lang="en-US" altLang="zh-TW" dirty="0" smtClean="0">
                <a:latin typeface="+mj-lt"/>
              </a:rPr>
              <a:t>Use to detect write conflicts/collisions</a:t>
            </a:r>
          </a:p>
        </p:txBody>
      </p:sp>
    </p:spTree>
    <p:extLst>
      <p:ext uri="{BB962C8B-B14F-4D97-AF65-F5344CB8AC3E}">
        <p14:creationId xmlns="" xmlns:p14="http://schemas.microsoft.com/office/powerpoint/2010/main" val="3302901996"/>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Example</a:t>
            </a:r>
            <a:endParaRPr lang="zh-TW" altLang="en-US" b="0" dirty="0"/>
          </a:p>
        </p:txBody>
      </p:sp>
      <p:pic>
        <p:nvPicPr>
          <p:cNvPr id="2050" name="Picture 2"/>
          <p:cNvPicPr>
            <a:picLocks noChangeAspect="1" noChangeArrowheads="1"/>
          </p:cNvPicPr>
          <p:nvPr/>
        </p:nvPicPr>
        <p:blipFill>
          <a:blip r:embed="rId3" cstate="print"/>
          <a:srcRect/>
          <a:stretch>
            <a:fillRect/>
          </a:stretch>
        </p:blipFill>
        <p:spPr bwMode="auto">
          <a:xfrm>
            <a:off x="179512" y="4005064"/>
            <a:ext cx="4127708" cy="1519582"/>
          </a:xfrm>
          <a:prstGeom prst="rect">
            <a:avLst/>
          </a:prstGeom>
          <a:noFill/>
          <a:ln w="9525">
            <a:noFill/>
            <a:miter lim="800000"/>
            <a:headEnd/>
            <a:tailEnd/>
          </a:ln>
        </p:spPr>
      </p:pic>
      <p:pic>
        <p:nvPicPr>
          <p:cNvPr id="2051" name="Picture 3"/>
          <p:cNvPicPr>
            <a:picLocks noChangeAspect="1" noChangeArrowheads="1"/>
          </p:cNvPicPr>
          <p:nvPr/>
        </p:nvPicPr>
        <p:blipFill>
          <a:blip r:embed="rId4" cstate="print"/>
          <a:srcRect/>
          <a:stretch>
            <a:fillRect/>
          </a:stretch>
        </p:blipFill>
        <p:spPr bwMode="auto">
          <a:xfrm>
            <a:off x="4788024" y="4035264"/>
            <a:ext cx="4032734" cy="905904"/>
          </a:xfrm>
          <a:prstGeom prst="rect">
            <a:avLst/>
          </a:prstGeom>
          <a:noFill/>
          <a:ln w="9525">
            <a:noFill/>
            <a:miter lim="800000"/>
            <a:headEnd/>
            <a:tailEnd/>
          </a:ln>
        </p:spPr>
      </p:pic>
      <p:pic>
        <p:nvPicPr>
          <p:cNvPr id="2052" name="Picture 4"/>
          <p:cNvPicPr>
            <a:picLocks noChangeAspect="1" noChangeArrowheads="1"/>
          </p:cNvPicPr>
          <p:nvPr/>
        </p:nvPicPr>
        <p:blipFill>
          <a:blip r:embed="rId5" cstate="print"/>
          <a:srcRect/>
          <a:stretch>
            <a:fillRect/>
          </a:stretch>
        </p:blipFill>
        <p:spPr bwMode="auto">
          <a:xfrm>
            <a:off x="179512" y="5583221"/>
            <a:ext cx="6122158" cy="1183520"/>
          </a:xfrm>
          <a:prstGeom prst="rect">
            <a:avLst/>
          </a:prstGeom>
          <a:noFill/>
          <a:ln w="9525">
            <a:noFill/>
            <a:miter lim="800000"/>
            <a:headEnd/>
            <a:tailEnd/>
          </a:ln>
        </p:spPr>
      </p:pic>
      <p:sp>
        <p:nvSpPr>
          <p:cNvPr id="8" name="向下箭號 7"/>
          <p:cNvSpPr/>
          <p:nvPr/>
        </p:nvSpPr>
        <p:spPr>
          <a:xfrm>
            <a:off x="3707904" y="3463300"/>
            <a:ext cx="1656184" cy="36004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pic>
        <p:nvPicPr>
          <p:cNvPr id="2053" name="Picture 5"/>
          <p:cNvPicPr>
            <a:picLocks noChangeAspect="1" noChangeArrowheads="1"/>
          </p:cNvPicPr>
          <p:nvPr/>
        </p:nvPicPr>
        <p:blipFill>
          <a:blip r:embed="rId6" cstate="print"/>
          <a:srcRect/>
          <a:stretch>
            <a:fillRect/>
          </a:stretch>
        </p:blipFill>
        <p:spPr bwMode="auto">
          <a:xfrm>
            <a:off x="179512" y="1196752"/>
            <a:ext cx="8784976" cy="2107526"/>
          </a:xfrm>
          <a:prstGeom prst="rect">
            <a:avLst/>
          </a:prstGeom>
          <a:noFill/>
          <a:ln w="9525">
            <a:noFill/>
            <a:miter lim="800000"/>
            <a:headEnd/>
            <a:tailEnd/>
          </a:ln>
        </p:spPr>
      </p:pic>
      <p:sp>
        <p:nvSpPr>
          <p:cNvPr id="9" name="矩形 8"/>
          <p:cNvSpPr/>
          <p:nvPr/>
        </p:nvSpPr>
        <p:spPr>
          <a:xfrm>
            <a:off x="107504" y="1124744"/>
            <a:ext cx="8928992" cy="2232248"/>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000" b="1" dirty="0" smtClean="0"/>
              <a:t>Conceptual View</a:t>
            </a:r>
          </a:p>
        </p:txBody>
      </p:sp>
      <p:sp>
        <p:nvSpPr>
          <p:cNvPr id="10" name="矩形 9"/>
          <p:cNvSpPr/>
          <p:nvPr/>
        </p:nvSpPr>
        <p:spPr>
          <a:xfrm>
            <a:off x="113124" y="3914202"/>
            <a:ext cx="8928992" cy="2924944"/>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b="1" dirty="0" smtClean="0"/>
              <a:t>Physical Storage View</a:t>
            </a:r>
            <a:endParaRPr lang="en-US" altLang="zh-TW" sz="3200" b="1" dirty="0"/>
          </a:p>
        </p:txBody>
      </p:sp>
    </p:spTree>
    <p:extLst>
      <p:ext uri="{BB962C8B-B14F-4D97-AF65-F5344CB8AC3E}">
        <p14:creationId xmlns="" xmlns:p14="http://schemas.microsoft.com/office/powerpoint/2010/main" val="3630865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2050"/>
                                        </p:tgtEl>
                                        <p:attrNameLst>
                                          <p:attrName>style.visibility</p:attrName>
                                        </p:attrNameLst>
                                      </p:cBhvr>
                                      <p:to>
                                        <p:strVal val="visible"/>
                                      </p:to>
                                    </p:set>
                                    <p:animEffect transition="in" filter="fade">
                                      <p:cBhvr>
                                        <p:cTn id="15" dur="1000"/>
                                        <p:tgtEl>
                                          <p:spTgt spid="2050"/>
                                        </p:tgtEl>
                                      </p:cBhvr>
                                    </p:animEffect>
                                  </p:childTnLst>
                                </p:cTn>
                              </p:par>
                              <p:par>
                                <p:cTn id="16" presetID="10" presetClass="entr" presetSubtype="0" fill="hold" nodeType="withEffect">
                                  <p:stCondLst>
                                    <p:cond delay="0"/>
                                  </p:stCondLst>
                                  <p:childTnLst>
                                    <p:set>
                                      <p:cBhvr>
                                        <p:cTn id="17" dur="1" fill="hold">
                                          <p:stCondLst>
                                            <p:cond delay="0"/>
                                          </p:stCondLst>
                                        </p:cTn>
                                        <p:tgtEl>
                                          <p:spTgt spid="2051"/>
                                        </p:tgtEl>
                                        <p:attrNameLst>
                                          <p:attrName>style.visibility</p:attrName>
                                        </p:attrNameLst>
                                      </p:cBhvr>
                                      <p:to>
                                        <p:strVal val="visible"/>
                                      </p:to>
                                    </p:set>
                                    <p:animEffect transition="in" filter="fade">
                                      <p:cBhvr>
                                        <p:cTn id="18" dur="1000"/>
                                        <p:tgtEl>
                                          <p:spTgt spid="2051"/>
                                        </p:tgtEl>
                                      </p:cBhvr>
                                    </p:animEffect>
                                  </p:childTnLst>
                                </p:cTn>
                              </p:par>
                              <p:par>
                                <p:cTn id="19" presetID="10" presetClass="entr" presetSubtype="0" fill="hold" nodeType="withEffect">
                                  <p:stCondLst>
                                    <p:cond delay="0"/>
                                  </p:stCondLst>
                                  <p:childTnLst>
                                    <p:set>
                                      <p:cBhvr>
                                        <p:cTn id="20" dur="1" fill="hold">
                                          <p:stCondLst>
                                            <p:cond delay="0"/>
                                          </p:stCondLst>
                                        </p:cTn>
                                        <p:tgtEl>
                                          <p:spTgt spid="2052"/>
                                        </p:tgtEl>
                                        <p:attrNameLst>
                                          <p:attrName>style.visibility</p:attrName>
                                        </p:attrNameLst>
                                      </p:cBhvr>
                                      <p:to>
                                        <p:strVal val="visible"/>
                                      </p:to>
                                    </p:set>
                                    <p:animEffect transition="in" filter="fade">
                                      <p:cBhvr>
                                        <p:cTn id="21" dur="1000"/>
                                        <p:tgtEl>
                                          <p:spTgt spid="205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Hbase</a:t>
            </a:r>
            <a:r>
              <a:rPr lang="en-US" altLang="zh-TW" dirty="0" smtClean="0"/>
              <a:t> w/ </a:t>
            </a:r>
            <a:r>
              <a:rPr lang="en-US" altLang="zh-TW" dirty="0" err="1" smtClean="0"/>
              <a:t>Hadoop</a:t>
            </a:r>
            <a:endParaRPr lang="zh-TW" altLang="en-US" dirty="0"/>
          </a:p>
        </p:txBody>
      </p:sp>
      <p:sp>
        <p:nvSpPr>
          <p:cNvPr id="3" name="內容版面配置區 2"/>
          <p:cNvSpPr>
            <a:spLocks noGrp="1"/>
          </p:cNvSpPr>
          <p:nvPr>
            <p:ph idx="1"/>
          </p:nvPr>
        </p:nvSpPr>
        <p:spPr/>
        <p:txBody>
          <a:bodyPr/>
          <a:lstStyle/>
          <a:p>
            <a:r>
              <a:rPr lang="en-US" altLang="zh-TW" dirty="0" smtClean="0">
                <a:latin typeface="+mj-lt"/>
              </a:rPr>
              <a:t>Easy integration with </a:t>
            </a:r>
            <a:r>
              <a:rPr lang="en-US" altLang="zh-TW" dirty="0" err="1" smtClean="0">
                <a:latin typeface="+mj-lt"/>
              </a:rPr>
              <a:t>Hadoop</a:t>
            </a:r>
            <a:r>
              <a:rPr lang="en-US" altLang="zh-TW" dirty="0" smtClean="0">
                <a:latin typeface="+mj-lt"/>
              </a:rPr>
              <a:t> </a:t>
            </a:r>
            <a:r>
              <a:rPr lang="en-US" altLang="zh-TW" dirty="0" err="1" smtClean="0">
                <a:latin typeface="+mj-lt"/>
              </a:rPr>
              <a:t>MapReduce</a:t>
            </a:r>
            <a:r>
              <a:rPr lang="en-US" altLang="zh-TW" dirty="0" smtClean="0">
                <a:latin typeface="+mj-lt"/>
              </a:rPr>
              <a:t>(MR)</a:t>
            </a:r>
          </a:p>
          <a:p>
            <a:pPr lvl="1"/>
            <a:r>
              <a:rPr lang="en-US" altLang="zh-TW" dirty="0" smtClean="0">
                <a:latin typeface="+mj-lt"/>
              </a:rPr>
              <a:t>Table input and output formats ship</a:t>
            </a:r>
          </a:p>
          <a:p>
            <a:r>
              <a:rPr lang="en-US" altLang="zh-TW" dirty="0" smtClean="0">
                <a:latin typeface="+mj-lt"/>
              </a:rPr>
              <a:t>Look from HDFS (HDFS Requirements Matrix)</a:t>
            </a:r>
          </a:p>
          <a:p>
            <a:pPr lvl="1"/>
            <a:endParaRPr lang="en-US" altLang="zh-TW" dirty="0" smtClean="0">
              <a:latin typeface="+mj-lt"/>
            </a:endParaRPr>
          </a:p>
          <a:p>
            <a:endParaRPr lang="zh-TW" altLang="en-US" dirty="0">
              <a:latin typeface="+mj-lt"/>
            </a:endParaRPr>
          </a:p>
        </p:txBody>
      </p:sp>
      <p:pic>
        <p:nvPicPr>
          <p:cNvPr id="4098" name="Picture 2"/>
          <p:cNvPicPr>
            <a:picLocks noChangeAspect="1" noChangeArrowheads="1"/>
          </p:cNvPicPr>
          <p:nvPr/>
        </p:nvPicPr>
        <p:blipFill>
          <a:blip r:embed="rId3" cstate="print"/>
          <a:srcRect/>
          <a:stretch>
            <a:fillRect/>
          </a:stretch>
        </p:blipFill>
        <p:spPr bwMode="auto">
          <a:xfrm>
            <a:off x="1331640" y="3140968"/>
            <a:ext cx="6932446" cy="3456384"/>
          </a:xfrm>
          <a:prstGeom prst="rect">
            <a:avLst/>
          </a:prstGeom>
          <a:noFill/>
          <a:ln w="9525">
            <a:noFill/>
            <a:miter lim="800000"/>
            <a:headEnd/>
            <a:tailEnd/>
          </a:ln>
        </p:spPr>
      </p:pic>
      <p:pic>
        <p:nvPicPr>
          <p:cNvPr id="5" name="Picture 2"/>
          <p:cNvPicPr>
            <a:picLocks noChangeAspect="1" noChangeArrowheads="1"/>
          </p:cNvPicPr>
          <p:nvPr/>
        </p:nvPicPr>
        <p:blipFill>
          <a:blip r:embed="rId4" cstate="print"/>
          <a:srcRect/>
          <a:stretch>
            <a:fillRect/>
          </a:stretch>
        </p:blipFill>
        <p:spPr bwMode="auto">
          <a:xfrm>
            <a:off x="1331640" y="3123586"/>
            <a:ext cx="6912768" cy="3473766"/>
          </a:xfrm>
          <a:prstGeom prst="rect">
            <a:avLst/>
          </a:prstGeom>
          <a:noFill/>
          <a:ln w="9525">
            <a:noFill/>
            <a:miter lim="800000"/>
            <a:headEnd/>
            <a:tailEnd/>
          </a:ln>
        </p:spPr>
      </p:pic>
    </p:spTree>
    <p:extLst>
      <p:ext uri="{BB962C8B-B14F-4D97-AF65-F5344CB8AC3E}">
        <p14:creationId xmlns="" xmlns:p14="http://schemas.microsoft.com/office/powerpoint/2010/main" val="954713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Hbase</a:t>
            </a:r>
            <a:endParaRPr lang="zh-TW" altLang="en-US" dirty="0"/>
          </a:p>
        </p:txBody>
      </p:sp>
      <p:sp>
        <p:nvSpPr>
          <p:cNvPr id="3" name="內容版面配置區 2"/>
          <p:cNvSpPr>
            <a:spLocks noGrp="1"/>
          </p:cNvSpPr>
          <p:nvPr>
            <p:ph idx="1"/>
          </p:nvPr>
        </p:nvSpPr>
        <p:spPr/>
        <p:txBody>
          <a:bodyPr/>
          <a:lstStyle/>
          <a:p>
            <a:r>
              <a:rPr lang="en-US" altLang="zh-TW" dirty="0" smtClean="0">
                <a:solidFill>
                  <a:schemeClr val="bg1">
                    <a:lumMod val="50000"/>
                  </a:schemeClr>
                </a:solidFill>
                <a:latin typeface="+mj-lt"/>
              </a:rPr>
              <a:t>Overview</a:t>
            </a:r>
          </a:p>
          <a:p>
            <a:r>
              <a:rPr lang="en-US" altLang="zh-TW" dirty="0">
                <a:solidFill>
                  <a:schemeClr val="bg1">
                    <a:lumMod val="50000"/>
                  </a:schemeClr>
                </a:solidFill>
                <a:latin typeface="+mj-lt"/>
              </a:rPr>
              <a:t>Architecture</a:t>
            </a:r>
          </a:p>
          <a:p>
            <a:r>
              <a:rPr lang="en-US" altLang="zh-TW" dirty="0">
                <a:solidFill>
                  <a:schemeClr val="bg1">
                    <a:lumMod val="50000"/>
                  </a:schemeClr>
                </a:solidFill>
                <a:latin typeface="+mj-lt"/>
              </a:rPr>
              <a:t>Data Model</a:t>
            </a:r>
          </a:p>
          <a:p>
            <a:r>
              <a:rPr lang="en-US" altLang="zh-TW" dirty="0">
                <a:latin typeface="+mj-lt"/>
              </a:rPr>
              <a:t>Different from </a:t>
            </a:r>
            <a:r>
              <a:rPr lang="en-US" altLang="zh-TW" dirty="0" err="1">
                <a:latin typeface="+mj-lt"/>
              </a:rPr>
              <a:t>Bigtable</a:t>
            </a:r>
            <a:endParaRPr lang="en-US" altLang="zh-TW" dirty="0">
              <a:latin typeface="+mj-lt"/>
            </a:endParaRPr>
          </a:p>
          <a:p>
            <a:endParaRPr lang="zh-TW" altLang="en-US" dirty="0">
              <a:latin typeface="+mj-lt"/>
            </a:endParaRPr>
          </a:p>
        </p:txBody>
      </p:sp>
    </p:spTree>
    <p:extLst>
      <p:ext uri="{BB962C8B-B14F-4D97-AF65-F5344CB8AC3E}">
        <p14:creationId xmlns="" xmlns:p14="http://schemas.microsoft.com/office/powerpoint/2010/main" val="310102120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Different from </a:t>
            </a:r>
            <a:r>
              <a:rPr lang="en-US" altLang="zh-TW" dirty="0" err="1" smtClean="0"/>
              <a:t>Bigtable</a:t>
            </a:r>
            <a:endParaRPr lang="zh-TW" altLang="en-US" dirty="0"/>
          </a:p>
        </p:txBody>
      </p:sp>
      <p:sp>
        <p:nvSpPr>
          <p:cNvPr id="3" name="內容版面配置區 2"/>
          <p:cNvSpPr>
            <a:spLocks noGrp="1"/>
          </p:cNvSpPr>
          <p:nvPr>
            <p:ph idx="1"/>
          </p:nvPr>
        </p:nvSpPr>
        <p:spPr>
          <a:xfrm>
            <a:off x="457200" y="1600200"/>
            <a:ext cx="8229600" cy="4853136"/>
          </a:xfrm>
        </p:spPr>
        <p:txBody>
          <a:bodyPr>
            <a:normAutofit/>
          </a:bodyPr>
          <a:lstStyle/>
          <a:p>
            <a:r>
              <a:rPr lang="en-US" altLang="zh-TW" dirty="0" smtClean="0">
                <a:latin typeface="+mj-lt"/>
              </a:rPr>
              <a:t>Number of Master</a:t>
            </a:r>
          </a:p>
          <a:p>
            <a:pPr lvl="1"/>
            <a:r>
              <a:rPr lang="en-US" altLang="zh-TW" dirty="0" err="1" smtClean="0">
                <a:latin typeface="+mj-lt"/>
              </a:rPr>
              <a:t>Hbase</a:t>
            </a:r>
            <a:r>
              <a:rPr lang="en-US" altLang="zh-TW" dirty="0" smtClean="0">
                <a:latin typeface="+mj-lt"/>
              </a:rPr>
              <a:t> added support for multiple masters. These are on "hot" standby and monitor the master's </a:t>
            </a:r>
            <a:r>
              <a:rPr lang="en-US" altLang="zh-TW" dirty="0" err="1" smtClean="0">
                <a:latin typeface="+mj-lt"/>
              </a:rPr>
              <a:t>ZooKeeper</a:t>
            </a:r>
            <a:r>
              <a:rPr lang="en-US" altLang="zh-TW" dirty="0" smtClean="0">
                <a:latin typeface="+mj-lt"/>
              </a:rPr>
              <a:t> node</a:t>
            </a:r>
          </a:p>
          <a:p>
            <a:r>
              <a:rPr lang="en-US" altLang="zh-TW" dirty="0" smtClean="0">
                <a:latin typeface="+mj-lt"/>
              </a:rPr>
              <a:t>Storage System</a:t>
            </a:r>
          </a:p>
          <a:p>
            <a:pPr lvl="1"/>
            <a:r>
              <a:rPr lang="en-US" altLang="zh-TW" dirty="0" err="1" smtClean="0">
                <a:latin typeface="+mj-lt"/>
              </a:rPr>
              <a:t>Hbase</a:t>
            </a:r>
            <a:r>
              <a:rPr lang="en-US" altLang="zh-TW" dirty="0" smtClean="0">
                <a:latin typeface="+mj-lt"/>
              </a:rPr>
              <a:t> has the option to use any file system as long as there is a proxy or driver class for it</a:t>
            </a:r>
          </a:p>
          <a:p>
            <a:pPr lvl="2"/>
            <a:r>
              <a:rPr lang="en-US" altLang="zh-TW" dirty="0" smtClean="0">
                <a:latin typeface="+mj-lt"/>
              </a:rPr>
              <a:t>HDFS, S3(Simple Storage Service), S3N(S3 Native </a:t>
            </a:r>
            <a:r>
              <a:rPr lang="en-US" altLang="zh-TW" dirty="0" err="1" smtClean="0">
                <a:latin typeface="+mj-lt"/>
              </a:rPr>
              <a:t>FileSystem</a:t>
            </a:r>
            <a:r>
              <a:rPr lang="en-US" altLang="zh-TW" dirty="0" smtClean="0">
                <a:latin typeface="+mj-lt"/>
              </a:rPr>
              <a:t>)</a:t>
            </a:r>
          </a:p>
          <a:p>
            <a:r>
              <a:rPr lang="en-US" altLang="zh-TW" dirty="0" smtClean="0">
                <a:latin typeface="+mj-lt"/>
              </a:rPr>
              <a:t>Memory Mapping</a:t>
            </a:r>
          </a:p>
          <a:p>
            <a:pPr lvl="1"/>
            <a:r>
              <a:rPr lang="en-US" altLang="zh-TW" dirty="0" err="1" smtClean="0">
                <a:latin typeface="+mj-lt"/>
              </a:rPr>
              <a:t>BigTable</a:t>
            </a:r>
            <a:r>
              <a:rPr lang="en-US" altLang="zh-TW" dirty="0" smtClean="0">
                <a:latin typeface="+mj-lt"/>
              </a:rPr>
              <a:t> can memory map storage files directly into memory</a:t>
            </a:r>
          </a:p>
        </p:txBody>
      </p:sp>
    </p:spTree>
    <p:extLst>
      <p:ext uri="{BB962C8B-B14F-4D97-AF65-F5344CB8AC3E}">
        <p14:creationId xmlns="" xmlns:p14="http://schemas.microsoft.com/office/powerpoint/2010/main" val="228636446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Different from </a:t>
            </a:r>
            <a:r>
              <a:rPr lang="en-US" altLang="zh-TW" dirty="0" err="1" smtClean="0"/>
              <a:t>Bigtable</a:t>
            </a:r>
            <a:r>
              <a:rPr lang="en-US" altLang="zh-TW" dirty="0" smtClean="0"/>
              <a:t> (cont.)</a:t>
            </a:r>
            <a:endParaRPr lang="zh-TW" altLang="en-US" dirty="0"/>
          </a:p>
        </p:txBody>
      </p:sp>
      <p:sp>
        <p:nvSpPr>
          <p:cNvPr id="3" name="內容版面配置區 2"/>
          <p:cNvSpPr>
            <a:spLocks noGrp="1"/>
          </p:cNvSpPr>
          <p:nvPr>
            <p:ph idx="1"/>
          </p:nvPr>
        </p:nvSpPr>
        <p:spPr/>
        <p:txBody>
          <a:bodyPr/>
          <a:lstStyle/>
          <a:p>
            <a:r>
              <a:rPr lang="en-US" altLang="zh-TW" dirty="0" smtClean="0">
                <a:latin typeface="+mj-lt"/>
              </a:rPr>
              <a:t>Lock Service</a:t>
            </a:r>
          </a:p>
          <a:p>
            <a:pPr lvl="1"/>
            <a:r>
              <a:rPr lang="en-US" altLang="zh-TW" dirty="0" err="1" smtClean="0">
                <a:latin typeface="+mj-lt"/>
              </a:rPr>
              <a:t>ZooKeeper</a:t>
            </a:r>
            <a:r>
              <a:rPr lang="en-US" altLang="zh-TW" dirty="0" smtClean="0">
                <a:latin typeface="+mj-lt"/>
              </a:rPr>
              <a:t> is used to coordinate tasks in </a:t>
            </a:r>
            <a:r>
              <a:rPr lang="en-US" altLang="zh-TW" dirty="0" err="1" smtClean="0">
                <a:latin typeface="+mj-lt"/>
              </a:rPr>
              <a:t>Hbase</a:t>
            </a:r>
            <a:r>
              <a:rPr lang="en-US" altLang="zh-TW" dirty="0" smtClean="0">
                <a:latin typeface="+mj-lt"/>
              </a:rPr>
              <a:t> as opposed to provide locking services</a:t>
            </a:r>
          </a:p>
          <a:p>
            <a:pPr lvl="1"/>
            <a:r>
              <a:rPr lang="en-US" altLang="zh-TW" dirty="0" err="1" smtClean="0">
                <a:latin typeface="+mj-lt"/>
              </a:rPr>
              <a:t>ZooKeeper</a:t>
            </a:r>
            <a:r>
              <a:rPr lang="en-US" altLang="zh-TW" dirty="0" smtClean="0">
                <a:latin typeface="+mj-lt"/>
              </a:rPr>
              <a:t> does for </a:t>
            </a:r>
            <a:r>
              <a:rPr lang="en-US" altLang="zh-TW" dirty="0" err="1" smtClean="0">
                <a:latin typeface="+mj-lt"/>
              </a:rPr>
              <a:t>Hbase</a:t>
            </a:r>
            <a:r>
              <a:rPr lang="en-US" altLang="zh-TW" dirty="0" smtClean="0">
                <a:latin typeface="+mj-lt"/>
              </a:rPr>
              <a:t> pretty much what Chubby does for </a:t>
            </a:r>
            <a:r>
              <a:rPr lang="en-US" altLang="zh-TW" dirty="0" err="1" smtClean="0">
                <a:latin typeface="+mj-lt"/>
              </a:rPr>
              <a:t>BigTable</a:t>
            </a:r>
            <a:r>
              <a:rPr lang="en-US" altLang="zh-TW" dirty="0" smtClean="0">
                <a:latin typeface="+mj-lt"/>
              </a:rPr>
              <a:t> with slightly different semantics</a:t>
            </a:r>
          </a:p>
          <a:p>
            <a:r>
              <a:rPr lang="en-US" altLang="zh-TW" dirty="0" smtClean="0">
                <a:latin typeface="+mj-lt"/>
              </a:rPr>
              <a:t>Locality Groups</a:t>
            </a:r>
            <a:endParaRPr lang="zh-TW" altLang="en-US" dirty="0" smtClean="0">
              <a:latin typeface="+mj-lt"/>
            </a:endParaRPr>
          </a:p>
          <a:p>
            <a:pPr lvl="1"/>
            <a:r>
              <a:rPr lang="en-US" altLang="zh-TW" dirty="0" err="1" smtClean="0">
                <a:latin typeface="+mj-lt"/>
              </a:rPr>
              <a:t>Hbase</a:t>
            </a:r>
            <a:r>
              <a:rPr lang="en-US" altLang="zh-TW" dirty="0" smtClean="0">
                <a:latin typeface="+mj-lt"/>
              </a:rPr>
              <a:t> does not have this option and handles each column family separately</a:t>
            </a:r>
            <a:endParaRPr lang="zh-TW" altLang="en-US" dirty="0">
              <a:latin typeface="+mj-lt"/>
            </a:endParaRPr>
          </a:p>
        </p:txBody>
      </p:sp>
    </p:spTree>
    <p:extLst>
      <p:ext uri="{BB962C8B-B14F-4D97-AF65-F5344CB8AC3E}">
        <p14:creationId xmlns="" xmlns:p14="http://schemas.microsoft.com/office/powerpoint/2010/main" val="216022298"/>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Summary</a:t>
            </a:r>
            <a:endParaRPr lang="zh-TW" altLang="en-US" dirty="0"/>
          </a:p>
        </p:txBody>
      </p:sp>
      <p:sp>
        <p:nvSpPr>
          <p:cNvPr id="3" name="內容版面配置區 2"/>
          <p:cNvSpPr>
            <a:spLocks noGrp="1"/>
          </p:cNvSpPr>
          <p:nvPr>
            <p:ph idx="1"/>
          </p:nvPr>
        </p:nvSpPr>
        <p:spPr/>
        <p:txBody>
          <a:bodyPr>
            <a:normAutofit lnSpcReduction="10000"/>
          </a:bodyPr>
          <a:lstStyle/>
          <a:p>
            <a:pPr lvl="0">
              <a:buClr>
                <a:srgbClr val="4F81BD">
                  <a:lumMod val="75000"/>
                </a:srgbClr>
              </a:buClr>
            </a:pPr>
            <a:r>
              <a:rPr lang="en-US" altLang="zh-TW" sz="2600" dirty="0">
                <a:solidFill>
                  <a:srgbClr val="1F497D">
                    <a:lumMod val="75000"/>
                  </a:srgbClr>
                </a:solidFill>
                <a:latin typeface="Calibri"/>
              </a:rPr>
              <a:t>Scalability</a:t>
            </a:r>
          </a:p>
          <a:p>
            <a:pPr lvl="1">
              <a:buClr>
                <a:srgbClr val="9BBB59">
                  <a:lumMod val="50000"/>
                </a:srgbClr>
              </a:buClr>
            </a:pPr>
            <a:r>
              <a:rPr lang="en-US" altLang="zh-TW" sz="2200" dirty="0">
                <a:solidFill>
                  <a:srgbClr val="9BBB59">
                    <a:lumMod val="50000"/>
                  </a:srgbClr>
                </a:solidFill>
                <a:latin typeface="Calibri"/>
              </a:rPr>
              <a:t>Provide scale-out storage capability of handling very large amounts of data.</a:t>
            </a:r>
          </a:p>
          <a:p>
            <a:pPr lvl="0">
              <a:buClr>
                <a:srgbClr val="4F81BD">
                  <a:lumMod val="75000"/>
                </a:srgbClr>
              </a:buClr>
            </a:pPr>
            <a:r>
              <a:rPr lang="en-US" altLang="zh-TW" sz="2600" dirty="0" smtClean="0">
                <a:solidFill>
                  <a:srgbClr val="1F497D">
                    <a:lumMod val="75000"/>
                  </a:srgbClr>
                </a:solidFill>
                <a:latin typeface="Calibri"/>
              </a:rPr>
              <a:t>Availability</a:t>
            </a:r>
          </a:p>
          <a:p>
            <a:pPr lvl="1">
              <a:buClr>
                <a:srgbClr val="9BBB59">
                  <a:lumMod val="50000"/>
                </a:srgbClr>
              </a:buClr>
            </a:pPr>
            <a:r>
              <a:rPr lang="en-US" altLang="zh-TW" sz="2200" dirty="0" smtClean="0">
                <a:solidFill>
                  <a:srgbClr val="9BBB59">
                    <a:lumMod val="50000"/>
                  </a:srgbClr>
                </a:solidFill>
                <a:latin typeface="Calibri"/>
              </a:rPr>
              <a:t>Provide the scheme of data replication based on a reliable </a:t>
            </a:r>
            <a:r>
              <a:rPr lang="en-US" altLang="zh-TW" sz="2200" dirty="0" err="1" smtClean="0">
                <a:solidFill>
                  <a:srgbClr val="9BBB59">
                    <a:lumMod val="50000"/>
                  </a:srgbClr>
                </a:solidFill>
                <a:latin typeface="Calibri"/>
              </a:rPr>
              <a:t>google</a:t>
            </a:r>
            <a:r>
              <a:rPr lang="en-US" altLang="zh-TW" sz="2200" dirty="0" smtClean="0">
                <a:solidFill>
                  <a:srgbClr val="9BBB59">
                    <a:lumMod val="50000"/>
                  </a:srgbClr>
                </a:solidFill>
                <a:latin typeface="Calibri"/>
              </a:rPr>
              <a:t> file system to support high availability for data store.</a:t>
            </a:r>
          </a:p>
          <a:p>
            <a:pPr lvl="0">
              <a:buClr>
                <a:srgbClr val="4F81BD">
                  <a:lumMod val="75000"/>
                </a:srgbClr>
              </a:buClr>
            </a:pPr>
            <a:r>
              <a:rPr lang="en-US" altLang="zh-TW" sz="2600" dirty="0" smtClean="0">
                <a:solidFill>
                  <a:srgbClr val="1F497D">
                    <a:lumMod val="75000"/>
                  </a:srgbClr>
                </a:solidFill>
                <a:latin typeface="Calibri"/>
              </a:rPr>
              <a:t>Manageability </a:t>
            </a:r>
            <a:endParaRPr lang="en-US" altLang="zh-TW" sz="2600" dirty="0">
              <a:solidFill>
                <a:srgbClr val="1F497D">
                  <a:lumMod val="75000"/>
                </a:srgbClr>
              </a:solidFill>
              <a:latin typeface="Calibri"/>
            </a:endParaRPr>
          </a:p>
          <a:p>
            <a:pPr lvl="1">
              <a:buClr>
                <a:srgbClr val="9BBB59">
                  <a:lumMod val="50000"/>
                </a:srgbClr>
              </a:buClr>
            </a:pPr>
            <a:r>
              <a:rPr lang="en-US" altLang="zh-TW" sz="2200" dirty="0">
                <a:solidFill>
                  <a:srgbClr val="9BBB59">
                    <a:lumMod val="50000"/>
                  </a:srgbClr>
                </a:solidFill>
                <a:latin typeface="Calibri"/>
              </a:rPr>
              <a:t>Provide mechanism for the system to automatically monitor itself and manage the massive data transparently for users.</a:t>
            </a:r>
          </a:p>
          <a:p>
            <a:pPr lvl="0">
              <a:buClr>
                <a:srgbClr val="4F81BD">
                  <a:lumMod val="75000"/>
                </a:srgbClr>
              </a:buClr>
            </a:pPr>
            <a:r>
              <a:rPr lang="en-US" altLang="zh-TW" sz="2600" dirty="0">
                <a:solidFill>
                  <a:srgbClr val="1F497D">
                    <a:lumMod val="75000"/>
                  </a:srgbClr>
                </a:solidFill>
                <a:latin typeface="Calibri"/>
              </a:rPr>
              <a:t>Performance</a:t>
            </a:r>
          </a:p>
          <a:p>
            <a:pPr lvl="1">
              <a:buClr>
                <a:srgbClr val="9BBB59">
                  <a:lumMod val="50000"/>
                </a:srgbClr>
              </a:buClr>
            </a:pPr>
            <a:r>
              <a:rPr lang="en-US" altLang="zh-TW" sz="2200" dirty="0">
                <a:solidFill>
                  <a:srgbClr val="9BBB59">
                    <a:lumMod val="50000"/>
                  </a:srgbClr>
                </a:solidFill>
                <a:latin typeface="Calibri"/>
              </a:rPr>
              <a:t>High sustained bandwidth is more important than low latency.</a:t>
            </a:r>
          </a:p>
          <a:p>
            <a:endParaRPr lang="zh-TW" altLang="en-US" dirty="0"/>
          </a:p>
        </p:txBody>
      </p:sp>
    </p:spTree>
    <p:extLst>
      <p:ext uri="{BB962C8B-B14F-4D97-AF65-F5344CB8AC3E}">
        <p14:creationId xmlns="" xmlns:p14="http://schemas.microsoft.com/office/powerpoint/2010/main" val="149375668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References</a:t>
            </a:r>
            <a:endParaRPr lang="zh-TW" altLang="en-US" dirty="0"/>
          </a:p>
        </p:txBody>
      </p:sp>
      <p:sp>
        <p:nvSpPr>
          <p:cNvPr id="3" name="內容版面配置區 2"/>
          <p:cNvSpPr>
            <a:spLocks noGrp="1"/>
          </p:cNvSpPr>
          <p:nvPr>
            <p:ph idx="1"/>
          </p:nvPr>
        </p:nvSpPr>
        <p:spPr>
          <a:xfrm>
            <a:off x="457200" y="1600200"/>
            <a:ext cx="8507288" cy="4525963"/>
          </a:xfrm>
        </p:spPr>
        <p:txBody>
          <a:bodyPr>
            <a:normAutofit fontScale="92500" lnSpcReduction="10000"/>
          </a:bodyPr>
          <a:lstStyle/>
          <a:p>
            <a:r>
              <a:rPr lang="en-US" altLang="zh-TW" dirty="0">
                <a:latin typeface="+mj-lt"/>
              </a:rPr>
              <a:t>Chang, F., et al. </a:t>
            </a:r>
            <a:r>
              <a:rPr lang="en-US" altLang="zh-TW" dirty="0" smtClean="0">
                <a:latin typeface="+mj-lt"/>
              </a:rPr>
              <a:t>“</a:t>
            </a:r>
            <a:r>
              <a:rPr lang="en-US" altLang="zh-TW" dirty="0" err="1" smtClean="0">
                <a:latin typeface="+mj-lt"/>
              </a:rPr>
              <a:t>Bigtable</a:t>
            </a:r>
            <a:r>
              <a:rPr lang="en-US" altLang="zh-TW" dirty="0">
                <a:latin typeface="+mj-lt"/>
              </a:rPr>
              <a:t>: A distributed </a:t>
            </a:r>
            <a:r>
              <a:rPr lang="en-US" altLang="zh-TW" dirty="0" smtClean="0">
                <a:latin typeface="+mj-lt"/>
              </a:rPr>
              <a:t>storage system </a:t>
            </a:r>
            <a:r>
              <a:rPr lang="en-US" altLang="zh-TW" dirty="0">
                <a:latin typeface="+mj-lt"/>
              </a:rPr>
              <a:t>for structured data</a:t>
            </a:r>
            <a:r>
              <a:rPr lang="en-US" altLang="zh-TW" dirty="0" smtClean="0">
                <a:latin typeface="+mj-lt"/>
              </a:rPr>
              <a:t>.” </a:t>
            </a:r>
            <a:r>
              <a:rPr lang="en-US" altLang="zh-TW" dirty="0">
                <a:latin typeface="+mj-lt"/>
              </a:rPr>
              <a:t>In OSDI (2006</a:t>
            </a:r>
            <a:r>
              <a:rPr lang="en-US" altLang="zh-TW" dirty="0" smtClean="0">
                <a:latin typeface="+mj-lt"/>
              </a:rPr>
              <a:t>).</a:t>
            </a:r>
            <a:endParaRPr lang="en-US" altLang="zh-TW" dirty="0">
              <a:latin typeface="+mj-lt"/>
            </a:endParaRPr>
          </a:p>
          <a:p>
            <a:r>
              <a:rPr lang="en-US" altLang="zh-TW" dirty="0" err="1" smtClean="0">
                <a:latin typeface="+mj-lt"/>
              </a:rPr>
              <a:t>Hbase</a:t>
            </a:r>
            <a:r>
              <a:rPr lang="en-US" altLang="zh-TW" dirty="0" smtClean="0">
                <a:latin typeface="+mj-lt"/>
              </a:rPr>
              <a:t>. </a:t>
            </a:r>
          </a:p>
          <a:p>
            <a:pPr lvl="1"/>
            <a:r>
              <a:rPr lang="en-US" altLang="zh-TW" dirty="0">
                <a:latin typeface="+mj-lt"/>
                <a:hlinkClick r:id="rId3"/>
              </a:rPr>
              <a:t>http://hbase.apache.org</a:t>
            </a:r>
            <a:r>
              <a:rPr lang="en-US" altLang="zh-TW" dirty="0" smtClean="0">
                <a:latin typeface="+mj-lt"/>
                <a:hlinkClick r:id="rId3"/>
              </a:rPr>
              <a:t>/</a:t>
            </a:r>
            <a:endParaRPr lang="en-US" altLang="zh-TW" dirty="0" smtClean="0">
              <a:latin typeface="+mj-lt"/>
            </a:endParaRPr>
          </a:p>
          <a:p>
            <a:r>
              <a:rPr lang="en-US" altLang="zh-TW" dirty="0" smtClean="0">
                <a:latin typeface="+mj-lt"/>
              </a:rPr>
              <a:t>NCHC Cloud Computing Research Group.</a:t>
            </a:r>
          </a:p>
          <a:p>
            <a:pPr lvl="1"/>
            <a:r>
              <a:rPr lang="en-US" altLang="zh-TW" dirty="0" smtClean="0">
                <a:latin typeface="+mj-lt"/>
                <a:hlinkClick r:id="rId4"/>
              </a:rPr>
              <a:t>http://trac.nchc.org.tw/cloud</a:t>
            </a:r>
            <a:endParaRPr lang="en-US" altLang="zh-TW" dirty="0">
              <a:latin typeface="+mj-lt"/>
            </a:endParaRPr>
          </a:p>
          <a:p>
            <a:r>
              <a:rPr lang="en-US" altLang="zh-TW" dirty="0">
                <a:latin typeface="+mj-lt"/>
              </a:rPr>
              <a:t>NTU course- Cloud Computing and Mobile </a:t>
            </a:r>
            <a:r>
              <a:rPr lang="en-US" altLang="zh-TW" dirty="0" smtClean="0">
                <a:latin typeface="+mj-lt"/>
              </a:rPr>
              <a:t>Platforms.</a:t>
            </a:r>
            <a:endParaRPr lang="en-US" altLang="zh-TW" dirty="0">
              <a:latin typeface="+mj-lt"/>
            </a:endParaRPr>
          </a:p>
          <a:p>
            <a:pPr lvl="1"/>
            <a:r>
              <a:rPr lang="en-US" altLang="zh-TW" dirty="0">
                <a:latin typeface="+mj-lt"/>
                <a:hlinkClick r:id="rId5"/>
              </a:rPr>
              <a:t>http://</a:t>
            </a:r>
            <a:r>
              <a:rPr lang="en-US" altLang="zh-TW" dirty="0" smtClean="0">
                <a:latin typeface="+mj-lt"/>
                <a:hlinkClick r:id="rId5"/>
              </a:rPr>
              <a:t>ntucsiecloud98.appspot.com/course_information</a:t>
            </a:r>
            <a:endParaRPr lang="en-US" altLang="zh-TW" dirty="0" smtClean="0">
              <a:latin typeface="+mj-lt"/>
            </a:endParaRPr>
          </a:p>
          <a:p>
            <a:r>
              <a:rPr lang="en-US" altLang="zh-TW" dirty="0" smtClean="0">
                <a:latin typeface="+mj-lt"/>
              </a:rPr>
              <a:t>Wiki.</a:t>
            </a:r>
          </a:p>
          <a:p>
            <a:pPr lvl="1"/>
            <a:r>
              <a:rPr lang="en-US" altLang="zh-TW" dirty="0">
                <a:latin typeface="+mj-lt"/>
                <a:hlinkClick r:id="rId6"/>
              </a:rPr>
              <a:t>http://en.wikipedia.org/wiki/Database#Database_management_systems</a:t>
            </a:r>
            <a:endParaRPr lang="en-US" altLang="zh-TW" dirty="0">
              <a:latin typeface="+mj-lt"/>
            </a:endParaRPr>
          </a:p>
          <a:p>
            <a:endParaRPr lang="en-US" altLang="zh-TW" dirty="0" smtClean="0">
              <a:latin typeface="+mj-lt"/>
            </a:endParaRPr>
          </a:p>
          <a:p>
            <a:endParaRPr lang="en-US" altLang="zh-TW" dirty="0" smtClean="0">
              <a:latin typeface="+mj-l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ourse Them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Course Themes</Template>
  <TotalTime>14686</TotalTime>
  <Words>3830</Words>
  <Application>Microsoft Office PowerPoint</Application>
  <PresentationFormat>如螢幕大小 (4:3)</PresentationFormat>
  <Paragraphs>861</Paragraphs>
  <Slides>89</Slides>
  <Notes>80</Notes>
  <HiddenSlides>0</HiddenSlides>
  <MMClips>0</MMClips>
  <ScaleCrop>false</ScaleCrop>
  <HeadingPairs>
    <vt:vector size="4" baseType="variant">
      <vt:variant>
        <vt:lpstr>佈景主題</vt:lpstr>
      </vt:variant>
      <vt:variant>
        <vt:i4>1</vt:i4>
      </vt:variant>
      <vt:variant>
        <vt:lpstr>投影片標題</vt:lpstr>
      </vt:variant>
      <vt:variant>
        <vt:i4>89</vt:i4>
      </vt:variant>
    </vt:vector>
  </HeadingPairs>
  <TitlesOfParts>
    <vt:vector size="90" baseType="lpstr">
      <vt:lpstr>Course Themes</vt:lpstr>
      <vt:lpstr>雲端計算 Cloud Computing</vt:lpstr>
      <vt:lpstr>Agenda</vt:lpstr>
      <vt:lpstr>Storage System for Structured Data</vt:lpstr>
      <vt:lpstr>Unstructured Data</vt:lpstr>
      <vt:lpstr>Structure Data</vt:lpstr>
      <vt:lpstr>Semi-Structured Data</vt:lpstr>
      <vt:lpstr>Example of Semi-Structured Data</vt:lpstr>
      <vt:lpstr>Database,  and Database Management System</vt:lpstr>
      <vt:lpstr>Storage System for Structured Data</vt:lpstr>
      <vt:lpstr>Relational Database(1/4)</vt:lpstr>
      <vt:lpstr>Relational Database(2/4)</vt:lpstr>
      <vt:lpstr>Relational Database(3/4)</vt:lpstr>
      <vt:lpstr>Relational Database(4/4)</vt:lpstr>
      <vt:lpstr>Storage System for Structured Data</vt:lpstr>
      <vt:lpstr>Non-relational Database Introduction</vt:lpstr>
      <vt:lpstr>What is NOSQL</vt:lpstr>
      <vt:lpstr>Key/Value Database(1/4)</vt:lpstr>
      <vt:lpstr>Key/Value Database(2/4)</vt:lpstr>
      <vt:lpstr>Key/Value Database(3/4)</vt:lpstr>
      <vt:lpstr>Key/Value Database(4/4)</vt:lpstr>
      <vt:lpstr>Non-relational Database Introduction</vt:lpstr>
      <vt:lpstr>CAP Theorem(1/2)</vt:lpstr>
      <vt:lpstr>CAP Theorem(2/2)</vt:lpstr>
      <vt:lpstr>Non-relational Database Introduction</vt:lpstr>
      <vt:lpstr>Introduction</vt:lpstr>
      <vt:lpstr>System Architectures</vt:lpstr>
      <vt:lpstr>Data Models</vt:lpstr>
      <vt:lpstr>Data distribution</vt:lpstr>
      <vt:lpstr>Fragmentation</vt:lpstr>
      <vt:lpstr>Properties</vt:lpstr>
      <vt:lpstr>Query Optimization</vt:lpstr>
      <vt:lpstr>Storage System for Structured Data</vt:lpstr>
      <vt:lpstr>Bigtable </vt:lpstr>
      <vt:lpstr>Overview</vt:lpstr>
      <vt:lpstr>Bigtable Introduction</vt:lpstr>
      <vt:lpstr>Motivation</vt:lpstr>
      <vt:lpstr>Bigtable Introduction</vt:lpstr>
      <vt:lpstr>Typical Cluster</vt:lpstr>
      <vt:lpstr>System Structure</vt:lpstr>
      <vt:lpstr>Building Blocks</vt:lpstr>
      <vt:lpstr>Key Jobs in a BigTable Cluster</vt:lpstr>
      <vt:lpstr>Bigtable Introduction</vt:lpstr>
      <vt:lpstr>Data Model</vt:lpstr>
      <vt:lpstr>Rows</vt:lpstr>
      <vt:lpstr>Columns</vt:lpstr>
      <vt:lpstr>Column Family</vt:lpstr>
      <vt:lpstr>Timestamps</vt:lpstr>
      <vt:lpstr>ImplementatioN</vt:lpstr>
      <vt:lpstr>SSTable</vt:lpstr>
      <vt:lpstr>Tablets &amp; Splitting</vt:lpstr>
      <vt:lpstr>Tablets (1/2)</vt:lpstr>
      <vt:lpstr>Tablets (2/2)</vt:lpstr>
      <vt:lpstr>Tablet Assignment</vt:lpstr>
      <vt:lpstr>Tablet Serving</vt:lpstr>
      <vt:lpstr>ImplementatioN</vt:lpstr>
      <vt:lpstr>Locating Tablets (1/2)</vt:lpstr>
      <vt:lpstr>Locating Tablets (2/2)</vt:lpstr>
      <vt:lpstr>ImplementatioN</vt:lpstr>
      <vt:lpstr>Compactions(1/2)</vt:lpstr>
      <vt:lpstr>Compactions(2/2)</vt:lpstr>
      <vt:lpstr>Details </vt:lpstr>
      <vt:lpstr>Locality Groups(1/2)</vt:lpstr>
      <vt:lpstr>Locality Groups(2/2)</vt:lpstr>
      <vt:lpstr>Details </vt:lpstr>
      <vt:lpstr>Compression(1/2)</vt:lpstr>
      <vt:lpstr>Compression(2/2)</vt:lpstr>
      <vt:lpstr>Details </vt:lpstr>
      <vt:lpstr>Replication</vt:lpstr>
      <vt:lpstr>Summary of Bigtable</vt:lpstr>
      <vt:lpstr>Storage System for Structured Data</vt:lpstr>
      <vt:lpstr>Hbase</vt:lpstr>
      <vt:lpstr>What’s Hbase</vt:lpstr>
      <vt:lpstr>Hbase</vt:lpstr>
      <vt:lpstr>Hbase Architecture</vt:lpstr>
      <vt:lpstr>How does Hbase work?</vt:lpstr>
      <vt:lpstr>Roles mapping</vt:lpstr>
      <vt:lpstr>Roles in Hbase(1/2)</vt:lpstr>
      <vt:lpstr>Roles in Hbase(2/2)</vt:lpstr>
      <vt:lpstr>Table &amp; Region</vt:lpstr>
      <vt:lpstr>Hbase</vt:lpstr>
      <vt:lpstr>Data Model</vt:lpstr>
      <vt:lpstr>Data Model (cont.)</vt:lpstr>
      <vt:lpstr>Example</vt:lpstr>
      <vt:lpstr>Hbase w/ Hadoop</vt:lpstr>
      <vt:lpstr>Hbase</vt:lpstr>
      <vt:lpstr>Different from Bigtable</vt:lpstr>
      <vt:lpstr>Different from Bigtable (cont.)</vt:lpstr>
      <vt:lpstr>Summary</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tlcsmall3</dc:creator>
  <cp:lastModifiedBy>5g</cp:lastModifiedBy>
  <cp:revision>638</cp:revision>
  <dcterms:created xsi:type="dcterms:W3CDTF">2010-08-10T05:14:29Z</dcterms:created>
  <dcterms:modified xsi:type="dcterms:W3CDTF">2011-03-21T06:18:28Z</dcterms:modified>
</cp:coreProperties>
</file>