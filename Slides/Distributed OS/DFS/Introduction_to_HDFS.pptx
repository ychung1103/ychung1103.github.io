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3"/>
  </p:notesMasterIdLst>
  <p:handoutMasterIdLst>
    <p:handoutMasterId r:id="rId24"/>
  </p:handoutMasterIdLst>
  <p:sldIdLst>
    <p:sldId id="258" r:id="rId2"/>
    <p:sldId id="260" r:id="rId3"/>
    <p:sldId id="259" r:id="rId4"/>
    <p:sldId id="261" r:id="rId5"/>
    <p:sldId id="262" r:id="rId6"/>
    <p:sldId id="274" r:id="rId7"/>
    <p:sldId id="265" r:id="rId8"/>
    <p:sldId id="263" r:id="rId9"/>
    <p:sldId id="273" r:id="rId10"/>
    <p:sldId id="264" r:id="rId11"/>
    <p:sldId id="276" r:id="rId12"/>
    <p:sldId id="269" r:id="rId13"/>
    <p:sldId id="266" r:id="rId14"/>
    <p:sldId id="267" r:id="rId15"/>
    <p:sldId id="270" r:id="rId16"/>
    <p:sldId id="271" r:id="rId17"/>
    <p:sldId id="278" r:id="rId18"/>
    <p:sldId id="268" r:id="rId19"/>
    <p:sldId id="275" r:id="rId20"/>
    <p:sldId id="272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F90C4B-6861-9047-AA41-73DB37431590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BF96D-0F90-6340-B1A4-465581025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792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88AF8-1A70-49DA-8521-47D5E6F867E9}" type="datetimeFigureOut">
              <a:rPr lang="en-GB" smtClean="0"/>
              <a:t>19/07/2024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4BC27-FAFF-4482-B25F-35D3915B3A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9457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</a:t>
            </a:r>
            <a:r>
              <a:rPr lang="en-US" baseline="0" dirty="0"/>
              <a:t> myself: 8 years data engineering, data analytics (make sense)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388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654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577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202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79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073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550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612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208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180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7548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287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4475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and </a:t>
            </a:r>
            <a:r>
              <a:rPr lang="en-US" dirty="0" err="1"/>
              <a:t>DataNode</a:t>
            </a:r>
            <a:r>
              <a:rPr lang="en-US" dirty="0"/>
              <a:t> each run an internal web server in order to display basic information about the current status of the 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BE457-FB45-9847-8EC2-FC29D648CEA4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620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3E923-1EC4-4846-8051-D93CC55163C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47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logooutline.eps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9922" y="2999946"/>
            <a:ext cx="1112012" cy="110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54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logoBadgeWeb.eps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0787" y="2878269"/>
            <a:ext cx="1218184" cy="153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0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5607"/>
            <a:ext cx="10969139" cy="4667421"/>
          </a:xfrm>
        </p:spPr>
        <p:txBody>
          <a:bodyPr/>
          <a:lstStyle/>
          <a:p>
            <a:pPr lvl="0" eaLnBrk="1" latinLnBrk="0" hangingPunct="1"/>
            <a:r>
              <a:rPr lang="fr-FR"/>
              <a:t>Click to edit Master text styles</a:t>
            </a:r>
          </a:p>
          <a:p>
            <a:pPr lvl="1" eaLnBrk="1" latinLnBrk="0" hangingPunct="1"/>
            <a:r>
              <a:rPr lang="fr-FR"/>
              <a:t>Second level</a:t>
            </a:r>
          </a:p>
          <a:p>
            <a:pPr lvl="2" eaLnBrk="1" latinLnBrk="0" hangingPunct="1"/>
            <a:r>
              <a:rPr lang="fr-FR"/>
              <a:t>Third level</a:t>
            </a:r>
          </a:p>
          <a:p>
            <a:pPr lvl="3" eaLnBrk="1" latinLnBrk="0" hangingPunct="1"/>
            <a:r>
              <a:rPr lang="fr-FR"/>
              <a:t>Fourth level</a:t>
            </a:r>
          </a:p>
          <a:p>
            <a:pPr lvl="4" eaLnBrk="1" latinLnBrk="0" hangingPunct="1"/>
            <a:r>
              <a:rPr lang="fr-FR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9979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5733" y="2515819"/>
            <a:ext cx="11021312" cy="1826363"/>
          </a:xfrm>
        </p:spPr>
        <p:txBody>
          <a:bodyPr tIns="0" bIns="0" anchor="t"/>
          <a:lstStyle>
            <a:lvl1pPr algn="l">
              <a:buNone/>
              <a:defRPr kumimoji="0" lang="en-US" sz="6133" b="1" kern="1200" cap="none" spc="0" baseline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Click to edit Master title style</a:t>
            </a:r>
            <a:endParaRPr kumimoji="0"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75733" y="1329869"/>
            <a:ext cx="88392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667">
                <a:solidFill>
                  <a:schemeClr val="tx1"/>
                </a:solidFill>
                <a:effectLst/>
              </a:defRPr>
            </a:lvl1pPr>
            <a:lvl2pPr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016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9956800" cy="1143000"/>
          </a:xfrm>
        </p:spPr>
        <p:txBody>
          <a:bodyPr/>
          <a:lstStyle/>
          <a:p>
            <a:r>
              <a:rPr kumimoji="0" lang="fr-FR"/>
              <a:t>Click to edit Master title style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876800" cy="4525963"/>
          </a:xfrm>
        </p:spPr>
        <p:txBody>
          <a:bodyPr/>
          <a:lstStyle>
            <a:lvl1pPr>
              <a:defRPr sz="3467"/>
            </a:lvl1pPr>
            <a:lvl2pPr>
              <a:defRPr sz="2933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fr-FR"/>
              <a:t>Click to edit Master text styles</a:t>
            </a:r>
          </a:p>
          <a:p>
            <a:pPr lvl="1" eaLnBrk="1" latinLnBrk="0" hangingPunct="1"/>
            <a:r>
              <a:rPr lang="fr-FR"/>
              <a:t>Second level</a:t>
            </a:r>
          </a:p>
          <a:p>
            <a:pPr lvl="2" eaLnBrk="1" latinLnBrk="0" hangingPunct="1"/>
            <a:r>
              <a:rPr lang="fr-FR"/>
              <a:t>Third level</a:t>
            </a:r>
          </a:p>
          <a:p>
            <a:pPr lvl="3" eaLnBrk="1" latinLnBrk="0" hangingPunct="1"/>
            <a:r>
              <a:rPr lang="fr-FR"/>
              <a:t>Fourth level</a:t>
            </a:r>
          </a:p>
          <a:p>
            <a:pPr lvl="4" eaLnBrk="1" latinLnBrk="0" hangingPunct="1"/>
            <a:r>
              <a:rPr lang="fr-FR"/>
              <a:t>Fifth level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689600" y="1600201"/>
            <a:ext cx="4876800" cy="4525963"/>
          </a:xfrm>
        </p:spPr>
        <p:txBody>
          <a:bodyPr/>
          <a:lstStyle>
            <a:lvl1pPr>
              <a:defRPr sz="3467"/>
            </a:lvl1pPr>
            <a:lvl2pPr>
              <a:defRPr sz="2933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fr-FR"/>
              <a:t>Click to edit Master text styles</a:t>
            </a:r>
          </a:p>
          <a:p>
            <a:pPr lvl="1" eaLnBrk="1" latinLnBrk="0" hangingPunct="1"/>
            <a:r>
              <a:rPr lang="fr-FR"/>
              <a:t>Second level</a:t>
            </a:r>
          </a:p>
          <a:p>
            <a:pPr lvl="2" eaLnBrk="1" latinLnBrk="0" hangingPunct="1"/>
            <a:r>
              <a:rPr lang="fr-FR"/>
              <a:t>Third level</a:t>
            </a:r>
          </a:p>
          <a:p>
            <a:pPr lvl="3" eaLnBrk="1" latinLnBrk="0" hangingPunct="1"/>
            <a:r>
              <a:rPr lang="fr-FR"/>
              <a:t>Fourth level</a:t>
            </a:r>
          </a:p>
          <a:p>
            <a:pPr lvl="4" eaLnBrk="1" latinLnBrk="0" hangingPunct="1"/>
            <a:r>
              <a:rPr lang="fr-FR"/>
              <a:t>Fifth level</a:t>
            </a:r>
            <a:endParaRPr kumimoji="0" lang="en-US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234301" y="6356351"/>
            <a:ext cx="2844800" cy="366183"/>
          </a:xfrm>
        </p:spPr>
        <p:txBody>
          <a:bodyPr/>
          <a:lstStyle/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926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2"/>
            <a:ext cx="10972800" cy="893977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/>
              <a:t>Click to edit Master title style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5101967"/>
            <a:ext cx="5386917" cy="838200"/>
          </a:xfrm>
        </p:spPr>
        <p:txBody>
          <a:bodyPr anchor="t"/>
          <a:lstStyle>
            <a:lvl1pPr marL="0" indent="0">
              <a:buNone/>
              <a:defRPr sz="3200" b="1">
                <a:solidFill>
                  <a:schemeClr val="tx1"/>
                </a:solidFill>
              </a:defRPr>
            </a:lvl1pPr>
            <a:lvl2pPr>
              <a:buNone/>
              <a:defRPr sz="2667" b="1"/>
            </a:lvl2pPr>
            <a:lvl3pPr>
              <a:buNone/>
              <a:defRPr sz="2400" b="1"/>
            </a:lvl3pPr>
            <a:lvl4pPr>
              <a:buNone/>
              <a:defRPr sz="2133" b="1"/>
            </a:lvl4pPr>
            <a:lvl5pPr>
              <a:buNone/>
              <a:defRPr sz="2133" b="1"/>
            </a:lvl5pPr>
          </a:lstStyle>
          <a:p>
            <a:pPr lvl="0" eaLnBrk="1" latinLnBrk="0" hangingPunct="1"/>
            <a:r>
              <a:rPr kumimoji="0" lang="fr-FR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193369" y="5101967"/>
            <a:ext cx="5389033" cy="838200"/>
          </a:xfrm>
        </p:spPr>
        <p:txBody>
          <a:bodyPr anchor="t"/>
          <a:lstStyle>
            <a:lvl1pPr marL="0" indent="0">
              <a:buNone/>
              <a:defRPr sz="3200" b="1">
                <a:solidFill>
                  <a:schemeClr val="tx1"/>
                </a:solidFill>
              </a:defRPr>
            </a:lvl1pPr>
            <a:lvl2pPr>
              <a:buNone/>
              <a:defRPr sz="2667" b="1"/>
            </a:lvl2pPr>
            <a:lvl3pPr>
              <a:buNone/>
              <a:defRPr sz="2400" b="1"/>
            </a:lvl3pPr>
            <a:lvl4pPr>
              <a:buNone/>
              <a:defRPr sz="2133" b="1"/>
            </a:lvl4pPr>
            <a:lvl5pPr>
              <a:buNone/>
              <a:defRPr sz="2133" b="1"/>
            </a:lvl5pPr>
          </a:lstStyle>
          <a:p>
            <a:pPr lvl="0" eaLnBrk="1" latinLnBrk="0" hangingPunct="1"/>
            <a:r>
              <a:rPr kumimoji="0" lang="fr-FR"/>
              <a:t>Click to edit Master text styles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609600" y="1269778"/>
            <a:ext cx="5386917" cy="3686655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</a:lstStyle>
          <a:p>
            <a:pPr lvl="0" eaLnBrk="1" latinLnBrk="0" hangingPunct="1"/>
            <a:r>
              <a:rPr lang="fr-FR"/>
              <a:t>Click to edit Master text styles</a:t>
            </a:r>
          </a:p>
          <a:p>
            <a:pPr lvl="1" eaLnBrk="1" latinLnBrk="0" hangingPunct="1"/>
            <a:r>
              <a:rPr lang="fr-FR"/>
              <a:t>Second level</a:t>
            </a:r>
          </a:p>
          <a:p>
            <a:pPr lvl="2" eaLnBrk="1" latinLnBrk="0" hangingPunct="1"/>
            <a:r>
              <a:rPr lang="fr-FR"/>
              <a:t>Third level</a:t>
            </a:r>
          </a:p>
          <a:p>
            <a:pPr lvl="3" eaLnBrk="1" latinLnBrk="0" hangingPunct="1"/>
            <a:r>
              <a:rPr lang="fr-FR"/>
              <a:t>Fourth level</a:t>
            </a:r>
          </a:p>
          <a:p>
            <a:pPr lvl="4" eaLnBrk="1" latinLnBrk="0" hangingPunct="1"/>
            <a:r>
              <a:rPr lang="fr-FR"/>
              <a:t>Fifth level</a:t>
            </a:r>
            <a:endParaRPr kumimoji="0" lang="en-US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1269778"/>
            <a:ext cx="5389033" cy="3686655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</a:lstStyle>
          <a:p>
            <a:pPr lvl="0" eaLnBrk="1" latinLnBrk="0" hangingPunct="1"/>
            <a:r>
              <a:rPr lang="fr-FR"/>
              <a:t>Click to edit Master text styles</a:t>
            </a:r>
          </a:p>
          <a:p>
            <a:pPr lvl="1" eaLnBrk="1" latinLnBrk="0" hangingPunct="1"/>
            <a:r>
              <a:rPr lang="fr-FR"/>
              <a:t>Second level</a:t>
            </a:r>
          </a:p>
          <a:p>
            <a:pPr lvl="2" eaLnBrk="1" latinLnBrk="0" hangingPunct="1"/>
            <a:r>
              <a:rPr lang="fr-FR"/>
              <a:t>Third level</a:t>
            </a:r>
          </a:p>
          <a:p>
            <a:pPr lvl="3" eaLnBrk="1" latinLnBrk="0" hangingPunct="1"/>
            <a:r>
              <a:rPr lang="fr-FR"/>
              <a:t>Fourth level</a:t>
            </a:r>
          </a:p>
          <a:p>
            <a:pPr lvl="4" eaLnBrk="1" latinLnBrk="0" hangingPunct="1"/>
            <a:r>
              <a:rPr lang="fr-FR"/>
              <a:t>Fifth level</a:t>
            </a:r>
            <a:endParaRPr kumimoji="0" lang="en-US"/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234301" y="6356351"/>
            <a:ext cx="2844800" cy="366183"/>
          </a:xfrm>
        </p:spPr>
        <p:txBody>
          <a:bodyPr/>
          <a:lstStyle/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21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9960864" cy="1143000"/>
          </a:xfrm>
        </p:spPr>
        <p:txBody>
          <a:bodyPr anchor="ctr"/>
          <a:lstStyle>
            <a:lvl1pPr algn="l">
              <a:defRPr sz="6133"/>
            </a:lvl1pPr>
          </a:lstStyle>
          <a:p>
            <a:r>
              <a:rPr kumimoji="0" lang="fr-FR"/>
              <a:t>Click to edit Master title style</a:t>
            </a:r>
            <a:endParaRPr kumimoji="0"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234301" y="6356351"/>
            <a:ext cx="2844800" cy="366183"/>
          </a:xfrm>
        </p:spPr>
        <p:txBody>
          <a:bodyPr/>
          <a:lstStyle/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002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234301" y="6356351"/>
            <a:ext cx="2844800" cy="366183"/>
          </a:xfrm>
        </p:spPr>
        <p:txBody>
          <a:bodyPr/>
          <a:lstStyle/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394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85528"/>
            <a:ext cx="4267200" cy="730251"/>
          </a:xfrm>
        </p:spPr>
        <p:txBody>
          <a:bodyPr tIns="0" bIns="0" anchor="t"/>
          <a:lstStyle>
            <a:lvl1pPr algn="l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r>
              <a:rPr kumimoji="0" lang="fr-FR"/>
              <a:t>Click to edit Master title style</a:t>
            </a:r>
            <a:endParaRPr kumimoji="0"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214424"/>
            <a:ext cx="36576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867"/>
            </a:lvl1pPr>
            <a:lvl2pPr>
              <a:buNone/>
              <a:defRPr sz="1600"/>
            </a:lvl2pPr>
            <a:lvl3pPr>
              <a:buNone/>
              <a:defRPr sz="1333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 eaLnBrk="1" latinLnBrk="0" hangingPunct="1"/>
            <a:r>
              <a:rPr kumimoji="0" lang="fr-FR"/>
              <a:t>Click to edit Master text styles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9448800" cy="38100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933"/>
            </a:lvl3pPr>
            <a:lvl4pPr>
              <a:defRPr sz="2667"/>
            </a:lvl4pPr>
            <a:lvl5pPr>
              <a:defRPr sz="2667"/>
            </a:lvl5pPr>
          </a:lstStyle>
          <a:p>
            <a:pPr lvl="0" eaLnBrk="1" latinLnBrk="0" hangingPunct="1"/>
            <a:r>
              <a:rPr lang="fr-FR"/>
              <a:t>Click to edit Master text styles</a:t>
            </a:r>
          </a:p>
          <a:p>
            <a:pPr lvl="1" eaLnBrk="1" latinLnBrk="0" hangingPunct="1"/>
            <a:r>
              <a:rPr lang="fr-FR"/>
              <a:t>Second level</a:t>
            </a:r>
          </a:p>
          <a:p>
            <a:pPr lvl="2" eaLnBrk="1" latinLnBrk="0" hangingPunct="1"/>
            <a:r>
              <a:rPr lang="fr-FR"/>
              <a:t>Third level</a:t>
            </a:r>
          </a:p>
          <a:p>
            <a:pPr lvl="3" eaLnBrk="1" latinLnBrk="0" hangingPunct="1"/>
            <a:r>
              <a:rPr lang="fr-FR"/>
              <a:t>Fourth level</a:t>
            </a:r>
          </a:p>
          <a:p>
            <a:pPr lvl="4" eaLnBrk="1" latinLnBrk="0" hangingPunct="1"/>
            <a:r>
              <a:rPr lang="fr-FR"/>
              <a:t>Fifth level</a:t>
            </a:r>
            <a:endParaRPr kumimoji="0" lang="en-US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234301" y="6356351"/>
            <a:ext cx="2844800" cy="366183"/>
          </a:xfrm>
        </p:spPr>
        <p:txBody>
          <a:bodyPr/>
          <a:lstStyle/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256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08976" y="1705709"/>
            <a:ext cx="4071824" cy="1253808"/>
          </a:xfrm>
        </p:spPr>
        <p:txBody>
          <a:bodyPr anchor="b"/>
          <a:lstStyle>
            <a:lvl1pPr algn="l">
              <a:buNone/>
              <a:defRPr sz="2933" b="1">
                <a:solidFill>
                  <a:schemeClr val="tx1"/>
                </a:solidFill>
              </a:defRPr>
            </a:lvl1pPr>
          </a:lstStyle>
          <a:p>
            <a:r>
              <a:rPr kumimoji="0" lang="fr-FR"/>
              <a:t>Click to edit Master title style</a:t>
            </a:r>
            <a:endParaRPr kumimoji="0" lang="en-US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745063" y="802197"/>
            <a:ext cx="6346019" cy="47595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/>
          <a:lstStyle>
            <a:lvl1pPr marL="0" indent="0">
              <a:buNone/>
              <a:defRPr sz="4267"/>
            </a:lvl1pPr>
          </a:lstStyle>
          <a:p>
            <a:r>
              <a:rPr kumimoji="0" lang="fr-FR"/>
              <a:t>Drag picture to placeholder or click icon to add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408979" y="2998765"/>
            <a:ext cx="4071821" cy="2663483"/>
          </a:xfrm>
        </p:spPr>
        <p:txBody>
          <a:bodyPr lIns="45720" rIns="45720"/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 sz="1600"/>
            </a:lvl2pPr>
            <a:lvl3pPr>
              <a:buFontTx/>
              <a:buNone/>
              <a:defRPr sz="1333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</a:lstStyle>
          <a:p>
            <a:pPr lvl="0" eaLnBrk="1" latinLnBrk="0" hangingPunct="1"/>
            <a:r>
              <a:rPr kumimoji="0" lang="fr-FR"/>
              <a:t>Click to edit Master text styles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234301" y="6356351"/>
            <a:ext cx="2844800" cy="366183"/>
          </a:xfrm>
        </p:spPr>
        <p:txBody>
          <a:bodyPr/>
          <a:lstStyle/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486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Click to edit Master title style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Click to edit Master text styles</a:t>
            </a:r>
          </a:p>
          <a:p>
            <a:pPr lvl="1" eaLnBrk="1" latinLnBrk="0" hangingPunct="1"/>
            <a:r>
              <a:rPr lang="fr-FR"/>
              <a:t>Second level</a:t>
            </a:r>
          </a:p>
          <a:p>
            <a:pPr lvl="2" eaLnBrk="1" latinLnBrk="0" hangingPunct="1"/>
            <a:r>
              <a:rPr lang="fr-FR"/>
              <a:t>Third level</a:t>
            </a:r>
          </a:p>
          <a:p>
            <a:pPr lvl="3" eaLnBrk="1" latinLnBrk="0" hangingPunct="1"/>
            <a:r>
              <a:rPr lang="fr-FR"/>
              <a:t>Fourth level</a:t>
            </a:r>
          </a:p>
          <a:p>
            <a:pPr lvl="4" eaLnBrk="1" latinLnBrk="0" hangingPunct="1"/>
            <a:r>
              <a:rPr lang="fr-FR"/>
              <a:t>Fifth level</a:t>
            </a:r>
            <a:endParaRPr kumimoji="0" lang="en-US"/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234301" y="6356351"/>
            <a:ext cx="2844800" cy="366183"/>
          </a:xfrm>
        </p:spPr>
        <p:txBody>
          <a:bodyPr/>
          <a:lstStyle/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164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fr-FR"/>
              <a:t>Click to edit Master title style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Click to edit Master text styles</a:t>
            </a:r>
          </a:p>
          <a:p>
            <a:pPr lvl="1" eaLnBrk="1" latinLnBrk="0" hangingPunct="1"/>
            <a:r>
              <a:rPr lang="fr-FR"/>
              <a:t>Second level</a:t>
            </a:r>
          </a:p>
          <a:p>
            <a:pPr lvl="2" eaLnBrk="1" latinLnBrk="0" hangingPunct="1"/>
            <a:r>
              <a:rPr lang="fr-FR"/>
              <a:t>Third level</a:t>
            </a:r>
          </a:p>
          <a:p>
            <a:pPr lvl="3" eaLnBrk="1" latinLnBrk="0" hangingPunct="1"/>
            <a:r>
              <a:rPr lang="fr-FR"/>
              <a:t>Fourth level</a:t>
            </a:r>
          </a:p>
          <a:p>
            <a:pPr lvl="4" eaLnBrk="1" latinLnBrk="0" hangingPunct="1"/>
            <a:r>
              <a:rPr lang="fr-FR"/>
              <a:t>Fifth level</a:t>
            </a:r>
            <a:endParaRPr kumimoji="0" lang="en-US"/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234301" y="6356351"/>
            <a:ext cx="2844800" cy="366183"/>
          </a:xfrm>
        </p:spPr>
        <p:txBody>
          <a:bodyPr/>
          <a:lstStyle/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714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LOGOfin.eps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8357" y="2703285"/>
            <a:ext cx="1179407" cy="147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77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 dirty="0"/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>
          <a:xfrm>
            <a:off x="3959113" y="636237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F9098-C507-DC48-893B-F8E0D612DCA4}" type="datetime1">
              <a:rPr lang="en-US" smtClean="0">
                <a:solidFill>
                  <a:srgbClr val="0055A0">
                    <a:tint val="75000"/>
                  </a:srgbClr>
                </a:solidFill>
              </a:rPr>
              <a:t>7/19/2024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910341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0913835" y="6356351"/>
            <a:ext cx="66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225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Diapositive de titre">
    <p:bg>
      <p:bgPr>
        <a:solidFill>
          <a:srgbClr val="1042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LOGOfi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8357" y="2444446"/>
            <a:ext cx="1563273" cy="195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05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4" descr="bande-01.eps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0165" y="6157638"/>
            <a:ext cx="9110303" cy="704596"/>
          </a:xfrm>
          <a:prstGeom prst="rect">
            <a:avLst/>
          </a:prstGeom>
        </p:spPr>
      </p:pic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609600" y="233493"/>
            <a:ext cx="10969139" cy="940443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fr-CH" dirty="0"/>
              <a:t>Cliquez et modifiez le titre</a:t>
            </a:r>
            <a:endParaRPr kumimoji="0" lang="en-US" dirty="0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609600" y="1325607"/>
            <a:ext cx="10969139" cy="4667421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 dirty="0"/>
              <a:t>Cliquez pour modifier les styles du texte du masque</a:t>
            </a:r>
          </a:p>
          <a:p>
            <a:pPr lvl="1" eaLnBrk="1" latinLnBrk="0" hangingPunct="1"/>
            <a:r>
              <a:rPr kumimoji="0" lang="fr-CH" dirty="0"/>
              <a:t>Deuxième niveau</a:t>
            </a:r>
          </a:p>
          <a:p>
            <a:pPr lvl="2" eaLnBrk="1" latinLnBrk="0" hangingPunct="1"/>
            <a:r>
              <a:rPr kumimoji="0" lang="fr-CH" dirty="0"/>
              <a:t>Troisième niveau</a:t>
            </a:r>
          </a:p>
          <a:p>
            <a:pPr lvl="3" eaLnBrk="1" latinLnBrk="0" hangingPunct="1"/>
            <a:r>
              <a:rPr kumimoji="0" lang="fr-CH" dirty="0"/>
              <a:t>Quatrième niveau</a:t>
            </a:r>
          </a:p>
          <a:p>
            <a:pPr lvl="4" eaLnBrk="1" latinLnBrk="0" hangingPunct="1"/>
            <a:r>
              <a:rPr kumimoji="0" lang="fr-CH" dirty="0"/>
              <a:t>Cinquième niveau</a:t>
            </a:r>
            <a:endParaRPr kumimoji="0" lang="en-US" dirty="0"/>
          </a:p>
        </p:txBody>
      </p:sp>
      <p:pic>
        <p:nvPicPr>
          <p:cNvPr id="5" name="Image 4" descr="bande-01.eps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6157665"/>
            <a:ext cx="9110303" cy="704596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34301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08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61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8352" indent="-609585" algn="l" rtl="0" eaLnBrk="1" latinLnBrk="0" hangingPunct="1">
        <a:spcBef>
          <a:spcPct val="20000"/>
        </a:spcBef>
        <a:buClr>
          <a:schemeClr val="accent1"/>
        </a:buClr>
        <a:buSzPct val="80000"/>
        <a:buFont typeface="Arial"/>
        <a:buChar char="•"/>
        <a:defRPr kumimoji="0"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1206978" indent="-609585" algn="l" rtl="0" eaLnBrk="1" latinLnBrk="0" hangingPunct="1">
        <a:spcBef>
          <a:spcPct val="20000"/>
        </a:spcBef>
        <a:buClr>
          <a:schemeClr val="accent1"/>
        </a:buClr>
        <a:buSzPct val="90000"/>
        <a:buFont typeface="Arial"/>
        <a:buChar char="•"/>
        <a:defRPr kumimoji="0"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456908" indent="-457189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•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847042" indent="-457189" algn="l" rtl="0" eaLnBrk="1" latinLnBrk="0" hangingPunct="1">
        <a:spcBef>
          <a:spcPct val="20000"/>
        </a:spcBef>
        <a:buClr>
          <a:schemeClr val="accent3"/>
        </a:buClr>
        <a:buSzPct val="90000"/>
        <a:buFont typeface="Arial"/>
        <a:buChar char="•"/>
        <a:defRPr kumimoji="0"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200601" indent="-457189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•"/>
        <a:defRPr kumimoji="0"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2267655" indent="-243834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667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60256" indent="-243834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2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852857" indent="-243834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3108882" indent="-243834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21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Prasanth.Kothuri@cern.ch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29511" y="147884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219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0534" y="1752600"/>
            <a:ext cx="12914711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dirty="0">
                <a:solidFill>
                  <a:srgbClr val="0055A0"/>
                </a:solidFill>
              </a:rPr>
              <a:t>Introduction to HDFS</a:t>
            </a:r>
            <a:endParaRPr lang="en-GB" sz="2667" b="1" dirty="0">
              <a:solidFill>
                <a:srgbClr val="0055A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0534" y="2419386"/>
            <a:ext cx="3970865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rgbClr val="0055A0"/>
                </a:solidFill>
              </a:rPr>
              <a:t>Prasanth Kothuri</a:t>
            </a:r>
            <a:r>
              <a:rPr lang="en-US" sz="1867" dirty="0">
                <a:solidFill>
                  <a:srgbClr val="0055A0"/>
                </a:solidFill>
              </a:rPr>
              <a:t>, CERN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F89FEF-6A44-9B41-A33D-7815FD06DC43}" type="slidenum">
              <a:rPr lang="en-US" smtClean="0">
                <a:solidFill>
                  <a:prstClr val="white"/>
                </a:solidFill>
              </a:rPr>
              <a:pPr/>
              <a:t>2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1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3"/>
            <a:ext cx="10969139" cy="728791"/>
          </a:xfrm>
        </p:spPr>
        <p:txBody>
          <a:bodyPr>
            <a:normAutofit/>
          </a:bodyPr>
          <a:lstStyle/>
          <a:p>
            <a:r>
              <a:rPr lang="en-US" sz="4000" dirty="0"/>
              <a:t>What’s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5415"/>
            <a:ext cx="10969139" cy="4867613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HDFS is a distributed file system that is fault tolerant, scalable and extremely easy to expand.</a:t>
            </a: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HDFS is the primary distributed storage for Hadoop applications.</a:t>
            </a: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HDFS </a:t>
            </a:r>
            <a:r>
              <a:rPr lang="de-CH" sz="3200" dirty="0" err="1">
                <a:solidFill>
                  <a:schemeClr val="tx2"/>
                </a:solidFill>
              </a:rPr>
              <a:t>provides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interfaces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for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applications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to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move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themselves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closer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to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data</a:t>
            </a:r>
            <a:r>
              <a:rPr lang="de-CH" sz="3200">
                <a:solidFill>
                  <a:schemeClr val="tx2"/>
                </a:solidFill>
              </a:rPr>
              <a:t>.</a:t>
            </a:r>
            <a:endParaRPr lang="de-CH" sz="32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HDFS is designed to ‘just work’, however a working knowledge helps in diagnostics and improvements.</a:t>
            </a: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3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675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3"/>
            <a:ext cx="10969139" cy="805953"/>
          </a:xfrm>
        </p:spPr>
        <p:txBody>
          <a:bodyPr>
            <a:normAutofit/>
          </a:bodyPr>
          <a:lstStyle/>
          <a:p>
            <a:r>
              <a:rPr lang="en-US" sz="4000" dirty="0"/>
              <a:t>Components of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39446"/>
            <a:ext cx="10969139" cy="4953583"/>
          </a:xfrm>
        </p:spPr>
        <p:txBody>
          <a:bodyPr>
            <a:norm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en-GB" sz="3200" dirty="0">
                <a:solidFill>
                  <a:schemeClr val="tx2"/>
                </a:solidFill>
              </a:rPr>
              <a:t>There are two (</a:t>
            </a:r>
            <a:r>
              <a:rPr lang="en-GB" sz="3200" i="1" dirty="0">
                <a:solidFill>
                  <a:schemeClr val="tx2"/>
                </a:solidFill>
              </a:rPr>
              <a:t>and a half</a:t>
            </a:r>
            <a:r>
              <a:rPr lang="en-GB" sz="3200" dirty="0">
                <a:solidFill>
                  <a:schemeClr val="tx2"/>
                </a:solidFill>
              </a:rPr>
              <a:t>) types of machines in a HDFS cluster</a:t>
            </a:r>
          </a:p>
          <a:p>
            <a:pPr>
              <a:buClr>
                <a:schemeClr val="tx2"/>
              </a:buClr>
            </a:pPr>
            <a:r>
              <a:rPr lang="en-GB" sz="3200" u="sng" dirty="0" err="1">
                <a:solidFill>
                  <a:schemeClr val="tx2"/>
                </a:solidFill>
              </a:rPr>
              <a:t>NameNode</a:t>
            </a:r>
            <a:r>
              <a:rPr lang="en-GB" sz="3200" dirty="0">
                <a:solidFill>
                  <a:schemeClr val="tx2"/>
                </a:solidFill>
              </a:rPr>
              <a:t> :– is the heart of an HDFS </a:t>
            </a:r>
            <a:r>
              <a:rPr lang="en-GB" sz="3200" dirty="0" err="1">
                <a:solidFill>
                  <a:schemeClr val="tx2"/>
                </a:solidFill>
              </a:rPr>
              <a:t>filesystem</a:t>
            </a:r>
            <a:r>
              <a:rPr lang="en-GB" sz="3200" dirty="0">
                <a:solidFill>
                  <a:schemeClr val="tx2"/>
                </a:solidFill>
              </a:rPr>
              <a:t>,  it maintains and manages the file system metadata. </a:t>
            </a:r>
            <a:r>
              <a:rPr lang="en-GB" sz="3200" dirty="0" err="1">
                <a:solidFill>
                  <a:schemeClr val="tx2"/>
                </a:solidFill>
              </a:rPr>
              <a:t>E.g</a:t>
            </a:r>
            <a:r>
              <a:rPr lang="en-GB" sz="3200" dirty="0">
                <a:solidFill>
                  <a:schemeClr val="tx2"/>
                </a:solidFill>
              </a:rPr>
              <a:t>; what blocks make up a file, and on which </a:t>
            </a:r>
            <a:r>
              <a:rPr lang="en-GB" sz="3200" dirty="0" err="1">
                <a:solidFill>
                  <a:schemeClr val="tx2"/>
                </a:solidFill>
              </a:rPr>
              <a:t>datanodes</a:t>
            </a:r>
            <a:r>
              <a:rPr lang="en-GB" sz="3200" dirty="0">
                <a:solidFill>
                  <a:schemeClr val="tx2"/>
                </a:solidFill>
              </a:rPr>
              <a:t> those blocks are stored.</a:t>
            </a:r>
          </a:p>
          <a:p>
            <a:pPr>
              <a:buClr>
                <a:schemeClr val="tx2"/>
              </a:buClr>
            </a:pPr>
            <a:r>
              <a:rPr lang="en-GB" sz="3200" u="sng" dirty="0" err="1">
                <a:solidFill>
                  <a:schemeClr val="tx2"/>
                </a:solidFill>
              </a:rPr>
              <a:t>DataNode</a:t>
            </a:r>
            <a:r>
              <a:rPr lang="en-GB" sz="3200" dirty="0">
                <a:solidFill>
                  <a:schemeClr val="tx2"/>
                </a:solidFill>
              </a:rPr>
              <a:t> :- where HDFS stores the actual data, there are usually quite a few of these.</a:t>
            </a: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4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2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64183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HDFS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5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3478" y="938213"/>
            <a:ext cx="8301868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5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64183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Unique features of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62285"/>
            <a:ext cx="10969139" cy="5211870"/>
          </a:xfrm>
        </p:spPr>
        <p:txBody>
          <a:bodyPr>
            <a:normAutofit fontScale="77500" lnSpcReduction="20000"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en-GB" sz="3200" dirty="0">
                <a:solidFill>
                  <a:schemeClr val="tx2"/>
                </a:solidFill>
              </a:rPr>
              <a:t>HDFS also has a bunch of unique features that make it ideal for distributed systems:</a:t>
            </a: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en-GB" sz="3200" u="sng" dirty="0">
                <a:solidFill>
                  <a:schemeClr val="tx2"/>
                </a:solidFill>
              </a:rPr>
              <a:t>Failure tolerant</a:t>
            </a:r>
            <a:r>
              <a:rPr lang="en-GB" sz="3200" dirty="0">
                <a:solidFill>
                  <a:schemeClr val="tx2"/>
                </a:solidFill>
              </a:rPr>
              <a:t> - data is duplicated across multiple </a:t>
            </a:r>
            <a:r>
              <a:rPr lang="en-GB" sz="3200" dirty="0" err="1">
                <a:solidFill>
                  <a:schemeClr val="tx2"/>
                </a:solidFill>
              </a:rPr>
              <a:t>DataNodes</a:t>
            </a:r>
            <a:r>
              <a:rPr lang="en-GB" sz="3200" dirty="0">
                <a:solidFill>
                  <a:schemeClr val="tx2"/>
                </a:solidFill>
              </a:rPr>
              <a:t> to protect against machine failures. The default is a replication factor of 3 (every block is stored on three machines).</a:t>
            </a:r>
          </a:p>
          <a:p>
            <a:pPr>
              <a:buClr>
                <a:schemeClr val="tx2"/>
              </a:buClr>
            </a:pPr>
            <a:r>
              <a:rPr lang="en-GB" sz="3200" u="sng" dirty="0">
                <a:solidFill>
                  <a:schemeClr val="tx2"/>
                </a:solidFill>
              </a:rPr>
              <a:t>Scalability</a:t>
            </a:r>
            <a:r>
              <a:rPr lang="en-GB" sz="3200" dirty="0">
                <a:solidFill>
                  <a:schemeClr val="tx2"/>
                </a:solidFill>
              </a:rPr>
              <a:t> - data transfers happen directly with the </a:t>
            </a:r>
            <a:r>
              <a:rPr lang="en-GB" sz="3200" dirty="0" err="1">
                <a:solidFill>
                  <a:schemeClr val="tx2"/>
                </a:solidFill>
              </a:rPr>
              <a:t>DataNodes</a:t>
            </a:r>
            <a:r>
              <a:rPr lang="en-GB" sz="3200" dirty="0">
                <a:solidFill>
                  <a:schemeClr val="tx2"/>
                </a:solidFill>
              </a:rPr>
              <a:t> so your read/write capacity scales fairly well with the number of </a:t>
            </a:r>
            <a:r>
              <a:rPr lang="en-GB" sz="3200" dirty="0" err="1">
                <a:solidFill>
                  <a:schemeClr val="tx2"/>
                </a:solidFill>
              </a:rPr>
              <a:t>DataNodes</a:t>
            </a:r>
            <a:endParaRPr lang="en-GB" sz="32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en-GB" sz="3200" u="sng" dirty="0">
                <a:solidFill>
                  <a:schemeClr val="tx2"/>
                </a:solidFill>
              </a:rPr>
              <a:t>Space</a:t>
            </a:r>
            <a:r>
              <a:rPr lang="en-GB" sz="3200" dirty="0">
                <a:solidFill>
                  <a:schemeClr val="tx2"/>
                </a:solidFill>
              </a:rPr>
              <a:t> - need more disk space? Just add more </a:t>
            </a:r>
            <a:r>
              <a:rPr lang="en-GB" sz="3200" dirty="0" err="1">
                <a:solidFill>
                  <a:schemeClr val="tx2"/>
                </a:solidFill>
              </a:rPr>
              <a:t>DataNodes</a:t>
            </a:r>
            <a:r>
              <a:rPr lang="en-GB" sz="3200" dirty="0">
                <a:solidFill>
                  <a:schemeClr val="tx2"/>
                </a:solidFill>
              </a:rPr>
              <a:t> and re-balance</a:t>
            </a:r>
          </a:p>
          <a:p>
            <a:pPr>
              <a:buClr>
                <a:schemeClr val="tx2"/>
              </a:buClr>
            </a:pPr>
            <a:r>
              <a:rPr lang="en-GB" sz="3200" u="sng" dirty="0">
                <a:solidFill>
                  <a:schemeClr val="tx2"/>
                </a:solidFill>
              </a:rPr>
              <a:t>Industry standard</a:t>
            </a:r>
            <a:r>
              <a:rPr lang="en-GB" sz="3200" dirty="0">
                <a:solidFill>
                  <a:schemeClr val="tx2"/>
                </a:solidFill>
              </a:rPr>
              <a:t> - Other distributed applications are built on top of HDFS (</a:t>
            </a:r>
            <a:r>
              <a:rPr lang="en-GB" sz="3200" dirty="0" err="1">
                <a:solidFill>
                  <a:schemeClr val="tx2"/>
                </a:solidFill>
              </a:rPr>
              <a:t>HBase</a:t>
            </a:r>
            <a:r>
              <a:rPr lang="en-GB" sz="3200" dirty="0">
                <a:solidFill>
                  <a:schemeClr val="tx2"/>
                </a:solidFill>
              </a:rPr>
              <a:t>, Map-Reduce)</a:t>
            </a: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HDFS is designed to process large data sets with write-once-read-many semantics, </a:t>
            </a:r>
            <a:r>
              <a:rPr lang="de-CH" sz="3200" dirty="0">
                <a:solidFill>
                  <a:srgbClr val="FF0000"/>
                </a:solidFill>
              </a:rPr>
              <a:t>it is not for low latency access</a:t>
            </a:r>
            <a:endParaRPr lang="en-GB" sz="32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6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7969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HDFS – Data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Each file written into HDFS is split into data blocks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Each block is stored on one or more nodes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Each copy of the block is called replica</a:t>
            </a:r>
          </a:p>
          <a:p>
            <a:pPr>
              <a:buClr>
                <a:schemeClr val="tx2"/>
              </a:buClr>
            </a:pPr>
            <a:r>
              <a:rPr lang="en-GB" sz="3200" dirty="0">
                <a:solidFill>
                  <a:schemeClr val="tx2"/>
                </a:solidFill>
              </a:rPr>
              <a:t>Block placement policy</a:t>
            </a:r>
          </a:p>
          <a:p>
            <a:pPr lvl="1">
              <a:buClr>
                <a:schemeClr val="tx2"/>
              </a:buClr>
            </a:pPr>
            <a:r>
              <a:rPr lang="en-GB" sz="2667" dirty="0">
                <a:solidFill>
                  <a:schemeClr val="tx2"/>
                </a:solidFill>
              </a:rPr>
              <a:t>First replica is placed on the local node</a:t>
            </a:r>
          </a:p>
          <a:p>
            <a:pPr lvl="1">
              <a:buClr>
                <a:schemeClr val="tx2"/>
              </a:buClr>
            </a:pPr>
            <a:r>
              <a:rPr lang="en-GB" sz="2667" dirty="0">
                <a:solidFill>
                  <a:schemeClr val="tx2"/>
                </a:solidFill>
              </a:rPr>
              <a:t>Second replica is placed in a different rack</a:t>
            </a:r>
          </a:p>
          <a:p>
            <a:pPr lvl="1">
              <a:buClr>
                <a:schemeClr val="tx2"/>
              </a:buClr>
            </a:pPr>
            <a:r>
              <a:rPr lang="en-GB" sz="2667" dirty="0">
                <a:solidFill>
                  <a:schemeClr val="tx2"/>
                </a:solidFill>
              </a:rPr>
              <a:t>Third replica is placed in the same rack as the second replica</a:t>
            </a: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7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172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743429"/>
          </a:xfrm>
        </p:spPr>
        <p:txBody>
          <a:bodyPr>
            <a:normAutofit/>
          </a:bodyPr>
          <a:lstStyle/>
          <a:p>
            <a:r>
              <a:rPr lang="en-US" sz="4000" dirty="0"/>
              <a:t>Read Operation in HDFS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8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6186" y="1232938"/>
            <a:ext cx="7995966" cy="486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94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743429"/>
          </a:xfrm>
        </p:spPr>
        <p:txBody>
          <a:bodyPr>
            <a:normAutofit/>
          </a:bodyPr>
          <a:lstStyle/>
          <a:p>
            <a:r>
              <a:rPr lang="en-US" sz="4000" dirty="0"/>
              <a:t>Write Operation in HDFS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9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39713" y="1231779"/>
            <a:ext cx="7508912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473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8786"/>
            <a:ext cx="10969139" cy="696537"/>
          </a:xfrm>
        </p:spPr>
        <p:txBody>
          <a:bodyPr>
            <a:noAutofit/>
          </a:bodyPr>
          <a:lstStyle/>
          <a:p>
            <a:r>
              <a:rPr lang="en-US" sz="4000" dirty="0"/>
              <a:t>HDFS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062892"/>
            <a:ext cx="11496431" cy="5093836"/>
          </a:xfrm>
        </p:spPr>
        <p:txBody>
          <a:bodyPr>
            <a:normAutofit lnSpcReduction="10000"/>
          </a:bodyPr>
          <a:lstStyle/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Authentication to Hadoop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Simple – insecure way of using OS username to determine hadoop identity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Kerberos – authentication using kerberos ticket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Set by </a:t>
            </a:r>
            <a:r>
              <a:rPr lang="de-CH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hadoop.security.authentication=simple|kerberos</a:t>
            </a: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File and Directory permissions are same like in POSIX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read (r), write (w), and execute (x) permissions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also has an owner, group and mode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enabled by default </a:t>
            </a:r>
            <a:r>
              <a:rPr lang="de-CH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(dfs.permissions.enabled=true)</a:t>
            </a: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ACLs are used for implemention permissions that differ from natural hierarchy of users and groups</a:t>
            </a:r>
          </a:p>
          <a:p>
            <a:pPr lvl="1">
              <a:buClr>
                <a:schemeClr val="tx2"/>
              </a:buClr>
            </a:pPr>
            <a:r>
              <a:rPr lang="de-CH" sz="2400" dirty="0">
                <a:solidFill>
                  <a:schemeClr val="tx2"/>
                </a:solidFill>
              </a:rPr>
              <a:t>enabled by </a:t>
            </a:r>
            <a:r>
              <a:rPr lang="de-CH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dfs.namenode.acls.enabled=true</a:t>
            </a:r>
          </a:p>
          <a:p>
            <a:pPr lvl="1">
              <a:buClr>
                <a:schemeClr val="tx2"/>
              </a:buClr>
            </a:pPr>
            <a:endParaRPr lang="de-CH" sz="2667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10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477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779232"/>
          </a:xfrm>
        </p:spPr>
        <p:txBody>
          <a:bodyPr>
            <a:normAutofit/>
          </a:bodyPr>
          <a:lstStyle/>
          <a:p>
            <a:r>
              <a:rPr lang="en-US" sz="4000" dirty="0"/>
              <a:t>HDFS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12726"/>
            <a:ext cx="10969139" cy="5144001"/>
          </a:xfrm>
        </p:spPr>
        <p:txBody>
          <a:bodyPr>
            <a:normAutofit fontScale="47500" lnSpcReduction="20000"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800" dirty="0">
                <a:solidFill>
                  <a:schemeClr val="tx2"/>
                </a:solidFill>
              </a:rPr>
              <a:t>HDFS Defaults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Block Size – 64 MB</a:t>
            </a: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Replication Factor – 3</a:t>
            </a:r>
          </a:p>
          <a:p>
            <a:pPr>
              <a:buClr>
                <a:schemeClr val="tx2"/>
              </a:buClr>
            </a:pPr>
            <a:r>
              <a:rPr lang="de-CH" sz="3200" dirty="0">
                <a:solidFill>
                  <a:schemeClr val="tx2"/>
                </a:solidFill>
              </a:rPr>
              <a:t>Web UI Port – 50070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800" dirty="0">
                <a:solidFill>
                  <a:schemeClr val="tx2"/>
                </a:solidFill>
              </a:rPr>
              <a:t>HDFS conf file - </a:t>
            </a:r>
            <a:r>
              <a:rPr lang="de-CH" sz="29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/etc/hadoop/conf/hdfs-site.xml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&lt;property&gt;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&lt;name&gt;</a:t>
            </a:r>
            <a:r>
              <a:rPr lang="en-GB" sz="23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dfs.namenode.name.dir</a:t>
            </a: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&lt;/name&gt;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&lt;value&gt;file:///data1/cloudera/dfs/nn,file:///data2/cloudera/dfs/nn&lt;/value&gt;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&lt;/property&gt;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&lt;property&gt;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&lt;name&gt;</a:t>
            </a:r>
            <a:r>
              <a:rPr lang="en-GB" sz="23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dfs.blocksize</a:t>
            </a: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&lt;/name&gt;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&lt;value&gt;268435456&lt;/value&gt;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&lt;/property&gt;</a:t>
            </a:r>
          </a:p>
          <a:p>
            <a:pPr marL="48767" indent="0">
              <a:buClr>
                <a:schemeClr val="tx2"/>
              </a:buClr>
              <a:buNone/>
            </a:pPr>
            <a:endParaRPr lang="en-GB" sz="23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&lt;property&gt;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&lt;name&gt;</a:t>
            </a:r>
            <a:r>
              <a:rPr lang="en-GB" sz="23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dfs.replication</a:t>
            </a: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&lt;/name&gt;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&lt;value&gt;3&lt;/value&gt;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&lt;/property&gt;</a:t>
            </a:r>
          </a:p>
          <a:p>
            <a:pPr marL="48767" indent="0">
              <a:buClr>
                <a:schemeClr val="tx2"/>
              </a:buClr>
              <a:buNone/>
            </a:pPr>
            <a:endParaRPr lang="en-GB" sz="23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&lt;property&gt;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&lt;name&gt;</a:t>
            </a:r>
            <a:r>
              <a:rPr lang="en-GB" sz="23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dfs.namenode.http</a:t>
            </a: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-address&lt;/name&gt;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&lt;value&gt;itracXXX.cern.ch:50070&lt;/value&gt;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3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&lt;/property&gt;</a:t>
            </a:r>
            <a:endParaRPr lang="de-CH" sz="23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</a:pPr>
            <a:endParaRPr lang="en-GB" sz="32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11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748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3"/>
            <a:ext cx="10969139" cy="795307"/>
          </a:xfrm>
        </p:spPr>
        <p:txBody>
          <a:bodyPr>
            <a:normAutofit/>
          </a:bodyPr>
          <a:lstStyle/>
          <a:p>
            <a:r>
              <a:rPr lang="en-US" sz="4000" dirty="0"/>
              <a:t>Interfaces to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50463"/>
            <a:ext cx="10969139" cy="4742566"/>
          </a:xfrm>
        </p:spPr>
        <p:txBody>
          <a:bodyPr>
            <a:normAutofit/>
          </a:bodyPr>
          <a:lstStyle/>
          <a:p>
            <a:r>
              <a:rPr lang="en-US" sz="3600" dirty="0"/>
              <a:t>Java API </a:t>
            </a:r>
            <a:r>
              <a:rPr lang="en-US" sz="3200" dirty="0">
                <a:solidFill>
                  <a:srgbClr val="191919"/>
                </a:solidFill>
                <a:latin typeface="Courier New"/>
                <a:cs typeface="Courier New"/>
              </a:rPr>
              <a:t>(</a:t>
            </a:r>
            <a:r>
              <a:rPr lang="en-US" sz="3200" dirty="0" err="1">
                <a:solidFill>
                  <a:srgbClr val="191919"/>
                </a:solidFill>
                <a:latin typeface="Courier New"/>
                <a:cs typeface="Courier New"/>
              </a:rPr>
              <a:t>DistributedFileSystem</a:t>
            </a:r>
            <a:r>
              <a:rPr lang="en-US" sz="3200" dirty="0">
                <a:solidFill>
                  <a:srgbClr val="191919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3600" dirty="0"/>
              <a:t>C wrapper </a:t>
            </a:r>
            <a:r>
              <a:rPr lang="en-US" sz="3200" dirty="0">
                <a:solidFill>
                  <a:srgbClr val="191919"/>
                </a:solidFill>
                <a:latin typeface="Courier New"/>
                <a:cs typeface="Courier New"/>
              </a:rPr>
              <a:t>(</a:t>
            </a:r>
            <a:r>
              <a:rPr lang="en-US" sz="3200" dirty="0" err="1">
                <a:solidFill>
                  <a:srgbClr val="191919"/>
                </a:solidFill>
                <a:latin typeface="Courier New"/>
                <a:cs typeface="Courier New"/>
              </a:rPr>
              <a:t>libhdfs</a:t>
            </a:r>
            <a:r>
              <a:rPr lang="en-US" sz="3200" dirty="0">
                <a:solidFill>
                  <a:srgbClr val="191919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3600" dirty="0"/>
              <a:t>HTTP protocol</a:t>
            </a:r>
          </a:p>
          <a:p>
            <a:r>
              <a:rPr lang="en-US" sz="3600" dirty="0"/>
              <a:t>WebDAV protocol</a:t>
            </a:r>
          </a:p>
          <a:p>
            <a:r>
              <a:rPr lang="en-US" sz="3600" dirty="0"/>
              <a:t>Shell Commands</a:t>
            </a:r>
          </a:p>
          <a:p>
            <a:pPr marL="48767" indent="0">
              <a:buNone/>
            </a:pPr>
            <a:r>
              <a:rPr lang="en-US" sz="3600" dirty="0"/>
              <a:t>However the command line is one of the simplest and most familiar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12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920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HDFS – Shell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There are two types of shell commands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User Commands</a:t>
            </a:r>
          </a:p>
          <a:p>
            <a:pPr marL="597393" lvl="1" indent="0">
              <a:buClr>
                <a:schemeClr val="tx2"/>
              </a:buClr>
              <a:buNone/>
            </a:pPr>
            <a:r>
              <a:rPr lang="de-CH" sz="2667" dirty="0">
                <a:solidFill>
                  <a:srgbClr val="191919"/>
                </a:solidFill>
                <a:latin typeface="Courier New"/>
                <a:cs typeface="Courier New"/>
              </a:rPr>
              <a:t>hdfs dfs </a:t>
            </a:r>
            <a:r>
              <a:rPr lang="de-CH" sz="2667" dirty="0">
                <a:solidFill>
                  <a:schemeClr val="tx2"/>
                </a:solidFill>
              </a:rPr>
              <a:t>– runs filesystem commands on the HDFS</a:t>
            </a:r>
          </a:p>
          <a:p>
            <a:pPr marL="597393" lvl="1" indent="0">
              <a:buClr>
                <a:schemeClr val="tx2"/>
              </a:buClr>
              <a:buNone/>
            </a:pPr>
            <a:r>
              <a:rPr lang="de-CH" sz="2667" dirty="0">
                <a:solidFill>
                  <a:srgbClr val="191919"/>
                </a:solidFill>
                <a:latin typeface="Courier New"/>
                <a:cs typeface="Courier New"/>
              </a:rPr>
              <a:t>hdfs fsck </a:t>
            </a:r>
            <a:r>
              <a:rPr lang="de-CH" sz="2667" dirty="0">
                <a:solidFill>
                  <a:schemeClr val="tx2"/>
                </a:solidFill>
              </a:rPr>
              <a:t>– runs a HDFS filesystem checking command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Administration Commands</a:t>
            </a:r>
          </a:p>
          <a:p>
            <a:pPr marL="597393" lvl="1" indent="0">
              <a:buClr>
                <a:schemeClr val="tx2"/>
              </a:buClr>
              <a:buNone/>
            </a:pPr>
            <a:r>
              <a:rPr lang="de-CH" sz="2667" dirty="0">
                <a:solidFill>
                  <a:srgbClr val="191919"/>
                </a:solidFill>
                <a:latin typeface="Courier New"/>
                <a:cs typeface="Courier New"/>
              </a:rPr>
              <a:t>hdfs dfsadmin </a:t>
            </a:r>
            <a:r>
              <a:rPr lang="de-CH" sz="2667" dirty="0">
                <a:solidFill>
                  <a:schemeClr val="tx2"/>
                </a:solidFill>
              </a:rPr>
              <a:t>– runs HDFS administration commands</a:t>
            </a:r>
            <a:endParaRPr lang="en-GB" sz="2667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13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150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843532"/>
          </a:xfrm>
        </p:spPr>
        <p:txBody>
          <a:bodyPr>
            <a:normAutofit/>
          </a:bodyPr>
          <a:lstStyle/>
          <a:p>
            <a:r>
              <a:rPr lang="en-US" sz="4000" dirty="0"/>
              <a:t>HDFS – User Commands (</a:t>
            </a:r>
            <a:r>
              <a:rPr lang="en-US" sz="4000" dirty="0" err="1"/>
              <a:t>dfs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6"/>
            <a:ext cx="10969139" cy="4950641"/>
          </a:xfrm>
        </p:spPr>
        <p:txBody>
          <a:bodyPr>
            <a:norm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List directory contents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4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Display the disk space used by files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14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7960" y="1806948"/>
            <a:ext cx="8682552" cy="1362457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–ls</a:t>
            </a:r>
          </a:p>
          <a:p>
            <a:pPr marL="48767">
              <a:buClr>
                <a:schemeClr val="tx2"/>
              </a:buClr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-ls /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-ls -R /var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60" y="4023457"/>
            <a:ext cx="8682552" cy="173178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-du -h /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-du /hbase/data/hbase/namespace/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-du -h /hbase/data/hbase/namespace/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-du -s /hbase/data/hbase/namespace/</a:t>
            </a:r>
          </a:p>
        </p:txBody>
      </p:sp>
    </p:spTree>
    <p:extLst>
      <p:ext uri="{BB962C8B-B14F-4D97-AF65-F5344CB8AC3E}">
        <p14:creationId xmlns:p14="http://schemas.microsoft.com/office/powerpoint/2010/main" val="3514725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523" y="201343"/>
            <a:ext cx="10969139" cy="940443"/>
          </a:xfrm>
        </p:spPr>
        <p:txBody>
          <a:bodyPr>
            <a:normAutofit/>
          </a:bodyPr>
          <a:lstStyle/>
          <a:p>
            <a:r>
              <a:rPr lang="en-US" sz="4000" dirty="0"/>
              <a:t>HDFS – User Commands (</a:t>
            </a:r>
            <a:r>
              <a:rPr lang="en-US" sz="4000" dirty="0" err="1"/>
              <a:t>dfs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12725"/>
            <a:ext cx="11192256" cy="5083275"/>
          </a:xfrm>
        </p:spPr>
        <p:txBody>
          <a:bodyPr>
            <a:noAutofit/>
          </a:bodyPr>
          <a:lstStyle/>
          <a:p>
            <a:pPr marL="48767" indent="0">
              <a:buClr>
                <a:schemeClr val="tx2"/>
              </a:buClr>
              <a:buNone/>
            </a:pPr>
            <a:endParaRPr lang="de-CH" sz="24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Copy data to HDFS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4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Copy the file back to local filesystem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15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4536" y="2050788"/>
            <a:ext cx="11017320" cy="1731788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-mkdir tdata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-ls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-copyFromLocal tutorials/data/geneva.csv tdata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-ls –R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536" y="4471514"/>
            <a:ext cx="11017320" cy="1362457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>
              <a:buClr>
                <a:schemeClr val="tx2"/>
              </a:buClr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cd tutorials/data/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–copyToLocal tdata/geneva.csv geneva.csv.hdfs</a:t>
            </a:r>
          </a:p>
          <a:p>
            <a:pPr marL="48767">
              <a:buClr>
                <a:schemeClr val="tx2"/>
              </a:buClr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md5sum geneva.csv geneva.csv.hdfs</a:t>
            </a:r>
          </a:p>
        </p:txBody>
      </p:sp>
    </p:spTree>
    <p:extLst>
      <p:ext uri="{BB962C8B-B14F-4D97-AF65-F5344CB8AC3E}">
        <p14:creationId xmlns:p14="http://schemas.microsoft.com/office/powerpoint/2010/main" val="2281688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HDFS – User Commands (</a:t>
            </a:r>
            <a:r>
              <a:rPr lang="en-US" sz="4000" dirty="0" err="1"/>
              <a:t>acls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1326"/>
            <a:ext cx="10969139" cy="4939723"/>
          </a:xfrm>
        </p:spPr>
        <p:txBody>
          <a:bodyPr>
            <a:no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List acl for a file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de-CH" sz="1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List the file statistics – (%r – replication factor)</a:t>
            </a:r>
          </a:p>
          <a:p>
            <a:pPr marL="48767" indent="0">
              <a:buClr>
                <a:schemeClr val="tx2"/>
              </a:buClr>
              <a:buNone/>
            </a:pPr>
            <a:endParaRPr lang="de-CH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Write to hdfs reading from stdin</a:t>
            </a:r>
            <a:endParaRPr lang="en-US" sz="3200" dirty="0">
              <a:solidFill>
                <a:schemeClr val="tx2"/>
              </a:solidFill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16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7960" y="1806948"/>
            <a:ext cx="8682552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-getfacl tdata/geneva.csv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7960" y="3273961"/>
            <a:ext cx="8682552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>
              <a:buClr>
                <a:schemeClr val="tx2"/>
              </a:buClr>
            </a:pP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dfs -stat "%r" tdata/geneva.csv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60" y="4621024"/>
            <a:ext cx="11017321" cy="1362457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None/>
            </a:pP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echo "blah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blah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blah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" |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hdfs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-put -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tdataset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/tfile.txt</a:t>
            </a:r>
          </a:p>
          <a:p>
            <a:pPr marL="48767" indent="0">
              <a:buNone/>
            </a:pP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hdfs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-ls –R</a:t>
            </a:r>
          </a:p>
          <a:p>
            <a:pPr marL="48767" indent="0">
              <a:buNone/>
            </a:pP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hdfs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-cat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tdataset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/tfile.txt</a:t>
            </a:r>
          </a:p>
        </p:txBody>
      </p:sp>
    </p:spTree>
    <p:extLst>
      <p:ext uri="{BB962C8B-B14F-4D97-AF65-F5344CB8AC3E}">
        <p14:creationId xmlns:p14="http://schemas.microsoft.com/office/powerpoint/2010/main" val="1719598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HDFS – User Commands (</a:t>
            </a:r>
            <a:r>
              <a:rPr lang="en-US" sz="4000" dirty="0" err="1"/>
              <a:t>fsck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1326"/>
            <a:ext cx="10969139" cy="4939723"/>
          </a:xfrm>
        </p:spPr>
        <p:txBody>
          <a:bodyPr>
            <a:no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200" dirty="0" err="1">
                <a:solidFill>
                  <a:schemeClr val="tx2"/>
                </a:solidFill>
              </a:rPr>
              <a:t>Removing</a:t>
            </a:r>
            <a:r>
              <a:rPr lang="de-CH" sz="3200" dirty="0">
                <a:solidFill>
                  <a:schemeClr val="tx2"/>
                </a:solidFill>
              </a:rPr>
              <a:t> a </a:t>
            </a:r>
            <a:r>
              <a:rPr lang="de-CH" sz="3200" dirty="0" err="1">
                <a:solidFill>
                  <a:schemeClr val="tx2"/>
                </a:solidFill>
              </a:rPr>
              <a:t>file</a:t>
            </a: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chemeClr val="bg2">
                  <a:lumMod val="10000"/>
                </a:schemeClr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List the blocks of a file and their locations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en-US" sz="3200" dirty="0">
                <a:solidFill>
                  <a:schemeClr val="tx2"/>
                </a:solidFill>
              </a:rPr>
              <a:t>Print missing blocks and the files they belong to</a:t>
            </a: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2000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17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7960" y="1806948"/>
            <a:ext cx="8682552" cy="993125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-rm tdataset/tfile.txt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chemeClr val="bg2">
                    <a:lumMod val="10000"/>
                  </a:schemeClr>
                </a:solidFill>
                <a:latin typeface="Courier New"/>
                <a:cs typeface="Courier New"/>
              </a:rPr>
              <a:t>hdfs dfs -ls –R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7960" y="3433085"/>
            <a:ext cx="8682552" cy="993125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>
              <a:buClr>
                <a:schemeClr val="tx2"/>
              </a:buClr>
            </a:pP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fsck /user/cloudera/tdata/geneva.csv -files -blocks –locations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60" y="5283011"/>
            <a:ext cx="8682552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None/>
            </a:pP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hdfs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fsck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/ -list-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corruptfileblocks</a:t>
            </a:r>
            <a:endParaRPr lang="en-US" sz="2400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18216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HDFS – </a:t>
            </a:r>
            <a:r>
              <a:rPr lang="en-US" sz="4000" dirty="0" err="1"/>
              <a:t>Adminstration</a:t>
            </a:r>
            <a:r>
              <a:rPr lang="en-US" sz="4000" dirty="0"/>
              <a:t>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200" dirty="0" err="1">
                <a:solidFill>
                  <a:schemeClr val="tx2"/>
                </a:solidFill>
              </a:rPr>
              <a:t>Comprehensive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status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report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of</a:t>
            </a:r>
            <a:r>
              <a:rPr lang="de-CH" sz="3200" dirty="0">
                <a:solidFill>
                  <a:schemeClr val="tx2"/>
                </a:solidFill>
              </a:rPr>
              <a:t> HDFS </a:t>
            </a:r>
            <a:r>
              <a:rPr lang="de-CH" sz="3200" dirty="0" err="1">
                <a:solidFill>
                  <a:schemeClr val="tx2"/>
                </a:solidFill>
              </a:rPr>
              <a:t>cluster</a:t>
            </a: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Prints a </a:t>
            </a:r>
            <a:r>
              <a:rPr lang="de-CH" sz="3200" dirty="0" err="1">
                <a:solidFill>
                  <a:schemeClr val="tx2"/>
                </a:solidFill>
              </a:rPr>
              <a:t>tree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of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racks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and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their</a:t>
            </a:r>
            <a:r>
              <a:rPr lang="de-CH" sz="3200" dirty="0">
                <a:solidFill>
                  <a:schemeClr val="tx2"/>
                </a:solidFill>
              </a:rPr>
              <a:t> </a:t>
            </a:r>
            <a:r>
              <a:rPr lang="de-CH" sz="3200" dirty="0" err="1">
                <a:solidFill>
                  <a:schemeClr val="tx2"/>
                </a:solidFill>
              </a:rPr>
              <a:t>nodes</a:t>
            </a: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Get the information for a given datanode (like ping)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2400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18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5768" y="1753012"/>
            <a:ext cx="8682552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dfsadmin –report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5768" y="3087182"/>
            <a:ext cx="8682552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dfsadmin –printTopology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768" y="4913844"/>
            <a:ext cx="8682552" cy="993125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dfsadmin -getDatanodeInfo localhost:50020</a:t>
            </a:r>
          </a:p>
        </p:txBody>
      </p:sp>
    </p:spTree>
    <p:extLst>
      <p:ext uri="{BB962C8B-B14F-4D97-AF65-F5344CB8AC3E}">
        <p14:creationId xmlns:p14="http://schemas.microsoft.com/office/powerpoint/2010/main" val="3333150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HDFS – Advanced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3937"/>
            <a:ext cx="10969139" cy="4819092"/>
          </a:xfrm>
        </p:spPr>
        <p:txBody>
          <a:bodyPr>
            <a:norm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Get a list of namenodes in the Hadoop cluster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20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3200" dirty="0">
                <a:solidFill>
                  <a:schemeClr val="tx2"/>
                </a:solidFill>
              </a:rPr>
              <a:t>Dump the NameNode fsimage to XML file</a:t>
            </a: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endParaRPr lang="de-CH" sz="3200" dirty="0">
              <a:solidFill>
                <a:schemeClr val="tx2"/>
              </a:solidFill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en-GB" sz="2400" dirty="0">
                <a:solidFill>
                  <a:srgbClr val="191919"/>
                </a:solidFill>
                <a:latin typeface="Courier New"/>
                <a:cs typeface="Courier New"/>
              </a:rPr>
              <a:t>The general command line syntax is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en-GB" sz="2400" b="1" dirty="0" err="1">
                <a:solidFill>
                  <a:srgbClr val="191919"/>
                </a:solidFill>
                <a:latin typeface="Courier New"/>
                <a:cs typeface="Courier New"/>
              </a:rPr>
              <a:t>hdfs</a:t>
            </a:r>
            <a:r>
              <a:rPr lang="en-GB" sz="2400" b="1" dirty="0">
                <a:solidFill>
                  <a:srgbClr val="191919"/>
                </a:solidFill>
                <a:latin typeface="Courier New"/>
                <a:cs typeface="Courier New"/>
              </a:rPr>
              <a:t> command [</a:t>
            </a:r>
            <a:r>
              <a:rPr lang="en-GB" sz="2400" b="1" dirty="0" err="1">
                <a:solidFill>
                  <a:srgbClr val="191919"/>
                </a:solidFill>
                <a:latin typeface="Courier New"/>
                <a:cs typeface="Courier New"/>
              </a:rPr>
              <a:t>genericOptions</a:t>
            </a:r>
            <a:r>
              <a:rPr lang="en-GB" sz="2400" b="1" dirty="0">
                <a:solidFill>
                  <a:srgbClr val="191919"/>
                </a:solidFill>
                <a:latin typeface="Courier New"/>
                <a:cs typeface="Courier New"/>
              </a:rPr>
              <a:t>] [</a:t>
            </a:r>
            <a:r>
              <a:rPr lang="en-GB" sz="2400" b="1" dirty="0" err="1">
                <a:solidFill>
                  <a:srgbClr val="191919"/>
                </a:solidFill>
                <a:latin typeface="Courier New"/>
                <a:cs typeface="Courier New"/>
              </a:rPr>
              <a:t>commandOptions</a:t>
            </a:r>
            <a:r>
              <a:rPr lang="en-GB" sz="2400" b="1" dirty="0">
                <a:solidFill>
                  <a:srgbClr val="191919"/>
                </a:solidFill>
                <a:latin typeface="Courier New"/>
                <a:cs typeface="Courier New"/>
              </a:rPr>
              <a:t>]</a:t>
            </a:r>
            <a:endParaRPr lang="de-CH" sz="2400" b="1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19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solidFill>
                  <a:srgbClr val="0055A0">
                    <a:tint val="75000"/>
                  </a:srgbClr>
                </a:solidFill>
              </a:rPr>
              <a:t>Introduction to HDFS</a:t>
            </a:r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7480" y="1832688"/>
            <a:ext cx="9865176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/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getconf –namenodes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480" y="3233412"/>
            <a:ext cx="9865176" cy="1362457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cd /var/lib/hadoop-hdfs/cache/hdfs/dfs/name/current</a:t>
            </a:r>
          </a:p>
          <a:p>
            <a:pPr marL="48767" indent="0">
              <a:buClr>
                <a:schemeClr val="tx2"/>
              </a:buClr>
              <a:buNone/>
            </a:pPr>
            <a:r>
              <a:rPr lang="de-CH" sz="2400" dirty="0">
                <a:solidFill>
                  <a:srgbClr val="191919"/>
                </a:solidFill>
                <a:latin typeface="Courier New"/>
                <a:cs typeface="Courier New"/>
              </a:rPr>
              <a:t>hdfs oiv -i fsimage_0000000000000003388 -o /tmp/fsimage.xml -p XML</a:t>
            </a:r>
          </a:p>
        </p:txBody>
      </p:sp>
    </p:spTree>
    <p:extLst>
      <p:ext uri="{BB962C8B-B14F-4D97-AF65-F5344CB8AC3E}">
        <p14:creationId xmlns:p14="http://schemas.microsoft.com/office/powerpoint/2010/main" val="2721800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3494"/>
            <a:ext cx="10969139" cy="747082"/>
          </a:xfrm>
        </p:spPr>
        <p:txBody>
          <a:bodyPr>
            <a:normAutofit/>
          </a:bodyPr>
          <a:lstStyle/>
          <a:p>
            <a:r>
              <a:rPr lang="en-US" sz="4000" dirty="0"/>
              <a:t>Other Interfaces to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1326"/>
            <a:ext cx="10969139" cy="4999327"/>
          </a:xfrm>
        </p:spPr>
        <p:txBody>
          <a:bodyPr>
            <a:normAutofit/>
          </a:bodyPr>
          <a:lstStyle/>
          <a:p>
            <a:pPr marL="48767" indent="0">
              <a:buNone/>
            </a:pPr>
            <a:r>
              <a:rPr lang="en-US" sz="3200" dirty="0"/>
              <a:t>HTTP Interface</a:t>
            </a:r>
          </a:p>
          <a:p>
            <a:pPr marL="48767" indent="0">
              <a:buNone/>
            </a:pPr>
            <a:endParaRPr lang="en-US" sz="2400" dirty="0"/>
          </a:p>
          <a:p>
            <a:pPr marL="48767" indent="0">
              <a:buNone/>
            </a:pPr>
            <a:endParaRPr lang="en-US" sz="2400" dirty="0"/>
          </a:p>
          <a:p>
            <a:pPr marL="48767" indent="0">
              <a:buNone/>
            </a:pPr>
            <a:r>
              <a:rPr lang="en-US" sz="3200" dirty="0" err="1"/>
              <a:t>MountableHDFS</a:t>
            </a:r>
            <a:r>
              <a:rPr lang="en-US" sz="3200" dirty="0"/>
              <a:t> – FUSE</a:t>
            </a:r>
          </a:p>
          <a:p>
            <a:pPr marL="48767" indent="0">
              <a:buNone/>
            </a:pPr>
            <a:endParaRPr lang="en-US" sz="1700" dirty="0">
              <a:latin typeface="Courier New"/>
              <a:cs typeface="Courier New"/>
            </a:endParaRPr>
          </a:p>
          <a:p>
            <a:pPr marL="48767" indent="0">
              <a:buNone/>
            </a:pPr>
            <a:endParaRPr lang="en-US" sz="1800" dirty="0"/>
          </a:p>
          <a:p>
            <a:pPr marL="48767" indent="0">
              <a:buNone/>
            </a:pPr>
            <a:endParaRPr lang="en-US" sz="2400" dirty="0"/>
          </a:p>
          <a:p>
            <a:pPr marL="48767" indent="0">
              <a:buNone/>
            </a:pPr>
            <a:endParaRPr lang="en-US" sz="2400" dirty="0"/>
          </a:p>
          <a:p>
            <a:pPr marL="48767" indent="0">
              <a:buNone/>
            </a:pPr>
            <a:endParaRPr lang="en-US" sz="2400" dirty="0"/>
          </a:p>
          <a:p>
            <a:pPr marL="48767" indent="0">
              <a:buNone/>
            </a:pPr>
            <a:r>
              <a:rPr lang="en-US" sz="2400" dirty="0"/>
              <a:t>Once mounted all operations on HDFS can be performed using standard Unix utilities such as 'ls', 'cd', '</a:t>
            </a:r>
            <a:r>
              <a:rPr lang="en-US" sz="2400" dirty="0" err="1"/>
              <a:t>cp</a:t>
            </a:r>
            <a:r>
              <a:rPr lang="en-US" sz="2400" dirty="0"/>
              <a:t>', '</a:t>
            </a:r>
            <a:r>
              <a:rPr lang="en-US" sz="2400" dirty="0" err="1"/>
              <a:t>mkdir</a:t>
            </a:r>
            <a:r>
              <a:rPr lang="en-US" sz="2400" dirty="0"/>
              <a:t>', 'find', '</a:t>
            </a:r>
            <a:r>
              <a:rPr lang="en-US" sz="2400" dirty="0" err="1"/>
              <a:t>grep</a:t>
            </a:r>
            <a:r>
              <a:rPr lang="en-US" sz="2400" dirty="0"/>
              <a:t>',</a:t>
            </a:r>
            <a:endParaRPr lang="en-US" sz="2400" dirty="0">
              <a:latin typeface="Courier New"/>
              <a:cs typeface="Courier New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0055A0">
                    <a:tint val="75000"/>
                  </a:srgbClr>
                </a:solidFill>
              </a:rPr>
              <a:t>Introduction to HDFS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7918391-D411-FE40-AAD7-861AE5233E0E}" type="slidenum">
              <a:rPr lang="en-US" smtClean="0">
                <a:solidFill>
                  <a:srgbClr val="0055A0">
                    <a:tint val="75000"/>
                  </a:srgbClr>
                </a:solidFill>
              </a:rPr>
              <a:pPr/>
              <a:t>20</a:t>
            </a:fld>
            <a:endParaRPr lang="en-US" dirty="0">
              <a:solidFill>
                <a:srgbClr val="0055A0">
                  <a:tint val="75000"/>
                </a:srgb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4056" y="1886196"/>
            <a:ext cx="9865176" cy="62379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None/>
            </a:pP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http://quickstart.cloudera:50070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056" y="3376779"/>
            <a:ext cx="9865176" cy="1362457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55A0"/>
            </a:solidFill>
          </a:ln>
        </p:spPr>
        <p:txBody>
          <a:bodyPr wrap="square" lIns="180000" tIns="126000" rIns="180000" bIns="126000" rtlCol="0">
            <a:spAutoFit/>
          </a:bodyPr>
          <a:lstStyle/>
          <a:p>
            <a:pPr marL="48767" indent="0">
              <a:buNone/>
            </a:pP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mkdir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/home/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cloudera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/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hdfs</a:t>
            </a:r>
            <a:endParaRPr lang="en-US" sz="2400" dirty="0">
              <a:solidFill>
                <a:srgbClr val="191919"/>
              </a:solidFill>
              <a:latin typeface="Courier New"/>
              <a:cs typeface="Courier New"/>
            </a:endParaRPr>
          </a:p>
          <a:p>
            <a:pPr marL="48767" indent="0">
              <a:buNone/>
            </a:pP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sudo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hadoop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-fuse-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dfs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 dfs://quickstart.cloudera:8020 /home/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cloudera</a:t>
            </a:r>
            <a:r>
              <a:rPr lang="en-US" sz="2400" dirty="0">
                <a:solidFill>
                  <a:srgbClr val="191919"/>
                </a:solidFill>
                <a:latin typeface="Courier New"/>
                <a:cs typeface="Courier New"/>
              </a:rPr>
              <a:t>/</a:t>
            </a:r>
            <a:r>
              <a:rPr lang="en-US" sz="2400" dirty="0" err="1">
                <a:solidFill>
                  <a:srgbClr val="191919"/>
                </a:solidFill>
                <a:latin typeface="Courier New"/>
                <a:cs typeface="Courier New"/>
              </a:rPr>
              <a:t>hdfs</a:t>
            </a:r>
            <a:endParaRPr lang="en-US" sz="2400" dirty="0">
              <a:solidFill>
                <a:srgbClr val="191919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75863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 txBox="1">
            <a:spLocks/>
          </p:cNvSpPr>
          <p:nvPr/>
        </p:nvSpPr>
        <p:spPr>
          <a:xfrm>
            <a:off x="609599" y="1218171"/>
            <a:ext cx="11325727" cy="4938779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493776" indent="-4572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Arial"/>
              <a:buChar char="•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5256" indent="-4572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/>
              <a:buChar char="•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2708" indent="-34290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85000"/>
              <a:buFont typeface="Arial"/>
              <a:buChar char="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85316" indent="-3429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0000"/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0492" indent="-3429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078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/>
              <a:buChar char="-"/>
              <a:defRPr kumimoji="0"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Arial"/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9696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▪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/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2"/>
              </a:buClr>
            </a:pPr>
            <a:endParaRPr lang="pl-PL" sz="3733" dirty="0"/>
          </a:p>
          <a:p>
            <a:pPr>
              <a:buClr>
                <a:schemeClr val="tx2"/>
              </a:buClr>
            </a:pPr>
            <a:endParaRPr lang="pl-PL" sz="3733" dirty="0"/>
          </a:p>
          <a:p>
            <a:pPr>
              <a:buClr>
                <a:schemeClr val="tx2"/>
              </a:buClr>
            </a:pPr>
            <a:endParaRPr lang="pl-PL" sz="3733" dirty="0"/>
          </a:p>
          <a:p>
            <a:pPr>
              <a:buClr>
                <a:schemeClr val="tx2"/>
              </a:buClr>
            </a:pPr>
            <a:endParaRPr lang="pl-PL" sz="3733" dirty="0"/>
          </a:p>
          <a:p>
            <a:pPr>
              <a:buClr>
                <a:schemeClr val="tx2"/>
              </a:buClr>
            </a:pPr>
            <a:endParaRPr lang="pl-PL" sz="3733" dirty="0"/>
          </a:p>
          <a:p>
            <a:pPr marL="48767" indent="0">
              <a:buClr>
                <a:schemeClr val="tx2"/>
              </a:buClr>
              <a:buNone/>
            </a:pPr>
            <a:endParaRPr lang="pl-PL" sz="2667" b="1" dirty="0">
              <a:latin typeface="Calibri" panose="020F0502020204030204" pitchFamily="34" charset="0"/>
            </a:endParaRPr>
          </a:p>
          <a:p>
            <a:pPr marL="48767" indent="0">
              <a:buClr>
                <a:schemeClr val="tx2"/>
              </a:buClr>
              <a:buNone/>
            </a:pPr>
            <a:endParaRPr lang="pl-PL" sz="2667" b="1" dirty="0">
              <a:latin typeface="Calibri" panose="020F0502020204030204" pitchFamily="34" charset="0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pl-PL" sz="2667" b="1" dirty="0">
                <a:latin typeface="Calibri" panose="020F0502020204030204" pitchFamily="34" charset="0"/>
              </a:rPr>
              <a:t>E-mail:</a:t>
            </a:r>
            <a:r>
              <a:rPr lang="pl-PL" sz="2667" dirty="0">
                <a:latin typeface="Calibri" panose="020F0502020204030204" pitchFamily="34" charset="0"/>
              </a:rPr>
              <a:t> </a:t>
            </a:r>
            <a:r>
              <a:rPr lang="de-CH" sz="2667" dirty="0">
                <a:solidFill>
                  <a:schemeClr val="accent6"/>
                </a:solidFill>
                <a:latin typeface="Calibri" panose="020F0502020204030204" pitchFamily="34" charset="0"/>
                <a:hlinkClick r:id="rId3"/>
              </a:rPr>
              <a:t>Prasanth.Kothuri@cern.ch</a:t>
            </a:r>
            <a:endParaRPr lang="de-CH" sz="2667" dirty="0">
              <a:solidFill>
                <a:schemeClr val="accent6"/>
              </a:solidFill>
              <a:latin typeface="Calibri" panose="020F0502020204030204" pitchFamily="34" charset="0"/>
            </a:endParaRPr>
          </a:p>
          <a:p>
            <a:pPr marL="48767" indent="0">
              <a:buClr>
                <a:schemeClr val="tx2"/>
              </a:buClr>
              <a:buNone/>
            </a:pPr>
            <a:r>
              <a:rPr lang="de-CH" sz="2667" b="1" dirty="0">
                <a:solidFill>
                  <a:schemeClr val="tx2"/>
                </a:solidFill>
                <a:latin typeface="Calibri" panose="020F0502020204030204" pitchFamily="34" charset="0"/>
              </a:rPr>
              <a:t>Blog</a:t>
            </a:r>
            <a:r>
              <a:rPr lang="de-CH" sz="2667" dirty="0">
                <a:solidFill>
                  <a:schemeClr val="accent6"/>
                </a:solidFill>
                <a:latin typeface="Calibri" panose="020F0502020204030204" pitchFamily="34" charset="0"/>
              </a:rPr>
              <a:t>: http://prasanthkothuri.wordpress.com</a:t>
            </a:r>
            <a:endParaRPr lang="pl-PL" sz="2667" dirty="0">
              <a:solidFill>
                <a:schemeClr val="accent6"/>
              </a:solidFill>
              <a:latin typeface="Calibri" panose="020F0502020204030204" pitchFamily="34" charset="0"/>
            </a:endParaRPr>
          </a:p>
          <a:p>
            <a:pPr marL="48767" indent="0">
              <a:buClr>
                <a:schemeClr val="tx2"/>
              </a:buClr>
              <a:buNone/>
            </a:pPr>
            <a:endParaRPr lang="pl-PL" sz="3200" dirty="0">
              <a:solidFill>
                <a:schemeClr val="accent6"/>
              </a:solidFill>
              <a:latin typeface="Calibri" panose="020F0502020204030204" pitchFamily="34" charset="0"/>
            </a:endParaRPr>
          </a:p>
          <a:p>
            <a:pPr marL="48767" indent="0">
              <a:buClr>
                <a:schemeClr val="tx2"/>
              </a:buClr>
              <a:buNone/>
            </a:pPr>
            <a:endParaRPr lang="en-US" sz="3200" dirty="0">
              <a:solidFill>
                <a:schemeClr val="accent6"/>
              </a:solidFill>
            </a:endParaRPr>
          </a:p>
          <a:p>
            <a:pPr>
              <a:buClr>
                <a:schemeClr val="tx2"/>
              </a:buClr>
            </a:pPr>
            <a:endParaRPr lang="en-US" sz="3200" dirty="0">
              <a:sym typeface="Wingdings" panose="05000000000000000000" pitchFamily="2" charset="2"/>
            </a:endParaRPr>
          </a:p>
          <a:p>
            <a:pPr>
              <a:buClr>
                <a:schemeClr val="tx2"/>
              </a:buClr>
            </a:pPr>
            <a:endParaRPr lang="en-US" sz="3200" dirty="0"/>
          </a:p>
          <a:p>
            <a:pPr>
              <a:buClr>
                <a:schemeClr val="tx2"/>
              </a:buClr>
            </a:pPr>
            <a:endParaRPr lang="en-US" sz="3200" dirty="0"/>
          </a:p>
          <a:p>
            <a:pPr>
              <a:buClr>
                <a:schemeClr val="tx2"/>
              </a:buClr>
            </a:pPr>
            <a:endParaRPr lang="en-US" sz="3200" dirty="0"/>
          </a:p>
          <a:p>
            <a:pPr>
              <a:buClr>
                <a:schemeClr val="tx2"/>
              </a:buClr>
            </a:pPr>
            <a:endParaRPr lang="en-US" sz="42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F89FEF-6A44-9B41-A33D-7815FD06DC43}" type="slidenum">
              <a:rPr lang="en-US" smtClean="0"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24143" y="1817405"/>
            <a:ext cx="10969139" cy="4194775"/>
          </a:xfrm>
        </p:spPr>
        <p:txBody>
          <a:bodyPr/>
          <a:lstStyle/>
          <a:p>
            <a:pPr marL="48767" indent="0" algn="ctr">
              <a:buNone/>
            </a:pPr>
            <a:endParaRPr lang="pl-PL" dirty="0">
              <a:latin typeface="Stencil" panose="040409050D0802020404" pitchFamily="82" charset="0"/>
            </a:endParaRPr>
          </a:p>
          <a:p>
            <a:pPr marL="48767" indent="0" algn="ctr">
              <a:buNone/>
            </a:pPr>
            <a:endParaRPr lang="de-CH" dirty="0">
              <a:latin typeface="Stencil" panose="040409050D0802020404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83536" y="1902864"/>
            <a:ext cx="4574848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48767" algn="ctr"/>
            <a:r>
              <a:rPr lang="pl-PL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Q </a:t>
            </a:r>
            <a:r>
              <a:rPr lang="pl-PL" sz="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Schoolbook" panose="02040604050505020304" pitchFamily="18" charset="0"/>
              </a:rPr>
              <a:t>&amp;</a:t>
            </a:r>
            <a:r>
              <a:rPr lang="pl-PL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A</a:t>
            </a:r>
            <a:endParaRPr lang="en-US" sz="9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phant" panose="020209040905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3305" y="6356351"/>
            <a:ext cx="9451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See also: https://db-blog.web.cern.ch/</a:t>
            </a:r>
          </a:p>
        </p:txBody>
      </p:sp>
    </p:spTree>
    <p:extLst>
      <p:ext uri="{BB962C8B-B14F-4D97-AF65-F5344CB8AC3E}">
        <p14:creationId xmlns:p14="http://schemas.microsoft.com/office/powerpoint/2010/main" val="294036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10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CERNPrésentation1_16x9numpages">
  <a:themeElements>
    <a:clrScheme name="CERN 1">
      <a:dk1>
        <a:srgbClr val="0055A0"/>
      </a:dk1>
      <a:lt1>
        <a:sysClr val="window" lastClr="FFFFFF"/>
      </a:lt1>
      <a:dk2>
        <a:srgbClr val="0055A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2676</TotalTime>
  <Words>1457</Words>
  <Application>Microsoft Office PowerPoint</Application>
  <PresentationFormat>宽屏</PresentationFormat>
  <Paragraphs>262</Paragraphs>
  <Slides>21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Calibri</vt:lpstr>
      <vt:lpstr>Century Schoolbook</vt:lpstr>
      <vt:lpstr>Courier New</vt:lpstr>
      <vt:lpstr>Elephant</vt:lpstr>
      <vt:lpstr>Stencil</vt:lpstr>
      <vt:lpstr>Wingdings</vt:lpstr>
      <vt:lpstr>CERNPrésentation1_16x9numpages</vt:lpstr>
      <vt:lpstr>PowerPoint 演示文稿</vt:lpstr>
      <vt:lpstr>PowerPoint 演示文稿</vt:lpstr>
      <vt:lpstr>What’s HDFS</vt:lpstr>
      <vt:lpstr>Components of HDFS</vt:lpstr>
      <vt:lpstr>HDFS Architecture</vt:lpstr>
      <vt:lpstr>Unique features of HDFS</vt:lpstr>
      <vt:lpstr>HDFS – Data Organization</vt:lpstr>
      <vt:lpstr>Read Operation in HDFS</vt:lpstr>
      <vt:lpstr>Write Operation in HDFS</vt:lpstr>
      <vt:lpstr>HDFS Security</vt:lpstr>
      <vt:lpstr>HDFS Configuration</vt:lpstr>
      <vt:lpstr>Interfaces to HDFS</vt:lpstr>
      <vt:lpstr>HDFS – Shell Commands</vt:lpstr>
      <vt:lpstr>HDFS – User Commands (dfs)</vt:lpstr>
      <vt:lpstr>HDFS – User Commands (dfs)</vt:lpstr>
      <vt:lpstr>HDFS – User Commands (acls)</vt:lpstr>
      <vt:lpstr>HDFS – User Commands (fsck)</vt:lpstr>
      <vt:lpstr>HDFS – Adminstration Commands</vt:lpstr>
      <vt:lpstr>HDFS – Advanced Commands</vt:lpstr>
      <vt:lpstr>Other Interfaces to HDFS</vt:lpstr>
      <vt:lpstr>PowerPoint 演示文稿</vt:lpstr>
    </vt:vector>
  </TitlesOfParts>
  <Company>CERN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Prasanth Kothuri</dc:creator>
  <cp:lastModifiedBy>Prof. Chung Yehching (SDS)</cp:lastModifiedBy>
  <cp:revision>165</cp:revision>
  <dcterms:created xsi:type="dcterms:W3CDTF">2015-06-04T19:48:32Z</dcterms:created>
  <dcterms:modified xsi:type="dcterms:W3CDTF">2024-07-18T23:50:45Z</dcterms:modified>
</cp:coreProperties>
</file>