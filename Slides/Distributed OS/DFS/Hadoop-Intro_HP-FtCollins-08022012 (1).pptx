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74" r:id="rId5"/>
    <p:sldId id="266" r:id="rId6"/>
    <p:sldId id="284" r:id="rId7"/>
    <p:sldId id="268" r:id="rId8"/>
    <p:sldId id="283" r:id="rId9"/>
    <p:sldId id="269" r:id="rId10"/>
    <p:sldId id="272" r:id="rId11"/>
    <p:sldId id="273" r:id="rId12"/>
    <p:sldId id="309" r:id="rId13"/>
    <p:sldId id="275" r:id="rId14"/>
    <p:sldId id="271" r:id="rId15"/>
    <p:sldId id="297" r:id="rId16"/>
    <p:sldId id="291" r:id="rId17"/>
    <p:sldId id="296" r:id="rId18"/>
    <p:sldId id="294" r:id="rId19"/>
    <p:sldId id="298" r:id="rId20"/>
    <p:sldId id="292" r:id="rId21"/>
    <p:sldId id="293" r:id="rId22"/>
    <p:sldId id="300" r:id="rId23"/>
    <p:sldId id="295" r:id="rId24"/>
    <p:sldId id="305" r:id="rId25"/>
    <p:sldId id="299" r:id="rId26"/>
    <p:sldId id="290" r:id="rId27"/>
    <p:sldId id="303" r:id="rId28"/>
    <p:sldId id="307" r:id="rId29"/>
    <p:sldId id="304" r:id="rId30"/>
    <p:sldId id="306" r:id="rId31"/>
    <p:sldId id="310" r:id="rId32"/>
    <p:sldId id="311" r:id="rId33"/>
    <p:sldId id="313" r:id="rId34"/>
    <p:sldId id="312" r:id="rId35"/>
    <p:sldId id="301" r:id="rId36"/>
    <p:sldId id="277" r:id="rId37"/>
    <p:sldId id="278" r:id="rId38"/>
    <p:sldId id="276" r:id="rId39"/>
    <p:sldId id="280" r:id="rId40"/>
    <p:sldId id="279" r:id="rId41"/>
    <p:sldId id="281" r:id="rId42"/>
    <p:sldId id="285" r:id="rId43"/>
    <p:sldId id="286" r:id="rId44"/>
    <p:sldId id="287" r:id="rId45"/>
    <p:sldId id="289" r:id="rId46"/>
    <p:sldId id="288" r:id="rId47"/>
    <p:sldId id="260" r:id="rId48"/>
    <p:sldId id="270" r:id="rId49"/>
    <p:sldId id="264" r:id="rId50"/>
    <p:sldId id="261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11" autoAdjust="0"/>
    <p:restoredTop sz="95085" autoAdjust="0"/>
  </p:normalViewPr>
  <p:slideViewPr>
    <p:cSldViewPr>
      <p:cViewPr varScale="1">
        <p:scale>
          <a:sx n="78" d="100"/>
          <a:sy n="78" d="100"/>
        </p:scale>
        <p:origin x="-34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6" y="33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5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0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85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623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67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0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2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15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61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66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579D0-3242-461E-B55A-CC3DF100B244}" type="datetimeFigureOut">
              <a:rPr lang="en-US" smtClean="0"/>
              <a:t>7/19/2024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EF6B-384D-4D41-9E4C-BA7B35CE7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3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yahoo.com/blogs/hadoop/posts/2008/09/scaling_hadoop_to_4000_nodes_a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Doing Hoops With Hadoop</a:t>
            </a:r>
            <a:br>
              <a:rPr lang="en-US" dirty="0"/>
            </a:br>
            <a:r>
              <a:rPr lang="en-US" dirty="0"/>
              <a:t>(and friends)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7056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Greg Rogers</a:t>
            </a:r>
          </a:p>
          <a:p>
            <a:r>
              <a:rPr lang="en-US" sz="2800" dirty="0"/>
              <a:t>Systems Performance &amp; Capacity Planning</a:t>
            </a:r>
          </a:p>
          <a:p>
            <a:r>
              <a:rPr lang="en-US" sz="2800" dirty="0"/>
              <a:t>Financial Services Industry</a:t>
            </a:r>
          </a:p>
          <a:p>
            <a:r>
              <a:rPr lang="en-US" sz="2800" dirty="0"/>
              <a:t>(formerly DEC, Compaq, HP, MACP Consulting)</a:t>
            </a:r>
          </a:p>
          <a:p>
            <a:r>
              <a:rPr lang="en-US" sz="2800" dirty="0"/>
              <a:t>Hewlett-Packard Enterprise Systems Division</a:t>
            </a:r>
          </a:p>
          <a:p>
            <a:r>
              <a:rPr lang="en-US" sz="2800" dirty="0"/>
              <a:t>2 August 2012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340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What’s all the excitement about?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In a phrase:  </a:t>
            </a:r>
          </a:p>
          <a:p>
            <a:pPr lvl="1"/>
            <a:r>
              <a:rPr lang="en-US" sz="2400" dirty="0"/>
              <a:t>Big Data</a:t>
            </a:r>
          </a:p>
          <a:p>
            <a:pPr lvl="1"/>
            <a:r>
              <a:rPr lang="en-US" sz="2400" dirty="0"/>
              <a:t>Analytics</a:t>
            </a:r>
          </a:p>
          <a:p>
            <a:pPr lvl="2"/>
            <a:r>
              <a:rPr lang="en-US" sz="2000" dirty="0"/>
              <a:t>Data science:  Develop insights from Big Data</a:t>
            </a:r>
          </a:p>
          <a:p>
            <a:pPr lvl="3"/>
            <a:r>
              <a:rPr lang="en-US" sz="1600" dirty="0"/>
              <a:t>Often statistical, often centered around Clustering and Machine Learning</a:t>
            </a:r>
          </a:p>
          <a:p>
            <a:pPr lvl="2"/>
            <a:r>
              <a:rPr lang="en-US" sz="2000" dirty="0"/>
              <a:t>Big Brother Is Watching You (BBIWY)</a:t>
            </a:r>
          </a:p>
          <a:p>
            <a:pPr lvl="3"/>
            <a:r>
              <a:rPr lang="en-US" sz="1600" dirty="0"/>
              <a:t>Governments?  Corporations?  Criminals?</a:t>
            </a:r>
          </a:p>
          <a:p>
            <a:pPr lvl="3"/>
            <a:r>
              <a:rPr lang="en-US" sz="1600" dirty="0"/>
              <a:t>Somebody else’s presentation topic!</a:t>
            </a:r>
          </a:p>
          <a:p>
            <a:pPr lvl="4"/>
            <a:r>
              <a:rPr lang="en-US" sz="1600" dirty="0"/>
              <a:t>Bruce Schneier, et al</a:t>
            </a:r>
          </a:p>
          <a:p>
            <a:pPr lvl="1"/>
            <a:r>
              <a:rPr lang="en-US" sz="2400" dirty="0"/>
              <a:t>Cloud Computing</a:t>
            </a:r>
          </a:p>
          <a:p>
            <a:pPr lvl="2"/>
            <a:r>
              <a:rPr lang="en-US" sz="2000" dirty="0"/>
              <a:t>Public: Amazon, et al, low-cost prototyping for startup companies</a:t>
            </a:r>
          </a:p>
          <a:p>
            <a:pPr lvl="3"/>
            <a:r>
              <a:rPr lang="en-US" sz="1600" dirty="0"/>
              <a:t>Elastic Compute Cloud (EC3)</a:t>
            </a:r>
          </a:p>
          <a:p>
            <a:pPr lvl="3"/>
            <a:r>
              <a:rPr lang="en-US" sz="1600" dirty="0"/>
              <a:t>Simple Storage Service (S3) </a:t>
            </a:r>
          </a:p>
          <a:p>
            <a:pPr lvl="3"/>
            <a:r>
              <a:rPr lang="en-US" sz="1600" dirty="0"/>
              <a:t>EBS</a:t>
            </a:r>
          </a:p>
          <a:p>
            <a:pPr lvl="3"/>
            <a:r>
              <a:rPr lang="en-US" sz="1600" dirty="0"/>
              <a:t>Hadoop services</a:t>
            </a:r>
          </a:p>
          <a:p>
            <a:pPr lvl="2"/>
            <a:r>
              <a:rPr lang="en-US" sz="2000" dirty="0"/>
              <a:t>Private</a:t>
            </a:r>
          </a:p>
          <a:p>
            <a:pPr lvl="1"/>
            <a:r>
              <a:rPr lang="en-US" sz="2400" dirty="0"/>
              <a:t>Grid or Cluster computing</a:t>
            </a:r>
          </a:p>
        </p:txBody>
      </p:sp>
    </p:spTree>
    <p:extLst>
      <p:ext uri="{BB962C8B-B14F-4D97-AF65-F5344CB8AC3E}">
        <p14:creationId xmlns:p14="http://schemas.microsoft.com/office/powerpoint/2010/main" val="85618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Say hello to Hadoop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357438"/>
            <a:ext cx="2857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95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One more time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62200"/>
            <a:ext cx="792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324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Say hello to Hadoop’s friends</a:t>
            </a:r>
            <a:br>
              <a:rPr lang="en-US" sz="2800" dirty="0"/>
            </a:br>
            <a:r>
              <a:rPr lang="en-US" sz="2800" dirty="0"/>
              <a:t>a.k.a. The Hadoop Ecosystem ca. 2011-2012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5912"/>
            <a:ext cx="7143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25754"/>
            <a:ext cx="10858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821811"/>
            <a:ext cx="25336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71800"/>
            <a:ext cx="2743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048000"/>
            <a:ext cx="121920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520" y="2840990"/>
            <a:ext cx="1428750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520" y="1801174"/>
            <a:ext cx="2057401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99156"/>
            <a:ext cx="1557338" cy="1638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5228586"/>
            <a:ext cx="2176463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6" y="4949914"/>
            <a:ext cx="1776820" cy="1279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95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Overloading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Hadoop has become synonymous with Big Data management and processing</a:t>
            </a:r>
          </a:p>
          <a:p>
            <a:r>
              <a:rPr lang="en-US" sz="2800" dirty="0"/>
              <a:t>The name Hadoop is also now a proxy for both Hadoop and the large, growing ecosystem around it</a:t>
            </a:r>
          </a:p>
          <a:p>
            <a:r>
              <a:rPr lang="en-US" sz="2800" dirty="0"/>
              <a:t>Basically, a very large “system” using Hadoop Distributed File System (HDFS) for storage, and direct or indirect use of the MapReduce programming model and software framework for processing</a:t>
            </a:r>
          </a:p>
        </p:txBody>
      </p:sp>
    </p:spTree>
    <p:extLst>
      <p:ext uri="{BB962C8B-B14F-4D97-AF65-F5344CB8AC3E}">
        <p14:creationId xmlns:p14="http://schemas.microsoft.com/office/powerpoint/2010/main" val="256284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Hadoop: The High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Apache top-level project</a:t>
            </a:r>
          </a:p>
          <a:p>
            <a:pPr lvl="1"/>
            <a:r>
              <a:rPr lang="en-US" sz="2000" dirty="0"/>
              <a:t>“…develops open-source software for reliable, scalable, distributed computing.”</a:t>
            </a:r>
          </a:p>
          <a:p>
            <a:r>
              <a:rPr lang="en-US" sz="2800" dirty="0"/>
              <a:t>Software library</a:t>
            </a:r>
          </a:p>
          <a:p>
            <a:pPr lvl="1"/>
            <a:r>
              <a:rPr lang="en-US" sz="2000" dirty="0"/>
              <a:t>“…framework that allows for distributed processing of large data sets across clusters of computers using a simple programming model…designed to scale up from single servers to thousands of machines, each offering local computation and storage…designed to detect and handle failures at the application layer…delivering a highly-available service on top of a cluster of computers, each of which may be prone to failures.”</a:t>
            </a:r>
          </a:p>
          <a:p>
            <a:r>
              <a:rPr lang="en-US" sz="3000" dirty="0">
                <a:solidFill>
                  <a:prstClr val="black"/>
                </a:solidFill>
              </a:rPr>
              <a:t>Hadoop Distributed File System (HDFS)</a:t>
            </a:r>
          </a:p>
          <a:p>
            <a:pPr lvl="1"/>
            <a:r>
              <a:rPr lang="en-US" sz="2000" dirty="0"/>
              <a:t>“…primary storage system used by Hadoop applications. HDFS creates multiple replicas of data blocks and distributes them on compute nodes throughout a cluster to enable reliable, extremely rapid computations.”</a:t>
            </a:r>
          </a:p>
          <a:p>
            <a:r>
              <a:rPr lang="en-US" sz="2800" dirty="0"/>
              <a:t>MapReduce</a:t>
            </a:r>
          </a:p>
          <a:p>
            <a:pPr lvl="1"/>
            <a:r>
              <a:rPr lang="en-US" sz="2000" dirty="0"/>
              <a:t>“…a programming model and software framework for writing applications that rapidly process vast amounts of data in parallel on large clusters of compute nodes.”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634" y="3750365"/>
            <a:ext cx="18907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99" y="5181600"/>
            <a:ext cx="1985651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946495"/>
            <a:ext cx="19335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7883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What’s Hadoop Used For?</a:t>
            </a:r>
            <a:br>
              <a:rPr lang="en-US" sz="3200" dirty="0"/>
            </a:br>
            <a:r>
              <a:rPr lang="en-US" sz="3200" dirty="0"/>
              <a:t>Major Use Cases per Cloudera (2012)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Data processing</a:t>
            </a:r>
          </a:p>
          <a:p>
            <a:pPr lvl="1"/>
            <a:r>
              <a:rPr lang="en-US" sz="2400" dirty="0"/>
              <a:t>Building search indexes</a:t>
            </a:r>
          </a:p>
          <a:p>
            <a:pPr lvl="1"/>
            <a:r>
              <a:rPr lang="en-US" sz="2400" dirty="0"/>
              <a:t>Log processing</a:t>
            </a:r>
          </a:p>
          <a:p>
            <a:pPr lvl="1"/>
            <a:r>
              <a:rPr lang="en-US" sz="2400" dirty="0"/>
              <a:t>“Click Sessionization”</a:t>
            </a:r>
          </a:p>
          <a:p>
            <a:pPr lvl="1"/>
            <a:r>
              <a:rPr lang="en-US" sz="2400" dirty="0"/>
              <a:t>Data processing pipelines</a:t>
            </a:r>
          </a:p>
          <a:p>
            <a:pPr lvl="1"/>
            <a:r>
              <a:rPr lang="en-US" sz="2400" dirty="0"/>
              <a:t>Video &amp; Image analysis</a:t>
            </a:r>
          </a:p>
          <a:p>
            <a:r>
              <a:rPr lang="en-US" sz="2800" dirty="0"/>
              <a:t>Analytics</a:t>
            </a:r>
          </a:p>
          <a:p>
            <a:pPr lvl="1"/>
            <a:r>
              <a:rPr lang="en-US" sz="2400" dirty="0"/>
              <a:t>Recommendation systems (Machine Learning)</a:t>
            </a:r>
          </a:p>
          <a:p>
            <a:pPr lvl="1"/>
            <a:r>
              <a:rPr lang="en-US" sz="2400" dirty="0"/>
              <a:t>Batch reporting</a:t>
            </a:r>
          </a:p>
          <a:p>
            <a:r>
              <a:rPr lang="en-US" sz="2800" dirty="0"/>
              <a:t>Real time applications (“home of the brave”)</a:t>
            </a:r>
          </a:p>
          <a:p>
            <a:r>
              <a:rPr lang="en-US" sz="2800" dirty="0"/>
              <a:t>Data Warehousing</a:t>
            </a:r>
          </a:p>
        </p:txBody>
      </p:sp>
    </p:spTree>
    <p:extLst>
      <p:ext uri="{BB962C8B-B14F-4D97-AF65-F5344CB8AC3E}">
        <p14:creationId xmlns:p14="http://schemas.microsoft.com/office/powerpoint/2010/main" val="277855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Google File System (GFS) cited as the original concept</a:t>
            </a:r>
          </a:p>
          <a:p>
            <a:pPr lvl="1"/>
            <a:r>
              <a:rPr lang="en-US" sz="2600" dirty="0"/>
              <a:t>Certain common attributes between GFS &amp; HDFS</a:t>
            </a:r>
          </a:p>
          <a:p>
            <a:r>
              <a:rPr lang="en-US" sz="3000" dirty="0"/>
              <a:t>Pattern emphasis: Write Once, Read Many</a:t>
            </a:r>
          </a:p>
          <a:p>
            <a:pPr lvl="1"/>
            <a:r>
              <a:rPr lang="en-US" sz="2600" dirty="0"/>
              <a:t>Sound familiar?</a:t>
            </a:r>
          </a:p>
          <a:p>
            <a:pPr lvl="2"/>
            <a:r>
              <a:rPr lang="en-US" sz="2200" dirty="0"/>
              <a:t>Remember WORM drives? </a:t>
            </a:r>
            <a:r>
              <a:rPr lang="en-US" sz="2200" dirty="0">
                <a:solidFill>
                  <a:prstClr val="black"/>
                </a:solidFill>
              </a:rPr>
              <a:t>Optical jukebox library?  Before CDs (CD-R)</a:t>
            </a:r>
            <a:endParaRPr lang="en-US" sz="2200" dirty="0"/>
          </a:p>
          <a:p>
            <a:pPr lvl="3"/>
            <a:r>
              <a:rPr lang="en-US" sz="1600" dirty="0"/>
              <a:t>Back when dirt was new… almost…</a:t>
            </a:r>
          </a:p>
          <a:p>
            <a:pPr lvl="2"/>
            <a:r>
              <a:rPr lang="en-US" sz="2200" dirty="0"/>
              <a:t>WORM optical storage was still about greater price:performance at larger storage volumes vs. the prevailing [disk] technology – though still better p:p than The Other White Meat of the day, Tape!</a:t>
            </a:r>
          </a:p>
          <a:p>
            <a:r>
              <a:rPr lang="en-US" sz="3000" dirty="0"/>
              <a:t>Very Large Files: One file could span the entire HDFS</a:t>
            </a:r>
          </a:p>
          <a:p>
            <a:r>
              <a:rPr lang="en-US" sz="3000" dirty="0"/>
              <a:t>Commodity Hardware</a:t>
            </a:r>
          </a:p>
          <a:p>
            <a:pPr lvl="1"/>
            <a:r>
              <a:rPr lang="en-US" sz="2600" dirty="0"/>
              <a:t>2 socket; 64-bit; local disks; no RAID</a:t>
            </a:r>
          </a:p>
          <a:p>
            <a:r>
              <a:rPr lang="en-US" sz="3000" dirty="0"/>
              <a:t>Co-locate data and compute resources</a:t>
            </a:r>
          </a:p>
          <a:p>
            <a:pPr lvl="1"/>
            <a:endParaRPr lang="en-US" sz="26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1895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4265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HDFS:  What It’s </a:t>
            </a:r>
            <a:r>
              <a:rPr lang="en-US" sz="3200" i="1" dirty="0"/>
              <a:t>Not</a:t>
            </a:r>
            <a:r>
              <a:rPr lang="en-US" sz="3200" dirty="0"/>
              <a:t> Good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Many, many small files</a:t>
            </a:r>
          </a:p>
          <a:p>
            <a:pPr lvl="1"/>
            <a:r>
              <a:rPr lang="en-US" sz="2000" dirty="0"/>
              <a:t>Scalability issue for the namenode (more in a moment)</a:t>
            </a:r>
          </a:p>
          <a:p>
            <a:r>
              <a:rPr lang="en-US" sz="2800" dirty="0"/>
              <a:t>Low Latency Access</a:t>
            </a:r>
          </a:p>
          <a:p>
            <a:pPr lvl="1"/>
            <a:r>
              <a:rPr lang="en-US" sz="2000" dirty="0"/>
              <a:t>It’s all about Throughput (N=XR) </a:t>
            </a:r>
          </a:p>
          <a:p>
            <a:pPr lvl="1"/>
            <a:r>
              <a:rPr lang="en-US" sz="2000" dirty="0"/>
              <a:t>Not about minimizing service time (or latency to first data read)</a:t>
            </a:r>
          </a:p>
          <a:p>
            <a:r>
              <a:rPr lang="en-US" sz="2800" dirty="0"/>
              <a:t>Multiple writers; updates at offsets within a file</a:t>
            </a:r>
          </a:p>
          <a:p>
            <a:pPr lvl="1"/>
            <a:r>
              <a:rPr lang="en-US" sz="2000" dirty="0"/>
              <a:t>One writer</a:t>
            </a:r>
          </a:p>
          <a:p>
            <a:pPr lvl="1"/>
            <a:r>
              <a:rPr lang="en-US" sz="2000" dirty="0"/>
              <a:t>Create/append/rename/move/delete - that’s it!  No updates!</a:t>
            </a:r>
          </a:p>
          <a:p>
            <a:r>
              <a:rPr lang="en-US" sz="2800" dirty="0"/>
              <a:t>Not a substitute for a relational database</a:t>
            </a:r>
          </a:p>
          <a:p>
            <a:pPr lvl="1"/>
            <a:r>
              <a:rPr lang="en-US" sz="2000" dirty="0"/>
              <a:t>Data stored in files, not indexed</a:t>
            </a:r>
          </a:p>
          <a:p>
            <a:pPr lvl="1"/>
            <a:r>
              <a:rPr lang="en-US" sz="2000" dirty="0"/>
              <a:t>To find something, must read all the data (ultimately, by a MapReduce job/tasks)</a:t>
            </a:r>
          </a:p>
          <a:p>
            <a:r>
              <a:rPr lang="en-US" sz="2800" dirty="0"/>
              <a:t>Selling SAN or NAS – NetApp &amp; EMC need not apply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Programming in COBOL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Selling mainframes &amp; FICON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017"/>
            <a:ext cx="1895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563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HDFS Concepts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Core architectural goal: Fault-tolerance in the face of massive parallelism (many devices, high probability of HW failure)</a:t>
            </a:r>
          </a:p>
          <a:p>
            <a:r>
              <a:rPr lang="en-US" sz="2800" dirty="0"/>
              <a:t>Monitoring, detection, fast automated recovery</a:t>
            </a:r>
          </a:p>
          <a:p>
            <a:r>
              <a:rPr lang="en-US" sz="2800" dirty="0"/>
              <a:t>Focus is batch throughput</a:t>
            </a:r>
          </a:p>
          <a:p>
            <a:pPr lvl="1"/>
            <a:r>
              <a:rPr lang="en-US" sz="2400" dirty="0"/>
              <a:t>Hence support for very large files; large block size; single writer, create or append (no update) and a high read ratio</a:t>
            </a:r>
          </a:p>
          <a:p>
            <a:r>
              <a:rPr lang="en-US" sz="2800" dirty="0"/>
              <a:t>Master/Slave: Separate filesystem metadata &amp; app data</a:t>
            </a:r>
          </a:p>
          <a:p>
            <a:pPr lvl="1"/>
            <a:r>
              <a:rPr lang="en-US" sz="2400" dirty="0"/>
              <a:t>One NameNode manages the filesystem and client access</a:t>
            </a:r>
          </a:p>
          <a:p>
            <a:pPr lvl="2"/>
            <a:r>
              <a:rPr lang="en-US" sz="2000" dirty="0"/>
              <a:t>All metadata - namespace tree &amp; map of file blocks to DataNodes - stored in memory and persisted on disk </a:t>
            </a:r>
          </a:p>
          <a:p>
            <a:pPr lvl="2"/>
            <a:r>
              <a:rPr lang="en-US" sz="2000" dirty="0"/>
              <a:t>Namespace is a traditional hierarchical file organization (directory tree)</a:t>
            </a:r>
            <a:endParaRPr lang="en-US" sz="1600" dirty="0"/>
          </a:p>
          <a:p>
            <a:pPr lvl="1"/>
            <a:r>
              <a:rPr lang="en-US" sz="2400" dirty="0"/>
              <a:t>DataNodes manage locally attached storage (JBOD, no RAID)</a:t>
            </a:r>
          </a:p>
          <a:p>
            <a:r>
              <a:rPr lang="en-US" sz="2800" dirty="0"/>
              <a:t>Not layered on or dependent on any other filesystem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1905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884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http://hadoop.apache.org/common/docs/current/hdfs_design.html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" y="552450"/>
            <a:ext cx="8324850" cy="575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267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HDFS Concepts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Block-oriented</a:t>
            </a:r>
          </a:p>
          <a:p>
            <a:pPr lvl="1"/>
            <a:r>
              <a:rPr lang="en-US" sz="2600" dirty="0">
                <a:solidFill>
                  <a:prstClr val="black"/>
                </a:solidFill>
              </a:rPr>
              <a:t>Not your father’s block size:  64 MB by default</a:t>
            </a:r>
          </a:p>
          <a:p>
            <a:pPr lvl="2"/>
            <a:r>
              <a:rPr lang="en-US" sz="2200" dirty="0">
                <a:solidFill>
                  <a:prstClr val="black"/>
                </a:solidFill>
              </a:rPr>
              <a:t>Block size selectable on a file-by-file basis</a:t>
            </a:r>
          </a:p>
          <a:p>
            <a:pPr lvl="3"/>
            <a:r>
              <a:rPr lang="en-US" sz="1700" dirty="0">
                <a:solidFill>
                  <a:prstClr val="black"/>
                </a:solidFill>
              </a:rPr>
              <a:t>What if an HDFS block was 512 bytes or 4KB instead of 64 MB?</a:t>
            </a:r>
          </a:p>
          <a:p>
            <a:pPr lvl="4"/>
            <a:r>
              <a:rPr lang="en-US" sz="1600" dirty="0">
                <a:solidFill>
                  <a:prstClr val="black"/>
                </a:solidFill>
              </a:rPr>
              <a:t>Metadata would be 128K (131,072) times or 16K (16,384) times larger, impacting memory on NameNode and potentially limiting the total HDFS storage size in the cluster</a:t>
            </a:r>
          </a:p>
          <a:p>
            <a:pPr lvl="4"/>
            <a:r>
              <a:rPr lang="en-US" sz="1600" dirty="0">
                <a:solidFill>
                  <a:prstClr val="black"/>
                </a:solidFill>
              </a:rPr>
              <a:t>Total storage also sensitive to total number of files in HDFS</a:t>
            </a:r>
            <a:endParaRPr lang="en-US" dirty="0">
              <a:solidFill>
                <a:prstClr val="black"/>
              </a:solidFill>
            </a:endParaRPr>
          </a:p>
          <a:p>
            <a:pPr lvl="1"/>
            <a:r>
              <a:rPr lang="en-US" sz="2600" dirty="0">
                <a:solidFill>
                  <a:prstClr val="black"/>
                </a:solidFill>
              </a:rPr>
              <a:t>All blocks in a file are the same size, except the last block</a:t>
            </a:r>
          </a:p>
          <a:p>
            <a:pPr lvl="1"/>
            <a:r>
              <a:rPr lang="en-US" sz="2600" dirty="0">
                <a:solidFill>
                  <a:schemeClr val="tx2"/>
                </a:solidFill>
              </a:rPr>
              <a:t>Large block size minimizes seek time</a:t>
            </a:r>
          </a:p>
          <a:p>
            <a:pPr lvl="2"/>
            <a:r>
              <a:rPr lang="en-US" sz="2200" dirty="0">
                <a:solidFill>
                  <a:prstClr val="black"/>
                </a:solidFill>
              </a:rPr>
              <a:t>Approaches disk spiral transfer rate ~100 MB/sec</a:t>
            </a:r>
          </a:p>
          <a:p>
            <a:pPr lvl="2"/>
            <a:r>
              <a:rPr lang="en-US" sz="2200" dirty="0">
                <a:solidFill>
                  <a:prstClr val="black"/>
                </a:solidFill>
              </a:rPr>
              <a:t>Disk read-ahead may further minimize track to track seek time</a:t>
            </a:r>
          </a:p>
          <a:p>
            <a:pPr lvl="2"/>
            <a:r>
              <a:rPr lang="en-US" sz="2200" dirty="0">
                <a:solidFill>
                  <a:prstClr val="black"/>
                </a:solidFill>
              </a:rPr>
              <a:t>High aggregate file read bandwidth, # disks/node X 100 GB/sec</a:t>
            </a:r>
          </a:p>
          <a:p>
            <a:pPr lvl="1"/>
            <a:r>
              <a:rPr lang="en-US" sz="2600" dirty="0"/>
              <a:t>Divides incoming files into blocks, storing them redundantly across DataNodes in the cluster: Replication for fault-tolerance</a:t>
            </a:r>
          </a:p>
          <a:p>
            <a:pPr lvl="2"/>
            <a:r>
              <a:rPr lang="en-US" sz="2200" dirty="0"/>
              <a:t>Replication Factor per-file</a:t>
            </a:r>
          </a:p>
          <a:p>
            <a:pPr lvl="2"/>
            <a:r>
              <a:rPr lang="en-US" sz="2200" dirty="0"/>
              <a:t>Location of block replicas can change over time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1905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014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200" dirty="0">
                <a:solidFill>
                  <a:prstClr val="black"/>
                </a:solidFill>
              </a:rPr>
              <a:t>HDFS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>
            <a:normAutofit/>
          </a:bodyPr>
          <a:lstStyle/>
          <a:p>
            <a:r>
              <a:rPr lang="en-US" sz="2800" dirty="0"/>
              <a:t>Built with Java</a:t>
            </a:r>
          </a:p>
          <a:p>
            <a:r>
              <a:rPr lang="en-US" sz="2800" dirty="0"/>
              <a:t>Typically runs on a Linux distribution</a:t>
            </a:r>
          </a:p>
          <a:p>
            <a:pPr lvl="1"/>
            <a:r>
              <a:rPr lang="en-US" sz="2400" dirty="0"/>
              <a:t>But it’s Java…</a:t>
            </a:r>
          </a:p>
          <a:p>
            <a:pPr marL="0" indent="0">
              <a:buNone/>
            </a:pPr>
            <a:endParaRPr lang="en-US" sz="2800" dirty="0"/>
          </a:p>
          <a:p>
            <a:pPr lvl="1"/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243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NameNode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Is a SPOF, single point of failure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Metadata persisted in the file FsImage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Changes since last checkpoint logged separately in a transaction log called the EditLog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Both files stored in NameNodes’s local filesystem</a:t>
            </a:r>
          </a:p>
          <a:p>
            <a:pPr lvl="1"/>
            <a:r>
              <a:rPr lang="en-US" sz="2400" dirty="0">
                <a:solidFill>
                  <a:prstClr val="black"/>
                </a:solidFill>
              </a:rPr>
              <a:t>Availability:  Redundant copies to NAS or other servers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Counter-intuitive:</a:t>
            </a:r>
          </a:p>
          <a:p>
            <a:pPr lvl="1"/>
            <a:r>
              <a:rPr lang="en-US" sz="2400" dirty="0">
                <a:solidFill>
                  <a:prstClr val="black"/>
                </a:solidFill>
              </a:rPr>
              <a:t>Checkpoint done only at NameNode startup </a:t>
            </a:r>
          </a:p>
          <a:p>
            <a:pPr lvl="2"/>
            <a:r>
              <a:rPr lang="en-US" sz="2000" dirty="0">
                <a:solidFill>
                  <a:prstClr val="black"/>
                </a:solidFill>
              </a:rPr>
              <a:t>EditLog read to update FsImage; FsImage mapped into memory; EditLog truncated; ready to rock!</a:t>
            </a:r>
          </a:p>
          <a:p>
            <a:r>
              <a:rPr lang="en-US" sz="2800" dirty="0"/>
              <a:t>The NameNode does not directly call DataNodes but piggy-backs instructions in its replies to DataNodes’ heartbeat</a:t>
            </a:r>
          </a:p>
          <a:p>
            <a:pPr lvl="1"/>
            <a:r>
              <a:rPr lang="en-US" sz="2400" dirty="0"/>
              <a:t>Replicate blocks to other nodes (pipeline approach)</a:t>
            </a:r>
          </a:p>
          <a:p>
            <a:pPr lvl="1"/>
            <a:r>
              <a:rPr lang="en-US" sz="2400" dirty="0"/>
              <a:t>Remove block replicas (load balancing)</a:t>
            </a:r>
          </a:p>
          <a:p>
            <a:pPr lvl="1"/>
            <a:r>
              <a:rPr lang="en-US" sz="2400" dirty="0"/>
              <a:t>Restart (re-register, re-join cluster) or shutdown</a:t>
            </a:r>
          </a:p>
          <a:p>
            <a:pPr lvl="1"/>
            <a:r>
              <a:rPr lang="en-US" sz="2400" dirty="0"/>
              <a:t>Send a block report NOW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041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DataNodes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 block replica is made up of 2 files on a DataNode’s local file system</a:t>
            </a:r>
          </a:p>
          <a:p>
            <a:pPr lvl="1"/>
            <a:r>
              <a:rPr lang="en-US" sz="2400" dirty="0"/>
              <a:t>The data itself</a:t>
            </a:r>
          </a:p>
          <a:p>
            <a:pPr lvl="1"/>
            <a:r>
              <a:rPr lang="en-US" sz="2400" dirty="0"/>
              <a:t>Block metadata</a:t>
            </a:r>
          </a:p>
          <a:p>
            <a:pPr lvl="2"/>
            <a:r>
              <a:rPr lang="en-US" sz="2000" dirty="0"/>
              <a:t>Block checksum and generation timestamp</a:t>
            </a:r>
          </a:p>
          <a:p>
            <a:r>
              <a:rPr lang="en-US" sz="2800" dirty="0"/>
              <a:t>At startup the DataNode connects to the NameNode &amp; performs a handshake to verify ID and version</a:t>
            </a:r>
          </a:p>
          <a:p>
            <a:pPr lvl="1"/>
            <a:r>
              <a:rPr lang="en-US" sz="2400" dirty="0"/>
              <a:t>Shutdown if either does not match: Prevent corruption</a:t>
            </a:r>
          </a:p>
          <a:p>
            <a:pPr lvl="1"/>
            <a:r>
              <a:rPr lang="en-US" sz="2400" dirty="0"/>
              <a:t>Nodes cannot “register” with NameNode; i.e., join the cluster unless they have a matching ID</a:t>
            </a:r>
          </a:p>
          <a:p>
            <a:r>
              <a:rPr lang="en-US" sz="2800" dirty="0"/>
              <a:t>Blocks consume only the space needed</a:t>
            </a:r>
          </a:p>
          <a:p>
            <a:pPr lvl="1"/>
            <a:r>
              <a:rPr lang="en-US" sz="2400" dirty="0"/>
              <a:t>Hadoop optimizes for full blocks until the last block of the file is written</a:t>
            </a:r>
          </a:p>
          <a:p>
            <a:pPr lvl="1"/>
            <a:endParaRPr lang="en-US" sz="24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552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DataNodes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Sends a block report to the NameNode about all block replicas it contains, at DataNode “startup” and hourly</a:t>
            </a:r>
          </a:p>
          <a:p>
            <a:r>
              <a:rPr lang="en-US" sz="2800" dirty="0"/>
              <a:t>Sends heartbeat to NameNode @ 3 sec intervals (default)</a:t>
            </a:r>
          </a:p>
          <a:p>
            <a:pPr lvl="1"/>
            <a:r>
              <a:rPr lang="en-US" sz="2400" dirty="0"/>
              <a:t>10 minute timeout, DataNode removed by NameNode and new replicas of its blocks scheduled for creation on other DataNodes</a:t>
            </a:r>
          </a:p>
          <a:p>
            <a:pPr lvl="1"/>
            <a:r>
              <a:rPr lang="en-US" sz="2400" dirty="0"/>
              <a:t>Heartbeat also contains info used by NameNode’s storage allocation and load balancing algorithms</a:t>
            </a:r>
          </a:p>
          <a:p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833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Back to the NameNode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Filesystem metadata is persisted in the file “FsImage”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Changes since last checkpoint logged separately in a transaction log called the “EditLog”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Both files stored in NameNodes’s local filesystem</a:t>
            </a:r>
          </a:p>
          <a:p>
            <a:pPr lvl="1"/>
            <a:r>
              <a:rPr lang="en-US" sz="2400" dirty="0">
                <a:solidFill>
                  <a:prstClr val="black"/>
                </a:solidFill>
              </a:rPr>
              <a:t>Availability:  Redundant copies to NAS or other servers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Counter-intuitive:</a:t>
            </a:r>
          </a:p>
          <a:p>
            <a:pPr lvl="1"/>
            <a:r>
              <a:rPr lang="en-US" sz="2400" dirty="0">
                <a:solidFill>
                  <a:prstClr val="black"/>
                </a:solidFill>
              </a:rPr>
              <a:t>Checkpoint done only at NameNode startup</a:t>
            </a:r>
          </a:p>
          <a:p>
            <a:pPr lvl="2"/>
            <a:r>
              <a:rPr lang="en-US" sz="2000" dirty="0">
                <a:solidFill>
                  <a:prstClr val="black"/>
                </a:solidFill>
              </a:rPr>
              <a:t>Replay EditLog to update FsImage; FsImage mapped into memory; EditLog truncated; ready to rock!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5846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Client Read &amp;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33528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Client read request first contacts the NameNode for locations of file data blocks; reads blocks from closest DataNode(s)</a:t>
            </a:r>
          </a:p>
          <a:p>
            <a:pPr lvl="1"/>
            <a:r>
              <a:rPr lang="en-US" sz="2400" dirty="0"/>
              <a:t>Uses block checksum to detect corruption, a common problem in clusters of 100s-1,000s of nodes and disks</a:t>
            </a:r>
          </a:p>
          <a:p>
            <a:r>
              <a:rPr lang="en-US" sz="2800" dirty="0"/>
              <a:t>Client write operation sends path to NameNode; requests NameNode to select Replication Factor number of DataNodes to host block replicas; writes data to DataNodes in serial pipeline manner (more in a moment)</a:t>
            </a:r>
          </a:p>
          <a:p>
            <a:r>
              <a:rPr lang="en-US" sz="2800" dirty="0"/>
              <a:t>File create: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181857"/>
            <a:ext cx="5562600" cy="266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630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Client Write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0678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/>
              <a:t>Write Pipeline</a:t>
            </a:r>
          </a:p>
          <a:p>
            <a:pPr lvl="1"/>
            <a:r>
              <a:rPr lang="en-US" sz="2600" dirty="0"/>
              <a:t>Data bytes pushed to the pipeline as a sequence of packets</a:t>
            </a:r>
          </a:p>
          <a:p>
            <a:pPr lvl="2"/>
            <a:r>
              <a:rPr lang="en-US" sz="2200" dirty="0"/>
              <a:t>Client buffers bytes until a packet buffer fills (64KB default) </a:t>
            </a:r>
            <a:r>
              <a:rPr lang="en-US" sz="2200" i="1" dirty="0"/>
              <a:t>or until file is closed</a:t>
            </a:r>
            <a:r>
              <a:rPr lang="en-US" sz="2200" dirty="0"/>
              <a:t>, then packet is pushed into the pipeline</a:t>
            </a:r>
          </a:p>
          <a:p>
            <a:pPr lvl="3"/>
            <a:r>
              <a:rPr lang="en-US" sz="1800" dirty="0"/>
              <a:t>Client calculates &amp; sends checksum with block</a:t>
            </a:r>
          </a:p>
          <a:p>
            <a:pPr lvl="3"/>
            <a:r>
              <a:rPr lang="en-US" sz="1800" dirty="0"/>
              <a:t>Recall that data and metadata (incl. checksum) are stored separately on DataNode</a:t>
            </a:r>
          </a:p>
          <a:p>
            <a:pPr lvl="1"/>
            <a:r>
              <a:rPr lang="en-US" sz="2600" dirty="0"/>
              <a:t>Asynchronous I/O</a:t>
            </a:r>
          </a:p>
          <a:p>
            <a:pPr lvl="2"/>
            <a:r>
              <a:rPr lang="en-US" sz="2200" dirty="0"/>
              <a:t>Client does not wait for ACK to packet by DataNode, continues pushing packets</a:t>
            </a:r>
          </a:p>
          <a:p>
            <a:pPr lvl="2"/>
            <a:r>
              <a:rPr lang="en-US" sz="2200" dirty="0"/>
              <a:t>Limit to the # of outstanding packets = “packet window size” of client</a:t>
            </a:r>
          </a:p>
          <a:p>
            <a:pPr lvl="3"/>
            <a:r>
              <a:rPr lang="en-US" sz="1800" dirty="0"/>
              <a:t>i.e., the queue size (N=XR)</a:t>
            </a:r>
          </a:p>
          <a:p>
            <a:pPr lvl="1"/>
            <a:r>
              <a:rPr lang="en-US" sz="2400" dirty="0"/>
              <a:t> </a:t>
            </a:r>
            <a:r>
              <a:rPr lang="en-US" sz="2600" dirty="0"/>
              <a:t>Data visible to new reader at file close or using </a:t>
            </a:r>
            <a:r>
              <a:rPr lang="en-US" sz="2600" i="1" dirty="0"/>
              <a:t>hflush</a:t>
            </a:r>
            <a:r>
              <a:rPr lang="en-US" sz="2600" dirty="0"/>
              <a:t> call</a:t>
            </a:r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9018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741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HDFS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2578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Locality and High Performance</a:t>
            </a:r>
          </a:p>
          <a:p>
            <a:pPr lvl="1"/>
            <a:r>
              <a:rPr lang="en-US" sz="2400" dirty="0"/>
              <a:t>HDFS is atypical of conventional non-distributed file systems in that its API exposes the location of a file’s blocks, with major implications</a:t>
            </a:r>
          </a:p>
          <a:p>
            <a:pPr lvl="1"/>
            <a:r>
              <a:rPr lang="en-US" sz="2400" dirty="0"/>
              <a:t>Frameworks like MapReduce can thus </a:t>
            </a:r>
            <a:r>
              <a:rPr lang="en-US" sz="2400" u="sng" dirty="0"/>
              <a:t>schedule a task to execute where the data is located</a:t>
            </a:r>
          </a:p>
          <a:p>
            <a:pPr lvl="2"/>
            <a:r>
              <a:rPr lang="en-US" sz="2000" dirty="0"/>
              <a:t>Send computation to the data, not the other way around</a:t>
            </a:r>
          </a:p>
          <a:p>
            <a:pPr lvl="3"/>
            <a:r>
              <a:rPr lang="en-US" sz="1600" dirty="0"/>
              <a:t>Reduces network infrastructure costs, reduces elapsed time</a:t>
            </a:r>
          </a:p>
          <a:p>
            <a:pPr lvl="2"/>
            <a:r>
              <a:rPr lang="en-US" sz="2000" dirty="0"/>
              <a:t>Highest read performance when a task executes with data on local disks</a:t>
            </a:r>
          </a:p>
          <a:p>
            <a:pPr lvl="3"/>
            <a:r>
              <a:rPr lang="en-US" sz="1600" dirty="0"/>
              <a:t>Point-to-point SAS/SATA disks, no shared bus, a key technology enabler</a:t>
            </a:r>
          </a:p>
          <a:p>
            <a:pPr lvl="3"/>
            <a:r>
              <a:rPr lang="en-US" sz="1600" dirty="0"/>
              <a:t>Massive price : performance benefit over SAN storage</a:t>
            </a:r>
          </a:p>
          <a:p>
            <a:pPr lvl="1"/>
            <a:r>
              <a:rPr lang="en-US" sz="2400" dirty="0"/>
              <a:t>Supports application per-file replication factor (default 3)</a:t>
            </a:r>
          </a:p>
          <a:p>
            <a:pPr lvl="3"/>
            <a:r>
              <a:rPr lang="en-US" dirty="0"/>
              <a:t>Improves fault tolerance</a:t>
            </a:r>
          </a:p>
          <a:p>
            <a:pPr lvl="3"/>
            <a:r>
              <a:rPr lang="en-US" i="1" dirty="0"/>
              <a:t>Increases read bandwidth for heavily accessed files</a:t>
            </a:r>
          </a:p>
        </p:txBody>
      </p:sp>
    </p:spTree>
    <p:extLst>
      <p:ext uri="{BB962C8B-B14F-4D97-AF65-F5344CB8AC3E}">
        <p14:creationId xmlns:p14="http://schemas.microsoft.com/office/powerpoint/2010/main" val="1818305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Typical Hadoop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Dual socket 1U/2U rack mount server</a:t>
            </a:r>
          </a:p>
          <a:p>
            <a:pPr lvl="1"/>
            <a:r>
              <a:rPr lang="en-US" sz="2400" dirty="0"/>
              <a:t>Internal disk requirement negates use of blades</a:t>
            </a:r>
          </a:p>
          <a:p>
            <a:r>
              <a:rPr lang="en-US" sz="2800" dirty="0"/>
              <a:t>Quad core CPUs &gt;2 GHz</a:t>
            </a:r>
          </a:p>
          <a:p>
            <a:r>
              <a:rPr lang="en-US" sz="2800" dirty="0"/>
              <a:t>16-24 GB memory</a:t>
            </a:r>
          </a:p>
          <a:p>
            <a:r>
              <a:rPr lang="en-US" sz="2800" dirty="0"/>
              <a:t>4 to 6 data disks @ 1TB</a:t>
            </a:r>
          </a:p>
          <a:p>
            <a:pPr lvl="1"/>
            <a:r>
              <a:rPr lang="en-US" sz="2000" dirty="0"/>
              <a:t>Performance &amp; economics target for heavily queried data, busy processors</a:t>
            </a:r>
          </a:p>
          <a:p>
            <a:pPr lvl="1"/>
            <a:r>
              <a:rPr lang="en-US" sz="2000" dirty="0"/>
              <a:t>Use cases focusing on long-term storage might deploy a DL370 5U form factor with 14 internal 3.5” disks</a:t>
            </a:r>
          </a:p>
          <a:p>
            <a:r>
              <a:rPr lang="en-US" sz="2800" dirty="0"/>
              <a:t>1 GbE NIC</a:t>
            </a:r>
          </a:p>
          <a:p>
            <a:r>
              <a:rPr lang="en-US" sz="2800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35322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Hadoop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Software framework for “easily” writing applications that process vast (multi-TB) amounts of data in parallel on very large clusters of commodity hardware with reliability and fault-tolerance</a:t>
            </a:r>
          </a:p>
          <a:p>
            <a:r>
              <a:rPr lang="en-US" sz="2400" dirty="0"/>
              <a:t>A MapReduce job normally divides the input data into separate chunks which are then processed in parallel by Map tasks.  The framework </a:t>
            </a:r>
            <a:r>
              <a:rPr lang="en-US" sz="2400" dirty="0" err="1"/>
              <a:t>guarrantees</a:t>
            </a:r>
            <a:r>
              <a:rPr lang="en-US" sz="2400" dirty="0"/>
              <a:t> Map output is sorted for input to Reduce</a:t>
            </a:r>
          </a:p>
          <a:p>
            <a:r>
              <a:rPr lang="en-US" sz="2400" dirty="0"/>
              <a:t>The sorted outputs are inputs to the Reduce tasks</a:t>
            </a:r>
          </a:p>
          <a:p>
            <a:r>
              <a:rPr lang="en-US" sz="2400" dirty="0"/>
              <a:t>Input and output are stored in HDFS</a:t>
            </a:r>
          </a:p>
          <a:p>
            <a:r>
              <a:rPr lang="en-US" sz="2400" dirty="0"/>
              <a:t>Framework performs task scheduling; task monitoring &amp; re-execution of failed tasks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Massive aggregate cluster bandwidth</a:t>
            </a:r>
          </a:p>
          <a:p>
            <a:pPr lvl="1"/>
            <a:r>
              <a:rPr lang="en-US" sz="2000" dirty="0">
                <a:solidFill>
                  <a:prstClr val="black"/>
                </a:solidFill>
              </a:rPr>
              <a:t># nodes X # disks X ~100 MB/sec</a:t>
            </a:r>
            <a:endParaRPr lang="en-US" sz="20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26828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402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Language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Java (native)</a:t>
            </a:r>
          </a:p>
          <a:p>
            <a:r>
              <a:rPr lang="en-US" sz="2400" dirty="0"/>
              <a:t>Streaming</a:t>
            </a:r>
          </a:p>
          <a:p>
            <a:pPr lvl="1"/>
            <a:r>
              <a:rPr lang="en-US" sz="2000" dirty="0"/>
              <a:t>Any language supporting Unix STREAMS interface</a:t>
            </a:r>
          </a:p>
          <a:p>
            <a:pPr lvl="2"/>
            <a:r>
              <a:rPr lang="en-US" sz="1600" dirty="0"/>
              <a:t>Read from stdin, write to stdout</a:t>
            </a:r>
          </a:p>
          <a:p>
            <a:pPr lvl="2"/>
            <a:r>
              <a:rPr lang="en-US" sz="1600" dirty="0"/>
              <a:t>Redirection as usual</a:t>
            </a:r>
          </a:p>
          <a:p>
            <a:pPr lvl="1"/>
            <a:r>
              <a:rPr lang="en-US" sz="2000" dirty="0"/>
              <a:t>Highly suited to text processing</a:t>
            </a:r>
          </a:p>
          <a:p>
            <a:pPr lvl="2"/>
            <a:r>
              <a:rPr lang="en-US" sz="1600" dirty="0"/>
              <a:t>Line by line input</a:t>
            </a:r>
          </a:p>
          <a:p>
            <a:pPr lvl="2"/>
            <a:r>
              <a:rPr lang="en-US" sz="1600" dirty="0"/>
              <a:t>Key-value pair output of Map program written as </a:t>
            </a:r>
            <a:r>
              <a:rPr lang="en-US" sz="1600" dirty="0">
                <a:solidFill>
                  <a:prstClr val="black"/>
                </a:solidFill>
              </a:rPr>
              <a:t>tab-delimited line to stdout</a:t>
            </a:r>
          </a:p>
          <a:p>
            <a:pPr lvl="2"/>
            <a:r>
              <a:rPr lang="en-US" sz="1600" dirty="0">
                <a:solidFill>
                  <a:prstClr val="black"/>
                </a:solidFill>
              </a:rPr>
              <a:t>MapReduce Framework sorts the Map task output</a:t>
            </a:r>
          </a:p>
          <a:p>
            <a:pPr lvl="2"/>
            <a:r>
              <a:rPr lang="en-US" sz="1600" dirty="0">
                <a:solidFill>
                  <a:prstClr val="black"/>
                </a:solidFill>
              </a:rPr>
              <a:t>Reduce function reads sorted lines from stdin</a:t>
            </a:r>
          </a:p>
          <a:p>
            <a:pPr lvl="2"/>
            <a:r>
              <a:rPr lang="en-US" sz="1600" dirty="0">
                <a:solidFill>
                  <a:prstClr val="black"/>
                </a:solidFill>
              </a:rPr>
              <a:t>Reduce finally writes to stdout</a:t>
            </a:r>
            <a:endParaRPr lang="en-US" sz="1600" dirty="0"/>
          </a:p>
          <a:p>
            <a:pPr lvl="1"/>
            <a:r>
              <a:rPr lang="en-US" sz="2000" dirty="0"/>
              <a:t>Python; Perl; Ruby; etc.</a:t>
            </a:r>
          </a:p>
          <a:p>
            <a:r>
              <a:rPr lang="en-US" sz="2400" dirty="0"/>
              <a:t>Pipes</a:t>
            </a:r>
          </a:p>
          <a:p>
            <a:pPr lvl="1"/>
            <a:r>
              <a:rPr lang="en-US" sz="2000" dirty="0"/>
              <a:t>The C++ interface for MapReduce</a:t>
            </a:r>
          </a:p>
          <a:p>
            <a:pPr lvl="2"/>
            <a:r>
              <a:rPr lang="en-US" sz="1600" dirty="0"/>
              <a:t>Sockets interface (not streams, not java native interface JNI)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26828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200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Hadoop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Master/Slave architecture</a:t>
            </a:r>
          </a:p>
          <a:p>
            <a:pPr lvl="1"/>
            <a:r>
              <a:rPr lang="en-US" sz="2400" dirty="0"/>
              <a:t>One master </a:t>
            </a:r>
            <a:r>
              <a:rPr lang="en-US" sz="2400" i="1" dirty="0"/>
              <a:t>Jobtracker</a:t>
            </a:r>
            <a:r>
              <a:rPr lang="en-US" sz="2400" dirty="0"/>
              <a:t> in the cluster</a:t>
            </a:r>
          </a:p>
          <a:p>
            <a:pPr lvl="1"/>
            <a:r>
              <a:rPr lang="en-US" sz="2400" dirty="0"/>
              <a:t>One slave </a:t>
            </a:r>
            <a:r>
              <a:rPr lang="en-US" sz="2400" i="1" dirty="0"/>
              <a:t>Tasktracker</a:t>
            </a:r>
            <a:r>
              <a:rPr lang="en-US" sz="2400" dirty="0"/>
              <a:t> per DataNode</a:t>
            </a:r>
          </a:p>
          <a:p>
            <a:r>
              <a:rPr lang="en-US" sz="2800" i="1" dirty="0"/>
              <a:t>Jobtracker</a:t>
            </a:r>
            <a:r>
              <a:rPr lang="en-US" sz="2800" dirty="0"/>
              <a:t> </a:t>
            </a:r>
          </a:p>
          <a:p>
            <a:pPr lvl="1"/>
            <a:r>
              <a:rPr lang="en-US" sz="2400" dirty="0"/>
              <a:t>Schedules a job’s constituent tasks on slaves</a:t>
            </a:r>
          </a:p>
          <a:p>
            <a:pPr lvl="1"/>
            <a:r>
              <a:rPr lang="en-US" sz="2400" dirty="0"/>
              <a:t>Monitors tasks, re-executes upon task failure</a:t>
            </a:r>
          </a:p>
          <a:p>
            <a:r>
              <a:rPr lang="en-US" sz="2800" i="1" dirty="0"/>
              <a:t>Tasktracker</a:t>
            </a:r>
            <a:r>
              <a:rPr lang="en-US" sz="2800" dirty="0"/>
              <a:t> executes tasks by direction of the </a:t>
            </a:r>
            <a:r>
              <a:rPr lang="en-US" sz="2800" i="1" dirty="0">
                <a:solidFill>
                  <a:prstClr val="black"/>
                </a:solidFill>
              </a:rPr>
              <a:t>Jobtracker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</a:p>
          <a:p>
            <a:endParaRPr lang="en-US" sz="28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26828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557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Hadoop MapReduce Job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33144"/>
            <a:ext cx="8763000" cy="52578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Client MapReduce program submits job through JobClient.runJob API</a:t>
            </a:r>
          </a:p>
          <a:p>
            <a:pPr lvl="1"/>
            <a:r>
              <a:rPr lang="en-US" sz="2000" dirty="0"/>
              <a:t>Job Client (in client JVM on client node) sends request to JobTracker (on JobTracker node), which will coordinate job execution in the cluster</a:t>
            </a:r>
          </a:p>
          <a:p>
            <a:pPr lvl="2"/>
            <a:r>
              <a:rPr lang="en-US" sz="1800" dirty="0"/>
              <a:t>JobTracker returns Job ID</a:t>
            </a:r>
          </a:p>
          <a:p>
            <a:pPr lvl="1"/>
            <a:r>
              <a:rPr lang="en-US" sz="2000" dirty="0"/>
              <a:t>JobClient calculates splits of input data</a:t>
            </a:r>
          </a:p>
          <a:p>
            <a:pPr lvl="1"/>
            <a:r>
              <a:rPr lang="en-US" sz="2000" dirty="0"/>
              <a:t>JobClient “fans the job out” to multiple systems</a:t>
            </a:r>
          </a:p>
          <a:p>
            <a:pPr lvl="2"/>
            <a:r>
              <a:rPr lang="en-US" sz="1600" dirty="0"/>
              <a:t>Copies program components (Java jar, config file) and calculated input data splits to JobTracker’s filesystem.  Write (default) 10 copies of this to 10 JobTrackers (recall JobTracker is one per DataNode)</a:t>
            </a:r>
          </a:p>
          <a:p>
            <a:pPr lvl="1"/>
            <a:r>
              <a:rPr lang="en-US" sz="2000" dirty="0"/>
              <a:t>JobTracker inserts job into its queue for its scheduler to dequeue and init</a:t>
            </a:r>
          </a:p>
          <a:p>
            <a:pPr lvl="2"/>
            <a:r>
              <a:rPr lang="en-US" sz="1600" dirty="0"/>
              <a:t>Init: Create job object to represent tasks it executes, and track task progress/status</a:t>
            </a:r>
          </a:p>
          <a:p>
            <a:pPr lvl="1"/>
            <a:r>
              <a:rPr lang="en-US" sz="2000" dirty="0"/>
              <a:t>JobClient informs JobTracker that job is ready to execute</a:t>
            </a:r>
          </a:p>
          <a:p>
            <a:pPr lvl="1"/>
            <a:r>
              <a:rPr lang="en-US" sz="2000" dirty="0"/>
              <a:t>JobTracker creates list of tasks to run</a:t>
            </a:r>
          </a:p>
          <a:p>
            <a:pPr lvl="2"/>
            <a:r>
              <a:rPr lang="en-US" sz="1600" dirty="0"/>
              <a:t>Retrieves (from HDFS) the input data splits computed by JobClient</a:t>
            </a:r>
          </a:p>
          <a:p>
            <a:pPr lvl="2"/>
            <a:r>
              <a:rPr lang="en-US" sz="1600" dirty="0"/>
              <a:t>Creates one Map task per data split</a:t>
            </a:r>
          </a:p>
          <a:p>
            <a:pPr lvl="1"/>
            <a:endParaRPr lang="en-US" sz="2400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6656"/>
            <a:ext cx="26852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9465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TaskTracker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33144"/>
            <a:ext cx="87630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TaskTrackers communication with JobTracker</a:t>
            </a:r>
          </a:p>
          <a:p>
            <a:pPr lvl="1"/>
            <a:r>
              <a:rPr lang="en-US" sz="2000" dirty="0"/>
              <a:t>Default loop, sends periodic heartbeat message to JobTracker</a:t>
            </a:r>
          </a:p>
          <a:p>
            <a:pPr lvl="2"/>
            <a:r>
              <a:rPr lang="en-US" sz="1600" dirty="0"/>
              <a:t>Tasktracker is alive</a:t>
            </a:r>
          </a:p>
          <a:p>
            <a:pPr lvl="2"/>
            <a:r>
              <a:rPr lang="en-US" sz="1600" dirty="0"/>
              <a:t>Available (or not) to run a task</a:t>
            </a:r>
          </a:p>
          <a:p>
            <a:pPr lvl="2"/>
            <a:r>
              <a:rPr lang="en-US" sz="1600" dirty="0"/>
              <a:t>JobTracker sends task to run in heartbeat response message if TaskTracker available</a:t>
            </a:r>
          </a:p>
          <a:p>
            <a:r>
              <a:rPr lang="en-US" sz="2400" dirty="0"/>
              <a:t>TaskTrackers have limited queue size for Map and for Reduce tasks</a:t>
            </a:r>
          </a:p>
          <a:p>
            <a:pPr lvl="1"/>
            <a:r>
              <a:rPr lang="en-US" sz="2000" dirty="0"/>
              <a:t>Queue size mapped to # cores &amp; physical memory on TaskTracker node</a:t>
            </a:r>
          </a:p>
          <a:p>
            <a:r>
              <a:rPr lang="en-US" sz="2400" dirty="0"/>
              <a:t>TaskTracker scheduler will schedule Map tasks before Reduce tasks</a:t>
            </a:r>
          </a:p>
          <a:p>
            <a:r>
              <a:rPr lang="en-US" sz="2400" dirty="0"/>
              <a:t>Copies jar file from HDFS to TaskTracker filesystem</a:t>
            </a:r>
          </a:p>
          <a:p>
            <a:pPr lvl="1"/>
            <a:r>
              <a:rPr lang="en-US" sz="2000" dirty="0"/>
              <a:t>Unwinds jar file into a local working directory create for task</a:t>
            </a:r>
          </a:p>
          <a:p>
            <a:r>
              <a:rPr lang="en-US" sz="2400" dirty="0"/>
              <a:t>Creates TaskRunner to run the task</a:t>
            </a:r>
          </a:p>
          <a:p>
            <a:pPr lvl="1"/>
            <a:r>
              <a:rPr lang="en-US" sz="2000" dirty="0"/>
              <a:t>TaskRunner starts a JVM for each task</a:t>
            </a:r>
          </a:p>
          <a:p>
            <a:pPr lvl="1"/>
            <a:r>
              <a:rPr lang="en-US" sz="2000" dirty="0"/>
              <a:t>Separate JVM per task isolates TaskTracker from user M/R program bugs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6656"/>
            <a:ext cx="26852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32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-27432"/>
            <a:ext cx="8500872" cy="68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1125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TaskTracker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33144"/>
            <a:ext cx="8763000" cy="5257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TaskTracker per-task JVM (children) communicate to parent</a:t>
            </a:r>
          </a:p>
          <a:p>
            <a:pPr lvl="1"/>
            <a:r>
              <a:rPr lang="en-US" sz="2000" dirty="0"/>
              <a:t>Status, progress of each task, every few seconds via “umbilical” interface</a:t>
            </a:r>
          </a:p>
          <a:p>
            <a:pPr lvl="1"/>
            <a:r>
              <a:rPr lang="en-US" sz="2000" dirty="0"/>
              <a:t>Streaming interface communicates with process via stdin/stdout</a:t>
            </a:r>
          </a:p>
          <a:p>
            <a:r>
              <a:rPr lang="en-US" sz="2400" dirty="0"/>
              <a:t>MapReduce jobs are long-running</a:t>
            </a:r>
          </a:p>
          <a:p>
            <a:pPr lvl="1"/>
            <a:r>
              <a:rPr lang="en-US" sz="2000" dirty="0"/>
              <a:t>Minutes to hours</a:t>
            </a:r>
          </a:p>
          <a:p>
            <a:pPr lvl="1"/>
            <a:r>
              <a:rPr lang="en-US" sz="2000" dirty="0"/>
              <a:t>Status and progress important to communicate</a:t>
            </a:r>
          </a:p>
          <a:p>
            <a:pPr lvl="2"/>
            <a:r>
              <a:rPr lang="en-US" sz="1600" dirty="0"/>
              <a:t>State: Running, successful completion, failed</a:t>
            </a:r>
          </a:p>
          <a:p>
            <a:pPr lvl="2"/>
            <a:r>
              <a:rPr lang="en-US" sz="1600" dirty="0"/>
              <a:t>Progress of map &amp; reduce tasks</a:t>
            </a:r>
          </a:p>
          <a:p>
            <a:pPr lvl="2"/>
            <a:r>
              <a:rPr lang="en-US" sz="1600" dirty="0"/>
              <a:t>Job counters</a:t>
            </a:r>
          </a:p>
          <a:p>
            <a:pPr lvl="2"/>
            <a:r>
              <a:rPr lang="en-US" sz="1600" dirty="0"/>
              <a:t>User-defined status messages</a:t>
            </a:r>
          </a:p>
          <a:p>
            <a:r>
              <a:rPr lang="en-US" sz="2400" dirty="0"/>
              <a:t>Task Progress:  How is this defined?</a:t>
            </a:r>
          </a:p>
          <a:p>
            <a:pPr lvl="1"/>
            <a:r>
              <a:rPr lang="en-US" sz="2000" dirty="0"/>
              <a:t>Input record read (Map or Reduce)</a:t>
            </a:r>
          </a:p>
          <a:p>
            <a:pPr lvl="1"/>
            <a:r>
              <a:rPr lang="en-US" sz="2000" dirty="0"/>
              <a:t>Output record written</a:t>
            </a:r>
          </a:p>
          <a:p>
            <a:pPr lvl="1"/>
            <a:r>
              <a:rPr lang="en-US" sz="2000" dirty="0"/>
              <a:t>Set status description on Reporter, increment Reporter counter, call to Reporter progress() method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6656"/>
            <a:ext cx="26852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979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Job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33144"/>
            <a:ext cx="87630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JobTracker receives last task’s completion notification</a:t>
            </a:r>
          </a:p>
          <a:p>
            <a:pPr lvl="1"/>
            <a:r>
              <a:rPr lang="en-US" sz="2000" dirty="0"/>
              <a:t>Changes job status to “successful”</a:t>
            </a:r>
          </a:p>
          <a:p>
            <a:pPr lvl="1"/>
            <a:r>
              <a:rPr lang="en-US" sz="2000" dirty="0">
                <a:solidFill>
                  <a:prstClr val="black"/>
                </a:solidFill>
              </a:rPr>
              <a:t>Can send HTTP job notification message to JobClient</a:t>
            </a:r>
          </a:p>
          <a:p>
            <a:r>
              <a:rPr lang="en-US" sz="2400" dirty="0"/>
              <a:t>JobClient learns of success at its next polling interval to JobTracker</a:t>
            </a:r>
          </a:p>
          <a:p>
            <a:pPr lvl="1"/>
            <a:r>
              <a:rPr lang="en-US" sz="2000" dirty="0"/>
              <a:t>Sends message to user</a:t>
            </a:r>
          </a:p>
          <a:p>
            <a:r>
              <a:rPr lang="en-US" sz="2400" dirty="0"/>
              <a:t>JobTracker performs cleanup, commands TaskTrackers to cleanup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6656"/>
            <a:ext cx="26852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4463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717" y="76200"/>
            <a:ext cx="7459091" cy="1676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Example Job &amp; Filesystem Interaction</a:t>
            </a:r>
            <a:br>
              <a:rPr lang="en-US" sz="2800" dirty="0"/>
            </a:br>
            <a:r>
              <a:rPr lang="en-US" sz="2800" dirty="0"/>
              <a:t>Multiple Map tasks, one Reduce task</a:t>
            </a:r>
            <a:br>
              <a:rPr lang="en-US" sz="2800" dirty="0"/>
            </a:br>
            <a:r>
              <a:rPr lang="en-US" sz="2800" dirty="0"/>
              <a:t>Map reads from HDFS, writes to local FS</a:t>
            </a:r>
            <a:br>
              <a:rPr lang="en-US" sz="2800" dirty="0"/>
            </a:br>
            <a:r>
              <a:rPr lang="en-US" sz="2800" dirty="0"/>
              <a:t>Reduce reads from local FS, writes to HDFS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" t="26513" r="4738" b="6119"/>
          <a:stretch/>
        </p:blipFill>
        <p:spPr bwMode="auto">
          <a:xfrm>
            <a:off x="914400" y="2667000"/>
            <a:ext cx="7315200" cy="329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0"/>
            <a:ext cx="26828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452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696200" cy="13716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Example # Job &amp; Filesystem Interaction</a:t>
            </a:r>
            <a:br>
              <a:rPr lang="en-US" sz="2800" dirty="0"/>
            </a:br>
            <a:r>
              <a:rPr lang="en-US" sz="2800" dirty="0"/>
              <a:t>Multiple Map tasks, Two Reduce tasks</a:t>
            </a:r>
            <a:br>
              <a:rPr lang="en-US" sz="2800" dirty="0"/>
            </a:br>
            <a:r>
              <a:rPr lang="en-US" sz="2800" dirty="0"/>
              <a:t>Each Reduce writes one partition per Reduce task to HDFS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 t="16794" r="3341" b="5266"/>
          <a:stretch/>
        </p:blipFill>
        <p:spPr bwMode="auto">
          <a:xfrm>
            <a:off x="914400" y="2057400"/>
            <a:ext cx="7223760" cy="374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3" y="0"/>
            <a:ext cx="253898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2418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dirty="0"/>
              <a:t>Sorting Map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Default 100 MB memory buffer in which to sort output of a Map </a:t>
            </a:r>
            <a:r>
              <a:rPr lang="en-US" sz="2400" dirty="0" err="1"/>
              <a:t>tasks’s</a:t>
            </a:r>
            <a:r>
              <a:rPr lang="en-US" sz="2400" dirty="0"/>
              <a:t> output</a:t>
            </a:r>
          </a:p>
          <a:p>
            <a:r>
              <a:rPr lang="en-US" sz="2400" dirty="0"/>
              <a:t>Sort thread divides output data into partitions by the Reducer the output will be sent to</a:t>
            </a:r>
          </a:p>
          <a:p>
            <a:r>
              <a:rPr lang="en-US" sz="2400" dirty="0"/>
              <a:t>Within a partition, a thread sorts in-memory by key.  Combiner function uses this sorted output</a:t>
            </a:r>
          </a:p>
          <a:p>
            <a:r>
              <a:rPr lang="en-US" sz="2400" dirty="0"/>
              <a:t>@ default 80% buffer full, starts to flush (“spill”) to the local file system</a:t>
            </a:r>
          </a:p>
          <a:p>
            <a:r>
              <a:rPr lang="en-US" sz="2400" dirty="0"/>
              <a:t>In parallel, Map outputs continue to be written into the sort buffer while spill writes sorted output to the local FS.  Map will block writing to the sort buffer @ 80% full (default)</a:t>
            </a:r>
          </a:p>
          <a:p>
            <a:r>
              <a:rPr lang="en-US" sz="2400" dirty="0"/>
              <a:t>New spill file created every time buffer hits 80% full</a:t>
            </a:r>
          </a:p>
          <a:p>
            <a:r>
              <a:rPr lang="en-US" sz="2400" dirty="0"/>
              <a:t>Multiple spill files are merged into one partitioned, sorted output</a:t>
            </a:r>
          </a:p>
          <a:p>
            <a:r>
              <a:rPr lang="en-US" sz="2400" dirty="0"/>
              <a:t>Output is typically compressed for write to disk (good tradeoff given CPU speed vs. disk speed)</a:t>
            </a:r>
          </a:p>
          <a:p>
            <a:r>
              <a:rPr lang="en-US" sz="2400" dirty="0"/>
              <a:t>Map output file is now on local disk of </a:t>
            </a:r>
            <a:r>
              <a:rPr lang="en-US" sz="2400" dirty="0" err="1"/>
              <a:t>tasktracker</a:t>
            </a:r>
            <a:r>
              <a:rPr lang="en-US" sz="2400" dirty="0"/>
              <a:t> that ran the Map task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3" y="0"/>
            <a:ext cx="253898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192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696200" cy="13716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Example # Job &amp; Filesystem Interaction</a:t>
            </a:r>
            <a:br>
              <a:rPr lang="en-US" sz="2800" dirty="0"/>
            </a:br>
            <a:r>
              <a:rPr lang="en-US" sz="2800" dirty="0"/>
              <a:t>Multiple Map tasks, Two Reduce tasks</a:t>
            </a:r>
            <a:br>
              <a:rPr lang="en-US" sz="2800" dirty="0"/>
            </a:br>
            <a:r>
              <a:rPr lang="en-US" sz="2800" dirty="0"/>
              <a:t>Each Reduce writes one partition per Reduce task to HDFS</a:t>
            </a:r>
          </a:p>
        </p:txBody>
      </p:sp>
    </p:spTree>
    <p:extLst>
      <p:ext uri="{BB962C8B-B14F-4D97-AF65-F5344CB8AC3E}">
        <p14:creationId xmlns:p14="http://schemas.microsoft.com/office/powerpoint/2010/main" val="100241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MapReduce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MapReduce is not always the best algorithm</a:t>
            </a:r>
          </a:p>
          <a:p>
            <a:pPr lvl="1"/>
            <a:r>
              <a:rPr lang="en-US" sz="2400" dirty="0"/>
              <a:t>One simple functional programming operation applied in parallel to Big Data</a:t>
            </a:r>
          </a:p>
          <a:p>
            <a:pPr lvl="1"/>
            <a:r>
              <a:rPr lang="en-US" sz="2400" dirty="0"/>
              <a:t>Not amenable to maintaining state (remembering output from a previous MapReduce job)</a:t>
            </a:r>
          </a:p>
          <a:p>
            <a:pPr lvl="2"/>
            <a:r>
              <a:rPr lang="en-US" sz="2000" dirty="0"/>
              <a:t>Can pipeline MR jobs in serial</a:t>
            </a:r>
          </a:p>
          <a:p>
            <a:pPr lvl="2"/>
            <a:r>
              <a:rPr lang="en-US" sz="2000" dirty="0"/>
              <a:t>HBase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" y="228600"/>
            <a:ext cx="26852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9969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Apache Hive!</a:t>
            </a:r>
          </a:p>
          <a:p>
            <a:r>
              <a:rPr lang="en-US" sz="2800" dirty="0"/>
              <a:t>Data warehouse system providing structure onto HDFS</a:t>
            </a:r>
          </a:p>
          <a:p>
            <a:r>
              <a:rPr lang="en-US" sz="2800" dirty="0"/>
              <a:t>SQL-like query language, HiveQL</a:t>
            </a:r>
          </a:p>
          <a:p>
            <a:r>
              <a:rPr lang="en-US" sz="2800" dirty="0"/>
              <a:t>Also supports traditional map/reduce programs</a:t>
            </a:r>
          </a:p>
          <a:p>
            <a:r>
              <a:rPr lang="en-US" sz="2800" dirty="0"/>
              <a:t>Popular with data researchers</a:t>
            </a:r>
          </a:p>
          <a:p>
            <a:pPr lvl="1"/>
            <a:r>
              <a:rPr lang="en-US" sz="2400" dirty="0"/>
              <a:t>Bitly; LinkedIn to name two</a:t>
            </a:r>
          </a:p>
          <a:p>
            <a:r>
              <a:rPr lang="en-US" sz="2800" dirty="0"/>
              <a:t>Originated &amp; developed at Facebook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04800"/>
            <a:ext cx="1090613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001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Apache Pig!</a:t>
            </a:r>
          </a:p>
          <a:p>
            <a:r>
              <a:rPr lang="en-US" sz="2800" dirty="0"/>
              <a:t>High-level language for data analysis</a:t>
            </a:r>
          </a:p>
          <a:p>
            <a:r>
              <a:rPr lang="en-US" sz="2800" dirty="0"/>
              <a:t>Program structure “…amenable to substantial parallelization”</a:t>
            </a:r>
          </a:p>
          <a:p>
            <a:r>
              <a:rPr lang="en-US" sz="2800" dirty="0"/>
              <a:t>“Complex tasks comprised of multiple interrelated data transformations are explicitly encoded as data flow sequences, making them easy to write, understand, and maintain.”</a:t>
            </a:r>
          </a:p>
          <a:p>
            <a:r>
              <a:rPr lang="en-US" sz="2800" dirty="0"/>
              <a:t>Popular with data researchers who are also skilled in Python as their analysis toolset and “glue” language</a:t>
            </a:r>
          </a:p>
          <a:p>
            <a:r>
              <a:rPr lang="en-US" sz="2800" dirty="0"/>
              <a:t>Originated &amp; developed at Yahoo!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876" y="304800"/>
            <a:ext cx="7143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411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Apache HBase!</a:t>
            </a:r>
          </a:p>
          <a:p>
            <a:pPr lvl="1"/>
            <a:r>
              <a:rPr lang="en-US" sz="2400" dirty="0"/>
              <a:t>Realtime, Random R/W access to Big Data</a:t>
            </a:r>
          </a:p>
          <a:p>
            <a:pPr lvl="1"/>
            <a:r>
              <a:rPr lang="en-US" sz="2400" dirty="0"/>
              <a:t>Column-oriented</a:t>
            </a:r>
          </a:p>
          <a:p>
            <a:pPr lvl="2"/>
            <a:r>
              <a:rPr lang="en-US" sz="2000" dirty="0"/>
              <a:t>Modeled after Google’s Bigtable for structured data</a:t>
            </a:r>
          </a:p>
          <a:p>
            <a:pPr lvl="1"/>
            <a:r>
              <a:rPr lang="en-US" sz="2400" dirty="0"/>
              <a:t>Massive distributed database layered onto clusters of commodity hardware</a:t>
            </a:r>
          </a:p>
          <a:p>
            <a:pPr lvl="2"/>
            <a:r>
              <a:rPr lang="en-US" sz="2000" dirty="0"/>
              <a:t>Goal: Very large tables, billions of rows X millions of columns</a:t>
            </a:r>
          </a:p>
          <a:p>
            <a:pPr lvl="1"/>
            <a:r>
              <a:rPr lang="en-US" dirty="0"/>
              <a:t>HDFS underlies HBase</a:t>
            </a:r>
          </a:p>
          <a:p>
            <a:r>
              <a:rPr lang="en-US" sz="2800" dirty="0"/>
              <a:t>Originally developed at Powerset; acquired by Microsoft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58016"/>
            <a:ext cx="253047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9610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0292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Apache Zookeeper!</a:t>
            </a:r>
          </a:p>
          <a:p>
            <a:r>
              <a:rPr lang="en-US" sz="2800" dirty="0"/>
              <a:t>Goal: Provide highly reliable distributed coordination services via a set of primitives for distributed apps to build on</a:t>
            </a:r>
          </a:p>
          <a:p>
            <a:pPr lvl="1"/>
            <a:r>
              <a:rPr lang="en-US" sz="2400" dirty="0"/>
              <a:t>“Because Coordinating Distributed Systems is a Zoo”  (!)</a:t>
            </a:r>
          </a:p>
          <a:p>
            <a:pPr lvl="2"/>
            <a:r>
              <a:rPr lang="en-US" sz="2000" dirty="0"/>
              <a:t>Common distributed services notoriously difficult to develop &amp; maintain on an application by application basis</a:t>
            </a:r>
          </a:p>
          <a:p>
            <a:r>
              <a:rPr lang="en-US" sz="2800" dirty="0"/>
              <a:t>Centralized distributed synchronization; group services; naming; configuration information</a:t>
            </a:r>
          </a:p>
          <a:p>
            <a:r>
              <a:rPr lang="en-US" sz="2800" dirty="0"/>
              <a:t>High performance, highly available, ordered access</a:t>
            </a:r>
          </a:p>
          <a:p>
            <a:pPr lvl="1"/>
            <a:r>
              <a:rPr lang="en-US" sz="2400" dirty="0"/>
              <a:t>In memory.  Replicated.  Synchronization at client by API</a:t>
            </a:r>
          </a:p>
          <a:p>
            <a:r>
              <a:rPr lang="en-US" sz="2800" dirty="0"/>
              <a:t>Originated &amp; developed at Yahoo!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651" y="76200"/>
            <a:ext cx="121919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8057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Apache Mahout!</a:t>
            </a:r>
          </a:p>
          <a:p>
            <a:r>
              <a:rPr lang="en-US" sz="2800" dirty="0"/>
              <a:t>Machine Learning Library</a:t>
            </a:r>
          </a:p>
          <a:p>
            <a:r>
              <a:rPr lang="en-US" sz="2800" dirty="0"/>
              <a:t>Based on Hadoop HDFS &amp; Map/Reduce</a:t>
            </a:r>
          </a:p>
          <a:p>
            <a:pPr lvl="1"/>
            <a:r>
              <a:rPr lang="en-US" sz="2400" dirty="0"/>
              <a:t>Though not restricted to Hadoop implementations</a:t>
            </a:r>
          </a:p>
          <a:p>
            <a:r>
              <a:rPr lang="en-US" sz="2800" dirty="0"/>
              <a:t>“Scalable to ‘reasonably large’ data sets”</a:t>
            </a:r>
          </a:p>
          <a:p>
            <a:r>
              <a:rPr lang="en-US" sz="2800" dirty="0"/>
              <a:t>Four primary ML use cases, currently</a:t>
            </a:r>
          </a:p>
          <a:p>
            <a:pPr lvl="1"/>
            <a:r>
              <a:rPr lang="en-US" sz="2400" dirty="0"/>
              <a:t>Clustering; Classification; Itemset Frequency Mining; Recommendation Mining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8600"/>
            <a:ext cx="4886325" cy="122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169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Apache Chukwa!  Originated &amp; developed @ Yahoo!</a:t>
            </a:r>
          </a:p>
          <a:p>
            <a:r>
              <a:rPr lang="en-US" sz="2800" dirty="0"/>
              <a:t>Log analysis framework built on HDFS &amp; Map/Reduce and HBase</a:t>
            </a:r>
          </a:p>
          <a:p>
            <a:r>
              <a:rPr lang="en-US" sz="2800" dirty="0"/>
              <a:t>Data collection system to monitor large distributed systems</a:t>
            </a:r>
          </a:p>
          <a:p>
            <a:r>
              <a:rPr lang="en-US" sz="2800" dirty="0"/>
              <a:t>Toolkit for displaying &amp; analyzing collected data</a:t>
            </a:r>
          </a:p>
          <a:p>
            <a:r>
              <a:rPr lang="en-US" sz="2800" dirty="0"/>
              <a:t>A competitor to Splunk?</a:t>
            </a:r>
          </a:p>
          <a:p>
            <a:endParaRPr lang="en-US" sz="28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52401"/>
            <a:ext cx="14287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71" y="4638675"/>
            <a:ext cx="681990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1267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12" y="270213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9067800" cy="5410200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Apache Avro!  Originated @ Yahoo!, co-developer Cloudera</a:t>
            </a:r>
          </a:p>
          <a:p>
            <a:r>
              <a:rPr lang="en-US" sz="3000" dirty="0"/>
              <a:t>Data serialization system</a:t>
            </a:r>
          </a:p>
          <a:p>
            <a:pPr lvl="1"/>
            <a:r>
              <a:rPr lang="en-US" sz="2200" dirty="0"/>
              <a:t>Serialization: “…the process of converting a data structure or object state into a format that can be stored” in a file or transmitted over a network link.</a:t>
            </a:r>
          </a:p>
          <a:p>
            <a:pPr lvl="1"/>
            <a:r>
              <a:rPr lang="en-US" sz="2200" dirty="0"/>
              <a:t>Serializing an object is also referred to as “marshaling” an object</a:t>
            </a:r>
          </a:p>
          <a:p>
            <a:r>
              <a:rPr lang="en-US" sz="3000" dirty="0"/>
              <a:t>Supports JSON as the data interchange format</a:t>
            </a:r>
          </a:p>
          <a:p>
            <a:pPr lvl="1"/>
            <a:r>
              <a:rPr lang="en-US" sz="2200" dirty="0"/>
              <a:t>JavaScript Object Notation, a self-describing data format</a:t>
            </a:r>
          </a:p>
          <a:p>
            <a:pPr lvl="1"/>
            <a:r>
              <a:rPr lang="en-US" sz="2200" dirty="0"/>
              <a:t>Experimental support for Avro IDL, an alternate Interface Description Lang.</a:t>
            </a:r>
          </a:p>
          <a:p>
            <a:r>
              <a:rPr lang="en-US" sz="3000" dirty="0"/>
              <a:t>Includes Remote Procedure Call (RPC) in the framewor</a:t>
            </a:r>
            <a:r>
              <a:rPr lang="en-US" sz="2800" dirty="0"/>
              <a:t>k</a:t>
            </a:r>
          </a:p>
          <a:p>
            <a:pPr lvl="1"/>
            <a:r>
              <a:rPr lang="en-US" sz="2200" dirty="0"/>
              <a:t>Communication between Hadoop nodes and from clients to services</a:t>
            </a:r>
          </a:p>
          <a:p>
            <a:r>
              <a:rPr lang="en-US" sz="3000" dirty="0"/>
              <a:t>Hadoop (Doug Cutting) emphasizes moving away from text APIs to using Avro APIs for Map/Reduce, etc.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0"/>
            <a:ext cx="2816225" cy="87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379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81200"/>
            <a:ext cx="8839200" cy="4724400"/>
          </a:xfrm>
        </p:spPr>
        <p:txBody>
          <a:bodyPr>
            <a:normAutofit/>
          </a:bodyPr>
          <a:lstStyle/>
          <a:p>
            <a:r>
              <a:rPr lang="en-US" sz="2800" dirty="0"/>
              <a:t>Apache Whirr!</a:t>
            </a:r>
          </a:p>
          <a:p>
            <a:r>
              <a:rPr lang="en-US" sz="2800" dirty="0"/>
              <a:t>Libraries for running cloud services</a:t>
            </a:r>
          </a:p>
          <a:p>
            <a:pPr lvl="1"/>
            <a:r>
              <a:rPr lang="en-US" sz="2000" dirty="0"/>
              <a:t>Cloud-neutral, avoids provider idiosyncrasies</a:t>
            </a:r>
          </a:p>
          <a:p>
            <a:r>
              <a:rPr lang="en-US" sz="2800" dirty="0"/>
              <a:t>Command line tool for deploying large clusters</a:t>
            </a:r>
          </a:p>
          <a:p>
            <a:r>
              <a:rPr lang="en-US" sz="2800" dirty="0"/>
              <a:t>Common service API</a:t>
            </a:r>
          </a:p>
          <a:p>
            <a:r>
              <a:rPr lang="en-US" sz="2800" dirty="0"/>
              <a:t>Smart defaults for services to enable quickly getting a properly configured system running but still specify the desired attributes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5" y="152400"/>
            <a:ext cx="1554163" cy="163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3687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“Sqoop is a tool designed for efficiently transferring bulk data between Apache Hadoop and structured datastores such as relational databases”</a:t>
            </a:r>
          </a:p>
          <a:p>
            <a:r>
              <a:rPr lang="en-US" sz="2800" dirty="0"/>
              <a:t>Project status:</a:t>
            </a:r>
          </a:p>
          <a:p>
            <a:endParaRPr lang="en-US" sz="28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52400"/>
            <a:ext cx="251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78331"/>
            <a:ext cx="21812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000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Apache Bigtop!</a:t>
            </a:r>
          </a:p>
          <a:p>
            <a:r>
              <a:rPr lang="en-US" sz="2800" dirty="0"/>
              <a:t>Bigtop is to Hadoop as Fedora is to Red Hat Enterprise Linux</a:t>
            </a:r>
          </a:p>
          <a:p>
            <a:pPr lvl="1"/>
            <a:r>
              <a:rPr lang="en-US" sz="2400" dirty="0"/>
              <a:t>Packing &amp; interoperability testing focuses on the system as a whole vs. individual projects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1238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22084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HCatalog; MRUnit; Oozie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r>
              <a:rPr lang="en-US" sz="2800" dirty="0"/>
              <a:t>HCatalog</a:t>
            </a:r>
          </a:p>
          <a:p>
            <a:pPr lvl="1"/>
            <a:r>
              <a:rPr lang="en-US" sz="2400" dirty="0"/>
              <a:t>Table and storage management service for data created using Apache Hadoop</a:t>
            </a:r>
          </a:p>
          <a:p>
            <a:pPr lvl="2"/>
            <a:r>
              <a:rPr lang="en-US" sz="1600" dirty="0"/>
              <a:t>Table abstraction with regard to where or how the data is stored</a:t>
            </a:r>
          </a:p>
          <a:p>
            <a:pPr lvl="2"/>
            <a:r>
              <a:rPr lang="en-US" sz="1600" dirty="0"/>
              <a:t>To provide interoperability across data processing tools including Pig; Map/Reduce; Streaming; Hive </a:t>
            </a:r>
          </a:p>
          <a:p>
            <a:r>
              <a:rPr lang="en-US" sz="2800" dirty="0"/>
              <a:t>MRUnit</a:t>
            </a:r>
          </a:p>
          <a:p>
            <a:pPr lvl="1"/>
            <a:r>
              <a:rPr lang="en-US" sz="2400" dirty="0"/>
              <a:t>Library to support unit testing of Hadoop Map/Reduce jobs</a:t>
            </a:r>
          </a:p>
          <a:p>
            <a:r>
              <a:rPr lang="en-US" sz="2800" dirty="0"/>
              <a:t>Oozie</a:t>
            </a:r>
          </a:p>
          <a:p>
            <a:pPr lvl="1"/>
            <a:r>
              <a:rPr lang="en-US" sz="2400" dirty="0"/>
              <a:t>Workflow system to manage Hadoop jobs by time or data arrival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923925"/>
            <a:ext cx="2176463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105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Small sample of awareness being raised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Big Data</a:t>
            </a:r>
          </a:p>
          <a:p>
            <a:pPr lvl="1"/>
            <a:r>
              <a:rPr lang="en-US" sz="1600" dirty="0"/>
              <a:t>Science, one of the two top peer-review science journals in the world</a:t>
            </a:r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lvl="2"/>
            <a:r>
              <a:rPr lang="en-US" sz="1200" dirty="0"/>
              <a:t>11 Feb 2011 Special Issue: Dealing with Data 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r>
              <a:rPr lang="en-US" sz="1600" dirty="0"/>
              <a:t>The Economist</a:t>
            </a:r>
          </a:p>
          <a:p>
            <a:r>
              <a:rPr lang="en-US" sz="2000" dirty="0"/>
              <a:t>Hadoop-specific</a:t>
            </a:r>
          </a:p>
          <a:p>
            <a:pPr lvl="1"/>
            <a:r>
              <a:rPr lang="en-US" sz="1600" dirty="0"/>
              <a:t>Yahoo! videos on YouTube</a:t>
            </a:r>
          </a:p>
          <a:p>
            <a:pPr lvl="1"/>
            <a:r>
              <a:rPr lang="en-US" sz="1600" dirty="0"/>
              <a:t>Technology pundits in many mainline publications &amp; blogs</a:t>
            </a:r>
          </a:p>
          <a:p>
            <a:pPr lvl="1"/>
            <a:r>
              <a:rPr lang="en-US" sz="1600" dirty="0"/>
              <a:t>Serious blogs by researchers &amp; Ph.D. candidates across data science; computer science; statistics &amp; other fields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667000"/>
            <a:ext cx="923925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3279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/>
          </a:bodyPr>
          <a:lstStyle/>
          <a:p>
            <a:r>
              <a:rPr lang="en-US" sz="2000" u="sng" dirty="0"/>
              <a:t>Hadoop: The Definitive Guide</a:t>
            </a:r>
            <a:r>
              <a:rPr lang="en-US" sz="2000" dirty="0"/>
              <a:t>, 2</a:t>
            </a:r>
            <a:r>
              <a:rPr lang="en-US" sz="2000" baseline="30000" dirty="0"/>
              <a:t>nd</a:t>
            </a:r>
            <a:r>
              <a:rPr lang="en-US" sz="2000" dirty="0"/>
              <a:t> ed. ©October 2010 Tom White (Yahoo!)</a:t>
            </a:r>
          </a:p>
          <a:p>
            <a:r>
              <a:rPr lang="en-US" sz="2000" dirty="0"/>
              <a:t>Apache Hadoop project page, HDFS Architecture Guide, 10/7/2011</a:t>
            </a:r>
          </a:p>
          <a:p>
            <a:r>
              <a:rPr lang="en-US" sz="2000" dirty="0"/>
              <a:t>“The Google File System”, ©2003 Ghemawat, et al. ACM Symposium On Operating System Principles</a:t>
            </a:r>
          </a:p>
          <a:p>
            <a:r>
              <a:rPr lang="en-US" sz="2000" dirty="0"/>
              <a:t>“The Hadoop Distributed File System”, ©2010 Konstantin Svachko, et al (Yahoo!)</a:t>
            </a:r>
          </a:p>
          <a:p>
            <a:r>
              <a:rPr lang="en-US" sz="2000" dirty="0"/>
              <a:t>“ </a:t>
            </a:r>
            <a:r>
              <a:rPr lang="en-US" sz="2000" dirty="0">
                <a:hlinkClick r:id="rId2"/>
              </a:rPr>
              <a:t>Scaling Hadoop to 4000 Nodes at Yahoo! </a:t>
            </a:r>
            <a:r>
              <a:rPr lang="en-US" sz="2000" dirty="0"/>
              <a:t>”, 9/30/2008  A. Anand, Yahoo!</a:t>
            </a:r>
          </a:p>
          <a:p>
            <a:r>
              <a:rPr lang="en-US" sz="2000" dirty="0"/>
              <a:t>Apache project pages: Pig; Hive; HBase; Zookeeper; Avro; etc.</a:t>
            </a:r>
          </a:p>
          <a:p>
            <a:r>
              <a:rPr lang="en-US" sz="2000" dirty="0"/>
              <a:t>Doug Cutting presentations on Avro &amp; Hadoop ecosystem (slideshare.net)</a:t>
            </a:r>
          </a:p>
          <a:p>
            <a:r>
              <a:rPr lang="en-US" sz="2000" dirty="0"/>
              <a:t>Cloudera.com</a:t>
            </a:r>
          </a:p>
          <a:p>
            <a:r>
              <a:rPr lang="en-US" sz="2000" dirty="0"/>
              <a:t>Talk by Pete Skomoroch, Principal Data Scientist, LinkedIn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5464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Data Scientists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/>
          </a:bodyPr>
          <a:lstStyle/>
          <a:p>
            <a:r>
              <a:rPr lang="en-US" sz="2400" dirty="0"/>
              <a:t>“Obtain, scrub, explore, model, interpret”</a:t>
            </a:r>
          </a:p>
          <a:p>
            <a:pPr lvl="1"/>
            <a:r>
              <a:rPr lang="en-US" sz="2000" dirty="0"/>
              <a:t>Hilary Mason &amp; Chris Wiggins, “A Taxonomy of Data Science” (Dataists blog)</a:t>
            </a:r>
          </a:p>
          <a:p>
            <a:pPr lvl="2"/>
            <a:r>
              <a:rPr lang="en-US" sz="1600" dirty="0"/>
              <a:t>What a data scientist does:  5 areas</a:t>
            </a:r>
          </a:p>
          <a:p>
            <a:pPr lvl="3"/>
            <a:r>
              <a:rPr lang="en-US" sz="1200" dirty="0"/>
              <a:t>Knows </a:t>
            </a:r>
            <a:r>
              <a:rPr lang="en-US" sz="1200" i="1" dirty="0"/>
              <a:t>how</a:t>
            </a:r>
            <a:r>
              <a:rPr lang="en-US" sz="1200" dirty="0"/>
              <a:t> to obtain a sufficient body of usable data from multiple sources, requiring different query syntax</a:t>
            </a:r>
          </a:p>
          <a:p>
            <a:pPr lvl="4"/>
            <a:r>
              <a:rPr lang="en-US" sz="1200" dirty="0"/>
              <a:t>At minimum, know how to do this from the command line; e.g., Unix environment</a:t>
            </a:r>
          </a:p>
          <a:p>
            <a:pPr lvl="4"/>
            <a:r>
              <a:rPr lang="en-US" sz="1200" dirty="0"/>
              <a:t>Learn a programming or scripting language that can support automation of retrieval with asynchronous calls and manage the resulting data (Mason prefers Python as of Q4 2010)</a:t>
            </a:r>
          </a:p>
          <a:p>
            <a:pPr lvl="3"/>
            <a:r>
              <a:rPr lang="en-US" sz="1200" dirty="0"/>
              <a:t>Data cleaning (scrubbing) is always necessary before analysis of the data is possible</a:t>
            </a:r>
          </a:p>
          <a:p>
            <a:pPr lvl="4"/>
            <a:r>
              <a:rPr lang="en-US" sz="1200" dirty="0"/>
              <a:t>Least sexy part of analysis process but often yields the greatest benefits</a:t>
            </a:r>
          </a:p>
          <a:p>
            <a:pPr lvl="5"/>
            <a:r>
              <a:rPr lang="en-US" sz="1200" dirty="0"/>
              <a:t>Simple analysis of clean data often more productive than complex analysis of noisy, irregular data</a:t>
            </a:r>
          </a:p>
          <a:p>
            <a:pPr lvl="4"/>
            <a:r>
              <a:rPr lang="en-US" sz="1200" dirty="0"/>
              <a:t>grep, awk, sed for small tasks; Perl or Python adequate for the rest</a:t>
            </a:r>
          </a:p>
          <a:p>
            <a:pPr lvl="4"/>
            <a:r>
              <a:rPr lang="en-US" sz="1200" dirty="0"/>
              <a:t>Familiarity with databases; query syntax; data representation (e.g., JSON; XML; etc.)</a:t>
            </a:r>
          </a:p>
          <a:p>
            <a:pPr lvl="3"/>
            <a:r>
              <a:rPr lang="en-US" sz="1200" dirty="0"/>
              <a:t>Explore:  Visualizing; clustering; dimensionality reduction are all part of “looking at data”</a:t>
            </a:r>
          </a:p>
          <a:p>
            <a:pPr lvl="4"/>
            <a:r>
              <a:rPr lang="en-US" sz="1200" dirty="0"/>
              <a:t>Look at your data!  Yes, with UNIX utilities: more; less; head; awk; cut</a:t>
            </a:r>
          </a:p>
          <a:p>
            <a:pPr lvl="4"/>
            <a:r>
              <a:rPr lang="en-US" sz="1200" dirty="0"/>
              <a:t>Histograms (selection of bin size makes them an art project rather than “analytics”) &amp; Scatter Plots</a:t>
            </a:r>
          </a:p>
          <a:p>
            <a:pPr lvl="4"/>
            <a:r>
              <a:rPr lang="en-US" sz="1200" dirty="0"/>
              <a:t>Dimension reduction: Principle Components; Partial Least Squares regression (PLS); Multidimensional Scaling</a:t>
            </a:r>
          </a:p>
          <a:p>
            <a:pPr lvl="4"/>
            <a:r>
              <a:rPr lang="en-US" sz="1200" dirty="0"/>
              <a:t>Clustering, unsupervised machine learning techniques for grouping observations</a:t>
            </a:r>
          </a:p>
          <a:p>
            <a:pPr lvl="3"/>
            <a:r>
              <a:rPr lang="en-US" sz="1200" dirty="0"/>
              <a:t>Models:  Always bad, sometimes ugly</a:t>
            </a:r>
          </a:p>
          <a:p>
            <a:pPr lvl="4"/>
            <a:r>
              <a:rPr lang="en-US" sz="1200" dirty="0"/>
              <a:t>George E.P. Box: “All models are wrong, but some are useful”</a:t>
            </a:r>
          </a:p>
          <a:p>
            <a:pPr lvl="4"/>
            <a:r>
              <a:rPr lang="en-US" sz="1200" dirty="0"/>
              <a:t>Evaluate many models and find the “least bad”, the least complex having greatest predictive power</a:t>
            </a:r>
          </a:p>
          <a:p>
            <a:pPr lvl="3"/>
            <a:r>
              <a:rPr lang="en-US" sz="1200" dirty="0"/>
              <a:t>Interpret</a:t>
            </a:r>
          </a:p>
          <a:p>
            <a:pPr lvl="4"/>
            <a:r>
              <a:rPr lang="en-US" sz="1200" dirty="0"/>
              <a:t>Domain expertise &amp; intuition often trump  technical or software expertise</a:t>
            </a:r>
          </a:p>
          <a:p>
            <a:pPr lvl="5"/>
            <a:endParaRPr lang="en-US" sz="1200" dirty="0"/>
          </a:p>
          <a:p>
            <a:pPr marL="1143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98976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Remaining Relevant:  It’s A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Stay curious</a:t>
            </a:r>
          </a:p>
          <a:p>
            <a:r>
              <a:rPr lang="en-US" sz="2000" dirty="0"/>
              <a:t>Explore</a:t>
            </a:r>
          </a:p>
          <a:p>
            <a:r>
              <a:rPr lang="en-US" sz="2000" dirty="0"/>
              <a:t>Experiment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236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14208</TotalTime>
  <Words>3839</Words>
  <Application>Microsoft Office PowerPoint</Application>
  <PresentationFormat>全屏显示(4:3)</PresentationFormat>
  <Paragraphs>429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Doing Hoops With Hadoop (and friends)</vt:lpstr>
      <vt:lpstr>What’s all the excitement about?</vt:lpstr>
      <vt:lpstr>Say hello to Hadoop</vt:lpstr>
      <vt:lpstr>One more time</vt:lpstr>
      <vt:lpstr>Say hello to Hadoop’s friends a.k.a. The Hadoop Ecosystem ca. 2011-2012</vt:lpstr>
      <vt:lpstr>Overloading Terminology</vt:lpstr>
      <vt:lpstr>Hadoop: The High Level</vt:lpstr>
      <vt:lpstr>What’s Hadoop Used For? Major Use Cases per Cloudera (2012)</vt:lpstr>
      <vt:lpstr>HDFS</vt:lpstr>
      <vt:lpstr>HDFS:  What It’s Not Good For</vt:lpstr>
      <vt:lpstr>HDFS Concepts &amp; Architecture</vt:lpstr>
      <vt:lpstr>PowerPoint 演示文稿</vt:lpstr>
      <vt:lpstr>HDFS Concepts &amp; Architecture</vt:lpstr>
      <vt:lpstr>HDFS</vt:lpstr>
      <vt:lpstr>NameNode</vt:lpstr>
      <vt:lpstr>DataNodes</vt:lpstr>
      <vt:lpstr>DataNodes (cont’d)</vt:lpstr>
      <vt:lpstr>Back to the NameNode</vt:lpstr>
      <vt:lpstr>Client Read &amp; Write</vt:lpstr>
      <vt:lpstr>Client Write (cont’d)</vt:lpstr>
      <vt:lpstr>HDFS Key Points</vt:lpstr>
      <vt:lpstr>Typical Hadoop Node</vt:lpstr>
      <vt:lpstr>Hadoop MapReduce</vt:lpstr>
      <vt:lpstr>Language Support</vt:lpstr>
      <vt:lpstr>Hadoop MapReduce</vt:lpstr>
      <vt:lpstr>Hadoop MapReduce Job Execution</vt:lpstr>
      <vt:lpstr>TaskTracker</vt:lpstr>
      <vt:lpstr>PowerPoint 演示文稿</vt:lpstr>
      <vt:lpstr>TaskTracker</vt:lpstr>
      <vt:lpstr>Job Completion</vt:lpstr>
      <vt:lpstr>Example Job &amp; Filesystem Interaction Multiple Map tasks, one Reduce task Map reads from HDFS, writes to local FS Reduce reads from local FS, writes to HDFS</vt:lpstr>
      <vt:lpstr>Example # Job &amp; Filesystem Interaction Multiple Map tasks, Two Reduce tasks Each Reduce writes one partition per Reduce task to HDFS</vt:lpstr>
      <vt:lpstr>Sorting Map Output</vt:lpstr>
      <vt:lpstr>Example # Job &amp; Filesystem Interaction Multiple Map tasks, Two Reduce tasks Each Reduce writes one partition per Reduce task to HDFS</vt:lpstr>
      <vt:lpstr>MapReduce Paradigm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HCatalog; MRUnit; Oozie </vt:lpstr>
      <vt:lpstr>Small sample of awareness being raised</vt:lpstr>
      <vt:lpstr>Bibliography</vt:lpstr>
      <vt:lpstr>Data Scientists</vt:lpstr>
      <vt:lpstr>Remaining Relevant:  It’s A Mindset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</dc:creator>
  <cp:lastModifiedBy>Prof. Chung Yehching (SDS)</cp:lastModifiedBy>
  <cp:revision>207</cp:revision>
  <dcterms:created xsi:type="dcterms:W3CDTF">2012-02-12T01:03:36Z</dcterms:created>
  <dcterms:modified xsi:type="dcterms:W3CDTF">2024-07-18T23:59:06Z</dcterms:modified>
</cp:coreProperties>
</file>